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0"/>
  </p:notesMasterIdLst>
  <p:handoutMasterIdLst>
    <p:handoutMasterId r:id="rId31"/>
  </p:handoutMasterIdLst>
  <p:sldIdLst>
    <p:sldId id="4817" r:id="rId2"/>
    <p:sldId id="267" r:id="rId3"/>
    <p:sldId id="266" r:id="rId4"/>
    <p:sldId id="4835" r:id="rId5"/>
    <p:sldId id="264" r:id="rId6"/>
    <p:sldId id="4818" r:id="rId7"/>
    <p:sldId id="4820" r:id="rId8"/>
    <p:sldId id="4822" r:id="rId9"/>
    <p:sldId id="4823" r:id="rId10"/>
    <p:sldId id="4824" r:id="rId11"/>
    <p:sldId id="261" r:id="rId12"/>
    <p:sldId id="271" r:id="rId13"/>
    <p:sldId id="274" r:id="rId14"/>
    <p:sldId id="4836" r:id="rId15"/>
    <p:sldId id="4837" r:id="rId16"/>
    <p:sldId id="259" r:id="rId17"/>
    <p:sldId id="4825" r:id="rId18"/>
    <p:sldId id="260" r:id="rId19"/>
    <p:sldId id="4826" r:id="rId20"/>
    <p:sldId id="4833" r:id="rId21"/>
    <p:sldId id="4827" r:id="rId22"/>
    <p:sldId id="4829" r:id="rId23"/>
    <p:sldId id="4834" r:id="rId24"/>
    <p:sldId id="269" r:id="rId25"/>
    <p:sldId id="4830" r:id="rId26"/>
    <p:sldId id="4831" r:id="rId27"/>
    <p:sldId id="4832" r:id="rId28"/>
    <p:sldId id="265" r:id="rId29"/>
  </p:sldIdLst>
  <p:sldSz cx="12192000" cy="6858000"/>
  <p:notesSz cx="6858000" cy="9144000"/>
  <p:defaultTextStyle>
    <a:defPPr>
      <a:defRPr lang="zh-CN"/>
    </a:defPPr>
    <a:lvl1pPr marL="0" algn="l" defTabSz="914400" rtl="0" eaLnBrk="1" latinLnBrk="0" hangingPunct="1">
      <a:defRPr sz="1800" kern="1200">
        <a:solidFill>
          <a:schemeClr val="tx1"/>
        </a:solidFill>
        <a:latin typeface="Arial"/>
        <a:ea typeface="+mn-ea"/>
        <a:cs typeface="+mn-cs"/>
      </a:defRPr>
    </a:lvl1pPr>
    <a:lvl2pPr marL="457200" algn="l" defTabSz="914400" rtl="0" eaLnBrk="1" latinLnBrk="0" hangingPunct="1">
      <a:defRPr sz="1800" kern="1200">
        <a:solidFill>
          <a:schemeClr val="tx1"/>
        </a:solidFill>
        <a:latin typeface="Arial"/>
        <a:ea typeface="+mn-ea"/>
        <a:cs typeface="+mn-cs"/>
      </a:defRPr>
    </a:lvl2pPr>
    <a:lvl3pPr marL="914400" algn="l" defTabSz="914400" rtl="0" eaLnBrk="1" latinLnBrk="0" hangingPunct="1">
      <a:defRPr sz="1800" kern="1200">
        <a:solidFill>
          <a:schemeClr val="tx1"/>
        </a:solidFill>
        <a:latin typeface="Arial"/>
        <a:ea typeface="+mn-ea"/>
        <a:cs typeface="+mn-cs"/>
      </a:defRPr>
    </a:lvl3pPr>
    <a:lvl4pPr marL="1371600" algn="l" defTabSz="914400" rtl="0" eaLnBrk="1" latinLnBrk="0" hangingPunct="1">
      <a:defRPr sz="1800" kern="1200">
        <a:solidFill>
          <a:schemeClr val="tx1"/>
        </a:solidFill>
        <a:latin typeface="Arial"/>
        <a:ea typeface="+mn-ea"/>
        <a:cs typeface="+mn-cs"/>
      </a:defRPr>
    </a:lvl4pPr>
    <a:lvl5pPr marL="1828800" algn="l" defTabSz="914400" rtl="0" eaLnBrk="1" latinLnBrk="0" hangingPunct="1">
      <a:defRPr sz="1800" kern="1200">
        <a:solidFill>
          <a:schemeClr val="tx1"/>
        </a:solidFill>
        <a:latin typeface="Arial"/>
        <a:ea typeface="+mn-ea"/>
        <a:cs typeface="+mn-cs"/>
      </a:defRPr>
    </a:lvl5pPr>
    <a:lvl6pPr marL="2286000" algn="l" defTabSz="914400" rtl="0" eaLnBrk="1" latinLnBrk="0" hangingPunct="1">
      <a:defRPr sz="1800" kern="1200">
        <a:solidFill>
          <a:schemeClr val="tx1"/>
        </a:solidFill>
        <a:latin typeface="Arial"/>
        <a:ea typeface="+mn-ea"/>
        <a:cs typeface="+mn-cs"/>
      </a:defRPr>
    </a:lvl6pPr>
    <a:lvl7pPr marL="2743200" algn="l" defTabSz="914400" rtl="0" eaLnBrk="1" latinLnBrk="0" hangingPunct="1">
      <a:defRPr sz="1800" kern="1200">
        <a:solidFill>
          <a:schemeClr val="tx1"/>
        </a:solidFill>
        <a:latin typeface="Arial"/>
        <a:ea typeface="+mn-ea"/>
        <a:cs typeface="+mn-cs"/>
      </a:defRPr>
    </a:lvl7pPr>
    <a:lvl8pPr marL="3200400" algn="l" defTabSz="914400" rtl="0" eaLnBrk="1" latinLnBrk="0" hangingPunct="1">
      <a:defRPr sz="1800" kern="1200">
        <a:solidFill>
          <a:schemeClr val="tx1"/>
        </a:solidFill>
        <a:latin typeface="Arial"/>
        <a:ea typeface="+mn-ea"/>
        <a:cs typeface="+mn-cs"/>
      </a:defRPr>
    </a:lvl8pPr>
    <a:lvl9pPr marL="3657600" algn="l" defTabSz="914400" rtl="0" eaLnBrk="1" latinLnBrk="0" hangingPunct="1">
      <a:defRPr sz="1800" kern="1200">
        <a:solidFill>
          <a:schemeClr val="tx1"/>
        </a:solidFill>
        <a:latin typeface="Arial"/>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FDFF"/>
    <a:srgbClr val="F2F9FF"/>
    <a:srgbClr val="3C3C40"/>
    <a:srgbClr val="EE1A37"/>
    <a:srgbClr val="D7E4F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FECB4D8-DB02-4DC6-A0A2-4F2EBAE1DC90}" styleName="中度样式 1 - 强调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707" autoAdjust="0"/>
    <p:restoredTop sz="96424" autoAdjust="0"/>
  </p:normalViewPr>
  <p:slideViewPr>
    <p:cSldViewPr snapToGrid="0">
      <p:cViewPr varScale="1">
        <p:scale>
          <a:sx n="88" d="100"/>
          <a:sy n="88" d="100"/>
        </p:scale>
        <p:origin x="648"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8C0E0EB-50C1-4A12-BE88-DACCAE8089C8}" type="datetimeFigureOut">
              <a:rPr lang="zh-CN" altLang="en-US" smtClean="0"/>
              <a:t>2025/11/15</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607DB0B-DBBC-4B01-8239-7E58DAA58BEC}" type="slidenum">
              <a:rPr lang="zh-CN" altLang="en-US" smtClean="0"/>
              <a:t>‹#›</a:t>
            </a:fld>
            <a:endParaRPr lang="zh-CN" altLang="en-US"/>
          </a:p>
        </p:txBody>
      </p:sp>
    </p:spTree>
    <p:extLst>
      <p:ext uri="{BB962C8B-B14F-4D97-AF65-F5344CB8AC3E}">
        <p14:creationId xmlns:p14="http://schemas.microsoft.com/office/powerpoint/2010/main" val="10685485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715AF34-0DAA-40EE-9ACD-5E680A5B916F}" type="datetimeFigureOut">
              <a:rPr lang="zh-CN" altLang="en-US" smtClean="0"/>
              <a:t>2025/11/15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A7E378-4A26-40D8-B20A-3518D134C686}" type="slidenum">
              <a:rPr lang="zh-CN" altLang="en-US" smtClean="0"/>
              <a:t>‹#›</a:t>
            </a:fld>
            <a:endParaRPr lang="zh-CN" altLang="en-US"/>
          </a:p>
        </p:txBody>
      </p:sp>
    </p:spTree>
    <p:extLst>
      <p:ext uri="{BB962C8B-B14F-4D97-AF65-F5344CB8AC3E}">
        <p14:creationId xmlns:p14="http://schemas.microsoft.com/office/powerpoint/2010/main" val="42321359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6A7E378-4A26-40D8-B20A-3518D134C686}" type="slidenum">
              <a:rPr lang="zh-CN" altLang="en-US" smtClean="0"/>
              <a:t>3</a:t>
            </a:fld>
            <a:endParaRPr lang="zh-CN" altLang="en-US"/>
          </a:p>
        </p:txBody>
      </p:sp>
    </p:spTree>
    <p:extLst>
      <p:ext uri="{BB962C8B-B14F-4D97-AF65-F5344CB8AC3E}">
        <p14:creationId xmlns:p14="http://schemas.microsoft.com/office/powerpoint/2010/main" val="229969682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1_标题幻灯片">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xmlns="" id="{C52EF66D-9382-4C9A-8CA6-C89DD8A01BE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008965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标题和内容">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F19A668C-45AB-4D97-87A2-AC4728B53370}" type="datetimeFigureOut">
              <a:rPr lang="zh-CN" altLang="en-US" smtClean="0"/>
              <a:t>2025/11/15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38E32A2-E85C-4344-9920-4A94AF90CD90}" type="slidenum">
              <a:rPr lang="zh-CN" altLang="en-US" smtClean="0"/>
              <a:t>‹#›</a:t>
            </a:fld>
            <a:endParaRPr lang="zh-CN" altLang="en-US"/>
          </a:p>
        </p:txBody>
      </p:sp>
    </p:spTree>
    <p:extLst>
      <p:ext uri="{BB962C8B-B14F-4D97-AF65-F5344CB8AC3E}">
        <p14:creationId xmlns:p14="http://schemas.microsoft.com/office/powerpoint/2010/main" val="14937284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2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F19A668C-45AB-4D97-87A2-AC4728B53370}" type="datetimeFigureOut">
              <a:rPr lang="zh-CN" altLang="en-US" smtClean="0"/>
              <a:t>2025/11/15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38E32A2-E85C-4344-9920-4A94AF90CD90}" type="slidenum">
              <a:rPr lang="zh-CN" altLang="en-US" smtClean="0"/>
              <a:t>‹#›</a:t>
            </a:fld>
            <a:endParaRPr lang="zh-CN" altLang="en-US"/>
          </a:p>
        </p:txBody>
      </p:sp>
    </p:spTree>
    <p:extLst>
      <p:ext uri="{BB962C8B-B14F-4D97-AF65-F5344CB8AC3E}">
        <p14:creationId xmlns:p14="http://schemas.microsoft.com/office/powerpoint/2010/main" val="339909686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5">
            <a:lum/>
          </a:blip>
          <a:srcRect/>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19A668C-45AB-4D97-87A2-AC4728B53370}" type="datetimeFigureOut">
              <a:rPr lang="zh-CN" altLang="en-US" smtClean="0"/>
              <a:t>2025/11/15</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38E32A2-E85C-4344-9920-4A94AF90CD90}" type="slidenum">
              <a:rPr lang="zh-CN" altLang="en-US" smtClean="0"/>
              <a:t>‹#›</a:t>
            </a:fld>
            <a:endParaRPr lang="zh-CN" altLang="en-US"/>
          </a:p>
        </p:txBody>
      </p:sp>
    </p:spTree>
    <p:extLst>
      <p:ext uri="{BB962C8B-B14F-4D97-AF65-F5344CB8AC3E}">
        <p14:creationId xmlns:p14="http://schemas.microsoft.com/office/powerpoint/2010/main" val="16351989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png"/><Relationship Id="rId1" Type="http://schemas.openxmlformats.org/officeDocument/2006/relationships/slideLayout" Target="../slideLayouts/slideLayout3.xml"/><Relationship Id="rId6" Type="http://schemas.openxmlformats.org/officeDocument/2006/relationships/image" Target="../media/image11.jpeg"/><Relationship Id="rId5" Type="http://schemas.openxmlformats.org/officeDocument/2006/relationships/image" Target="../media/image10.jpeg"/><Relationship Id="rId4" Type="http://schemas.openxmlformats.org/officeDocument/2006/relationships/image" Target="../media/image9.jpeg"/></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3.xml"/><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jpeg"/><Relationship Id="rId1" Type="http://schemas.openxmlformats.org/officeDocument/2006/relationships/slideLayout" Target="../slideLayouts/slideLayout3.xml"/><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3" Type="http://schemas.microsoft.com/office/2007/relationships/hdphoto" Target="../media/hdphoto1.wdp"/><Relationship Id="rId7" Type="http://schemas.openxmlformats.org/officeDocument/2006/relationships/image" Target="../media/image22.png"/><Relationship Id="rId2" Type="http://schemas.openxmlformats.org/officeDocument/2006/relationships/image" Target="../media/image19.png"/><Relationship Id="rId1" Type="http://schemas.openxmlformats.org/officeDocument/2006/relationships/slideLayout" Target="../slideLayouts/slideLayout3.xml"/><Relationship Id="rId6" Type="http://schemas.microsoft.com/office/2007/relationships/hdphoto" Target="../media/hdphoto2.wdp"/><Relationship Id="rId5" Type="http://schemas.openxmlformats.org/officeDocument/2006/relationships/image" Target="../media/image21.png"/><Relationship Id="rId4" Type="http://schemas.openxmlformats.org/officeDocument/2006/relationships/image" Target="../media/image20.png"/></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矩形 3">
            <a:extLst>
              <a:ext uri="{FF2B5EF4-FFF2-40B4-BE49-F238E27FC236}">
                <a16:creationId xmlns:a16="http://schemas.microsoft.com/office/drawing/2014/main" xmlns="" id="{154DF514-FEEA-4DD7-9717-A8DECADFB8A9}"/>
              </a:ext>
            </a:extLst>
          </p:cNvPr>
          <p:cNvSpPr/>
          <p:nvPr/>
        </p:nvSpPr>
        <p:spPr>
          <a:xfrm>
            <a:off x="959907" y="3947338"/>
            <a:ext cx="5136093" cy="1887312"/>
          </a:xfrm>
          <a:prstGeom prst="rect">
            <a:avLst/>
          </a:prstGeom>
        </p:spPr>
        <p:txBody>
          <a:bodyPr wrap="square">
            <a:spAutoFit/>
          </a:bodyPr>
          <a:lstStyle/>
          <a:p>
            <a:pPr>
              <a:lnSpc>
                <a:spcPct val="200000"/>
              </a:lnSpc>
            </a:pPr>
            <a:r>
              <a:rPr lang="en-US" sz="1200" dirty="0">
                <a:latin typeface="+mn-lt"/>
                <a:cs typeface="Arial" panose="020B0604020202020204" pitchFamily="34" charset="0"/>
              </a:rPr>
              <a:t>Challenge Name: Huawei Developer competition Northen Africa  </a:t>
            </a:r>
            <a:endParaRPr lang="en-US" altLang="zh-CN" sz="1200" dirty="0">
              <a:latin typeface="+mn-lt"/>
              <a:ea typeface="微软雅黑" panose="020B0503020204020204" pitchFamily="34" charset="-122"/>
              <a:cs typeface="Arial" panose="020B0604020202020204" pitchFamily="34" charset="0"/>
            </a:endParaRPr>
          </a:p>
          <a:p>
            <a:pPr>
              <a:lnSpc>
                <a:spcPct val="200000"/>
              </a:lnSpc>
            </a:pPr>
            <a:r>
              <a:rPr lang="en-US" sz="1200" dirty="0">
                <a:latin typeface="+mn-lt"/>
                <a:cs typeface="Arial" panose="020B0604020202020204" pitchFamily="34" charset="0"/>
              </a:rPr>
              <a:t>Project Name: Depression detection using NLP </a:t>
            </a:r>
            <a:endParaRPr lang="en-US" altLang="zh-CN" sz="1200" dirty="0">
              <a:latin typeface="+mn-lt"/>
              <a:ea typeface="微软雅黑" panose="020B0503020204020204" pitchFamily="34" charset="-122"/>
              <a:cs typeface="Arial" panose="020B0604020202020204" pitchFamily="34" charset="0"/>
            </a:endParaRPr>
          </a:p>
          <a:p>
            <a:pPr>
              <a:lnSpc>
                <a:spcPct val="200000"/>
              </a:lnSpc>
            </a:pPr>
            <a:r>
              <a:rPr lang="en-US" sz="1200" dirty="0">
                <a:latin typeface="+mn-lt"/>
                <a:cs typeface="Arial" panose="020B0604020202020204" pitchFamily="34" charset="0"/>
              </a:rPr>
              <a:t>Team Name: </a:t>
            </a:r>
            <a:r>
              <a:rPr lang="en-US" sz="1200" dirty="0" err="1">
                <a:latin typeface="+mn-lt"/>
                <a:cs typeface="Arial" panose="020B0604020202020204" pitchFamily="34" charset="0"/>
              </a:rPr>
              <a:t>Depresso</a:t>
            </a:r>
            <a:endParaRPr lang="en-US" altLang="zh-CN" sz="1200" dirty="0">
              <a:latin typeface="+mn-lt"/>
              <a:ea typeface="微软雅黑" panose="020B0503020204020204" pitchFamily="34" charset="-122"/>
              <a:cs typeface="Arial" panose="020B0604020202020204" pitchFamily="34" charset="0"/>
            </a:endParaRPr>
          </a:p>
          <a:p>
            <a:pPr>
              <a:lnSpc>
                <a:spcPct val="200000"/>
              </a:lnSpc>
            </a:pPr>
            <a:r>
              <a:rPr lang="en-US" sz="1200" dirty="0">
                <a:latin typeface="+mn-lt"/>
                <a:cs typeface="Arial" panose="020B0604020202020204" pitchFamily="34" charset="0"/>
              </a:rPr>
              <a:t>Organization: </a:t>
            </a:r>
          </a:p>
          <a:p>
            <a:pPr>
              <a:lnSpc>
                <a:spcPct val="200000"/>
              </a:lnSpc>
            </a:pPr>
            <a:r>
              <a:rPr lang="en-US" sz="1200" dirty="0">
                <a:latin typeface="+mn-lt"/>
                <a:cs typeface="Arial" panose="020B0604020202020204" pitchFamily="34" charset="0"/>
              </a:rPr>
              <a:t>Email/Phone: elamirmansour@outlook.com</a:t>
            </a:r>
            <a:endParaRPr lang="en-US" altLang="zh-CN" sz="1200" dirty="0">
              <a:latin typeface="+mn-lt"/>
              <a:cs typeface="Arial" panose="020B0604020202020204" pitchFamily="34" charset="0"/>
            </a:endParaRPr>
          </a:p>
        </p:txBody>
      </p:sp>
    </p:spTree>
    <p:extLst>
      <p:ext uri="{BB962C8B-B14F-4D97-AF65-F5344CB8AC3E}">
        <p14:creationId xmlns:p14="http://schemas.microsoft.com/office/powerpoint/2010/main" val="25578094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2970191" y="1"/>
            <a:ext cx="9221809" cy="68579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4" name="表格 3"/>
          <p:cNvGraphicFramePr>
            <a:graphicFrameLocks noGrp="1"/>
          </p:cNvGraphicFramePr>
          <p:nvPr>
            <p:extLst>
              <p:ext uri="{D42A27DB-BD31-4B8C-83A1-F6EECF244321}">
                <p14:modId xmlns:p14="http://schemas.microsoft.com/office/powerpoint/2010/main" val="1745764707"/>
              </p:ext>
            </p:extLst>
          </p:nvPr>
        </p:nvGraphicFramePr>
        <p:xfrm>
          <a:off x="3398945" y="1074967"/>
          <a:ext cx="8364300" cy="5010427"/>
        </p:xfrm>
        <a:graphic>
          <a:graphicData uri="http://schemas.openxmlformats.org/drawingml/2006/table">
            <a:tbl>
              <a:tblPr>
                <a:blipFill>
                  <a:blip r:embed="rId2"/>
                  <a:stretch>
                    <a:fillRect/>
                  </a:stretch>
                </a:blipFill>
                <a:tableStyleId>{5C22544A-7EE6-4342-B048-85BDC9FD1C3A}</a:tableStyleId>
              </a:tblPr>
              <a:tblGrid>
                <a:gridCol w="1919676">
                  <a:extLst>
                    <a:ext uri="{9D8B030D-6E8A-4147-A177-3AD203B41FA5}">
                      <a16:colId xmlns:a16="http://schemas.microsoft.com/office/drawing/2014/main" xmlns="" val="20000"/>
                    </a:ext>
                  </a:extLst>
                </a:gridCol>
                <a:gridCol w="6444624">
                  <a:extLst>
                    <a:ext uri="{9D8B030D-6E8A-4147-A177-3AD203B41FA5}">
                      <a16:colId xmlns:a16="http://schemas.microsoft.com/office/drawing/2014/main" xmlns="" val="20001"/>
                    </a:ext>
                  </a:extLst>
                </a:gridCol>
              </a:tblGrid>
              <a:tr h="290077">
                <a:tc>
                  <a:txBody>
                    <a:bodyPr/>
                    <a:lstStyle/>
                    <a:p>
                      <a:pPr algn="ctr" fontAlgn="t"/>
                      <a:r>
                        <a:rPr sz="1200" u="none" dirty="0">
                          <a:solidFill>
                            <a:srgbClr val="575756"/>
                          </a:solidFill>
                          <a:latin typeface="+mn-lt"/>
                          <a:ea typeface="Microsoft YaHei" panose="020B0503020204020204" pitchFamily="34" charset="-122"/>
                        </a:rPr>
                        <a:t>Project Name</a:t>
                      </a:r>
                      <a:endParaRPr kumimoji="1" lang="zh-CN" altLang="en-US" sz="1200" kern="1200" dirty="0">
                        <a:solidFill>
                          <a:srgbClr val="575756"/>
                        </a:solidFill>
                        <a:latin typeface="+mn-lt"/>
                        <a:ea typeface="Microsoft YaHei" panose="020B0503020204020204" pitchFamily="34" charset="-122"/>
                        <a:cs typeface="+mn-cs"/>
                      </a:endParaRPr>
                    </a:p>
                  </a:txBody>
                  <a:tcPr marL="9525" marR="9525" marT="9525" marB="0" anchor="ctr">
                    <a:noFill/>
                  </a:tcPr>
                </a:tc>
                <a:tc>
                  <a:txBody>
                    <a:bodyPr/>
                    <a:lstStyle/>
                    <a:p>
                      <a:pPr algn="ctr" fontAlgn="b"/>
                      <a:r>
                        <a:rPr lang="en-US" altLang="zh-CN" sz="1100" b="0" i="1" u="none" strike="noStrike" dirty="0">
                          <a:solidFill>
                            <a:schemeClr val="tx1">
                              <a:lumMod val="50000"/>
                              <a:lumOff val="50000"/>
                            </a:schemeClr>
                          </a:solidFill>
                          <a:effectLst/>
                          <a:latin typeface="+mn-lt"/>
                          <a:ea typeface="Microsoft YaHei" panose="020B0503020204020204" pitchFamily="34" charset="-122"/>
                        </a:rPr>
                        <a:t>Depression Detection using NLP (</a:t>
                      </a:r>
                      <a:r>
                        <a:rPr lang="en-US" altLang="zh-CN" sz="1100" b="0" i="1" u="none" strike="noStrike" dirty="0" err="1">
                          <a:solidFill>
                            <a:schemeClr val="tx1">
                              <a:lumMod val="50000"/>
                              <a:lumOff val="50000"/>
                            </a:schemeClr>
                          </a:solidFill>
                          <a:effectLst/>
                          <a:latin typeface="+mn-lt"/>
                          <a:ea typeface="Microsoft YaHei" panose="020B0503020204020204" pitchFamily="34" charset="-122"/>
                        </a:rPr>
                        <a:t>Depresso</a:t>
                      </a:r>
                      <a:r>
                        <a:rPr lang="en-US" altLang="zh-CN" sz="1100" b="0" i="1" u="none" strike="noStrike" dirty="0">
                          <a:solidFill>
                            <a:schemeClr val="tx1">
                              <a:lumMod val="50000"/>
                              <a:lumOff val="50000"/>
                            </a:schemeClr>
                          </a:solidFill>
                          <a:effectLst/>
                          <a:latin typeface="+mn-lt"/>
                          <a:ea typeface="Microsoft YaHei" panose="020B0503020204020204" pitchFamily="34" charset="-122"/>
                        </a:rPr>
                        <a:t>)</a:t>
                      </a:r>
                      <a:endParaRPr lang="zh-CN" altLang="en-US" sz="1100" b="0" i="1" u="none" strike="noStrike" dirty="0">
                        <a:solidFill>
                          <a:schemeClr val="tx1">
                            <a:lumMod val="50000"/>
                            <a:lumOff val="50000"/>
                          </a:schemeClr>
                        </a:solidFill>
                        <a:effectLst/>
                        <a:latin typeface="+mn-lt"/>
                        <a:ea typeface="Microsoft YaHei" panose="020B0503020204020204" pitchFamily="34" charset="-122"/>
                      </a:endParaRPr>
                    </a:p>
                  </a:txBody>
                  <a:tcPr marL="9525" marR="9525" marT="9525" marB="0" anchor="ctr">
                    <a:noFill/>
                  </a:tcPr>
                </a:tc>
                <a:extLst>
                  <a:ext uri="{0D108BD9-81ED-4DB2-BD59-A6C34878D82A}">
                    <a16:rowId xmlns:a16="http://schemas.microsoft.com/office/drawing/2014/main" xmlns="" val="10000"/>
                  </a:ext>
                </a:extLst>
              </a:tr>
              <a:tr h="290077">
                <a:tc>
                  <a:txBody>
                    <a:bodyPr/>
                    <a:lstStyle/>
                    <a:p>
                      <a:pPr marL="0" algn="ctr" defTabSz="914400" rtl="0" eaLnBrk="1" fontAlgn="t" latinLnBrk="0" hangingPunct="1"/>
                      <a:r>
                        <a:rPr sz="1200" u="none" dirty="0">
                          <a:solidFill>
                            <a:srgbClr val="575756"/>
                          </a:solidFill>
                          <a:latin typeface="+mn-lt"/>
                          <a:ea typeface="Microsoft YaHei" panose="020B0503020204020204" pitchFamily="34" charset="-122"/>
                        </a:rPr>
                        <a:t>Team Name</a:t>
                      </a:r>
                      <a:endParaRPr kumimoji="1" lang="zh-CN" altLang="en-US" sz="1200" kern="1200" dirty="0">
                        <a:solidFill>
                          <a:srgbClr val="575756"/>
                        </a:solidFill>
                        <a:latin typeface="+mn-lt"/>
                        <a:ea typeface="Microsoft YaHei" panose="020B0503020204020204" pitchFamily="34" charset="-122"/>
                        <a:cs typeface="+mn-cs"/>
                      </a:endParaRPr>
                    </a:p>
                  </a:txBody>
                  <a:tcPr marL="9525" marR="9525" marT="9525" marB="0" anchor="ctr">
                    <a:noFill/>
                  </a:tcPr>
                </a:tc>
                <a:tc>
                  <a:txBody>
                    <a:bodyPr/>
                    <a:lstStyle/>
                    <a:p>
                      <a:pPr algn="ctr" fontAlgn="b"/>
                      <a:r>
                        <a:rPr lang="en-US" altLang="zh-CN" sz="1100" b="0" i="1" u="none" strike="noStrike" dirty="0" err="1">
                          <a:solidFill>
                            <a:schemeClr val="tx1">
                              <a:lumMod val="50000"/>
                              <a:lumOff val="50000"/>
                            </a:schemeClr>
                          </a:solidFill>
                          <a:effectLst/>
                          <a:latin typeface="+mn-lt"/>
                          <a:ea typeface="Microsoft YaHei" panose="020B0503020204020204" pitchFamily="34" charset="-122"/>
                        </a:rPr>
                        <a:t>Depresso</a:t>
                      </a:r>
                      <a:r>
                        <a:rPr lang="en-US" altLang="zh-CN" sz="1100" b="0" i="1" u="none" strike="noStrike" dirty="0">
                          <a:solidFill>
                            <a:schemeClr val="tx1">
                              <a:lumMod val="50000"/>
                              <a:lumOff val="50000"/>
                            </a:schemeClr>
                          </a:solidFill>
                          <a:effectLst/>
                          <a:latin typeface="+mn-lt"/>
                          <a:ea typeface="Microsoft YaHei" panose="020B0503020204020204" pitchFamily="34" charset="-122"/>
                        </a:rPr>
                        <a:t> </a:t>
                      </a:r>
                      <a:endParaRPr lang="zh-CN" altLang="en-US" sz="1100" b="0" i="1" u="none" strike="noStrike" dirty="0">
                        <a:solidFill>
                          <a:schemeClr val="tx1">
                            <a:lumMod val="50000"/>
                            <a:lumOff val="50000"/>
                          </a:schemeClr>
                        </a:solidFill>
                        <a:effectLst/>
                        <a:latin typeface="+mn-lt"/>
                        <a:ea typeface="Microsoft YaHei" panose="020B0503020204020204" pitchFamily="34" charset="-122"/>
                      </a:endParaRPr>
                    </a:p>
                  </a:txBody>
                  <a:tcPr marL="9525" marR="9525" marT="9525" marB="0" anchor="ctr">
                    <a:noFill/>
                  </a:tcPr>
                </a:tc>
                <a:extLst>
                  <a:ext uri="{0D108BD9-81ED-4DB2-BD59-A6C34878D82A}">
                    <a16:rowId xmlns:a16="http://schemas.microsoft.com/office/drawing/2014/main" xmlns="" val="10001"/>
                  </a:ext>
                </a:extLst>
              </a:tr>
              <a:tr h="290077">
                <a:tc>
                  <a:txBody>
                    <a:bodyPr/>
                    <a:lstStyle/>
                    <a:p>
                      <a:pPr marL="0" algn="ctr" defTabSz="914400" rtl="0" eaLnBrk="1" fontAlgn="t" latinLnBrk="0" hangingPunct="1"/>
                      <a:r>
                        <a:rPr sz="1200" u="none" dirty="0">
                          <a:solidFill>
                            <a:srgbClr val="575756"/>
                          </a:solidFill>
                          <a:latin typeface="+mn-lt"/>
                          <a:ea typeface="Microsoft YaHei" panose="020B0503020204020204" pitchFamily="34" charset="-122"/>
                        </a:rPr>
                        <a:t>Contacts</a:t>
                      </a:r>
                      <a:endParaRPr kumimoji="1" lang="zh-CN" altLang="en-US" sz="1200" kern="1200" dirty="0">
                        <a:solidFill>
                          <a:srgbClr val="575756"/>
                        </a:solidFill>
                        <a:latin typeface="+mn-lt"/>
                        <a:ea typeface="Microsoft YaHei" panose="020B0503020204020204" pitchFamily="34" charset="-122"/>
                        <a:cs typeface="+mn-cs"/>
                      </a:endParaRPr>
                    </a:p>
                  </a:txBody>
                  <a:tcPr marL="9525" marR="9525" marT="9525" marB="0" anchor="ctr">
                    <a:noFill/>
                  </a:tcPr>
                </a:tc>
                <a:tc>
                  <a:txBody>
                    <a:bodyPr/>
                    <a:lstStyle/>
                    <a:p>
                      <a:pPr algn="ctr" fontAlgn="b"/>
                      <a:r>
                        <a:rPr lang="en-US" altLang="zh-CN" sz="1100" b="0" i="1" u="none" strike="noStrike" dirty="0">
                          <a:solidFill>
                            <a:schemeClr val="tx1">
                              <a:lumMod val="50000"/>
                              <a:lumOff val="50000"/>
                            </a:schemeClr>
                          </a:solidFill>
                          <a:effectLst/>
                          <a:latin typeface="+mn-lt"/>
                          <a:ea typeface="Microsoft YaHei" panose="020B0503020204020204" pitchFamily="34" charset="-122"/>
                        </a:rPr>
                        <a:t>elamirmansour@outlook.com</a:t>
                      </a:r>
                      <a:endParaRPr lang="zh-CN" altLang="en-US" sz="1100" b="0" i="1" u="none" strike="noStrike" dirty="0">
                        <a:solidFill>
                          <a:schemeClr val="tx1">
                            <a:lumMod val="50000"/>
                            <a:lumOff val="50000"/>
                          </a:schemeClr>
                        </a:solidFill>
                        <a:effectLst/>
                        <a:latin typeface="+mn-lt"/>
                        <a:ea typeface="Microsoft YaHei" panose="020B0503020204020204" pitchFamily="34" charset="-122"/>
                      </a:endParaRPr>
                    </a:p>
                  </a:txBody>
                  <a:tcPr marL="9525" marR="9525" marT="9525" marB="0" anchor="ctr">
                    <a:noFill/>
                  </a:tcPr>
                </a:tc>
                <a:extLst>
                  <a:ext uri="{0D108BD9-81ED-4DB2-BD59-A6C34878D82A}">
                    <a16:rowId xmlns:a16="http://schemas.microsoft.com/office/drawing/2014/main" xmlns="" val="10002"/>
                  </a:ext>
                </a:extLst>
              </a:tr>
              <a:tr h="290077">
                <a:tc>
                  <a:txBody>
                    <a:bodyPr/>
                    <a:lstStyle/>
                    <a:p>
                      <a:pPr marL="0" algn="ctr" defTabSz="914400" rtl="0" eaLnBrk="1" fontAlgn="t" latinLnBrk="0" hangingPunct="1"/>
                      <a:r>
                        <a:rPr sz="1200" u="none" dirty="0">
                          <a:solidFill>
                            <a:srgbClr val="575756"/>
                          </a:solidFill>
                          <a:latin typeface="+mn-lt"/>
                          <a:ea typeface="Microsoft YaHei" panose="020B0503020204020204" pitchFamily="34" charset="-122"/>
                        </a:rPr>
                        <a:t>Technical Field</a:t>
                      </a:r>
                    </a:p>
                  </a:txBody>
                  <a:tcPr marL="9525" marR="9525" marT="9525" marB="0" anchor="ctr">
                    <a:noFill/>
                  </a:tcPr>
                </a:tc>
                <a:tc>
                  <a:txBody>
                    <a:bodyPr/>
                    <a:lstStyle/>
                    <a:p>
                      <a:pPr algn="ctr" fontAlgn="b"/>
                      <a:r>
                        <a:rPr lang="en-US" sz="1100" i="1" u="none" dirty="0">
                          <a:solidFill>
                            <a:schemeClr val="tx1">
                              <a:lumMod val="50000"/>
                              <a:lumOff val="50000"/>
                            </a:schemeClr>
                          </a:solidFill>
                          <a:latin typeface="+mn-lt"/>
                          <a:ea typeface="Microsoft YaHei" panose="020B0503020204020204" pitchFamily="34" charset="-122"/>
                        </a:rPr>
                        <a:t>EI (Artificial Intelligence / NLP) + PaaS (Huawei Cloud Integration)</a:t>
                      </a:r>
                      <a:endParaRPr lang="zh-CN" altLang="en-US" sz="1100" b="0" i="1" u="none" strike="noStrike" dirty="0">
                        <a:solidFill>
                          <a:schemeClr val="tx1">
                            <a:lumMod val="50000"/>
                            <a:lumOff val="50000"/>
                          </a:schemeClr>
                        </a:solidFill>
                        <a:effectLst/>
                        <a:latin typeface="+mn-lt"/>
                        <a:ea typeface="Microsoft YaHei" panose="020B0503020204020204" pitchFamily="34" charset="-122"/>
                      </a:endParaRPr>
                    </a:p>
                  </a:txBody>
                  <a:tcPr marL="9525" marR="9525" marT="9525" marB="0" anchor="ctr">
                    <a:noFill/>
                  </a:tcPr>
                </a:tc>
                <a:extLst>
                  <a:ext uri="{0D108BD9-81ED-4DB2-BD59-A6C34878D82A}">
                    <a16:rowId xmlns:a16="http://schemas.microsoft.com/office/drawing/2014/main" xmlns="" val="10003"/>
                  </a:ext>
                </a:extLst>
              </a:tr>
              <a:tr h="290077">
                <a:tc>
                  <a:txBody>
                    <a:bodyPr/>
                    <a:lstStyle/>
                    <a:p>
                      <a:pPr marL="0" algn="ctr" defTabSz="914400" rtl="0" eaLnBrk="1" fontAlgn="t" latinLnBrk="0" hangingPunct="1"/>
                      <a:r>
                        <a:rPr sz="1200" u="none" dirty="0">
                          <a:solidFill>
                            <a:srgbClr val="575756"/>
                          </a:solidFill>
                          <a:latin typeface="+mn-lt"/>
                          <a:ea typeface="Microsoft YaHei" panose="020B0503020204020204" pitchFamily="34" charset="-122"/>
                        </a:rPr>
                        <a:t>Technologies</a:t>
                      </a:r>
                    </a:p>
                  </a:txBody>
                  <a:tcPr marL="9525" marR="9525" marT="9525" marB="0" anchor="ctr">
                    <a:noFill/>
                  </a:tcPr>
                </a:tc>
                <a:tc>
                  <a:txBody>
                    <a:bodyPr/>
                    <a:lstStyle/>
                    <a:p>
                      <a:pPr algn="ctr" fontAlgn="b"/>
                      <a:r>
                        <a:rPr sz="1100" i="1" u="none" dirty="0">
                          <a:solidFill>
                            <a:schemeClr val="tx1">
                              <a:lumMod val="50000"/>
                              <a:lumOff val="50000"/>
                            </a:schemeClr>
                          </a:solidFill>
                          <a:latin typeface="+mn-lt"/>
                          <a:ea typeface="Microsoft YaHei" panose="020B0503020204020204" pitchFamily="34" charset="-122"/>
                        </a:rPr>
                        <a:t>Specify the key technologies you used.</a:t>
                      </a:r>
                      <a:endParaRPr lang="zh-CN" altLang="en-US" sz="1100" b="0" i="1" u="none" strike="noStrike" dirty="0">
                        <a:solidFill>
                          <a:schemeClr val="tx1">
                            <a:lumMod val="50000"/>
                            <a:lumOff val="50000"/>
                          </a:schemeClr>
                        </a:solidFill>
                        <a:effectLst/>
                        <a:latin typeface="+mn-lt"/>
                        <a:ea typeface="Microsoft YaHei" panose="020B0503020204020204" pitchFamily="34" charset="-122"/>
                      </a:endParaRPr>
                    </a:p>
                  </a:txBody>
                  <a:tcPr marL="9525" marR="9525" marT="9525" marB="0" anchor="ctr">
                    <a:noFill/>
                  </a:tcPr>
                </a:tc>
                <a:extLst>
                  <a:ext uri="{0D108BD9-81ED-4DB2-BD59-A6C34878D82A}">
                    <a16:rowId xmlns:a16="http://schemas.microsoft.com/office/drawing/2014/main" xmlns="" val="10004"/>
                  </a:ext>
                </a:extLst>
              </a:tr>
              <a:tr h="290077">
                <a:tc>
                  <a:txBody>
                    <a:bodyPr/>
                    <a:lstStyle/>
                    <a:p>
                      <a:pPr marL="0" algn="ctr" defTabSz="914400" rtl="0" eaLnBrk="1" fontAlgn="t" latinLnBrk="0" hangingPunct="1"/>
                      <a:r>
                        <a:rPr sz="1200" u="none" dirty="0">
                          <a:solidFill>
                            <a:srgbClr val="575756"/>
                          </a:solidFill>
                          <a:latin typeface="+mn-lt"/>
                          <a:ea typeface="Microsoft YaHei" panose="020B0503020204020204" pitchFamily="34" charset="-122"/>
                        </a:rPr>
                        <a:t>Keywords</a:t>
                      </a:r>
                    </a:p>
                  </a:txBody>
                  <a:tcPr marL="9525" marR="9525" marT="9525" marB="0" anchor="ctr">
                    <a:noFill/>
                  </a:tcPr>
                </a:tc>
                <a:tc>
                  <a:txBody>
                    <a:bodyPr/>
                    <a:lstStyle/>
                    <a:p>
                      <a:pPr algn="ctr" fontAlgn="b"/>
                      <a:r>
                        <a:rPr lang="en-US" altLang="zh-CN" sz="1100" b="0" i="1" u="none" strike="noStrike" dirty="0">
                          <a:solidFill>
                            <a:schemeClr val="tx1">
                              <a:lumMod val="50000"/>
                              <a:lumOff val="50000"/>
                            </a:schemeClr>
                          </a:solidFill>
                          <a:effectLst/>
                          <a:latin typeface="+mn-lt"/>
                          <a:ea typeface="Microsoft YaHei" panose="020B0503020204020204" pitchFamily="34" charset="-122"/>
                        </a:rPr>
                        <a:t>Depression , detection , Natural language processing </a:t>
                      </a:r>
                      <a:endParaRPr lang="zh-CN" altLang="en-US" sz="1100" b="0" i="1" u="none" strike="noStrike" dirty="0">
                        <a:solidFill>
                          <a:schemeClr val="tx1">
                            <a:lumMod val="50000"/>
                            <a:lumOff val="50000"/>
                          </a:schemeClr>
                        </a:solidFill>
                        <a:effectLst/>
                        <a:latin typeface="+mn-lt"/>
                        <a:ea typeface="Microsoft YaHei" panose="020B0503020204020204" pitchFamily="34" charset="-122"/>
                      </a:endParaRPr>
                    </a:p>
                  </a:txBody>
                  <a:tcPr marL="9525" marR="9525" marT="9525" marB="0" anchor="ctr">
                    <a:noFill/>
                  </a:tcPr>
                </a:tc>
                <a:extLst>
                  <a:ext uri="{0D108BD9-81ED-4DB2-BD59-A6C34878D82A}">
                    <a16:rowId xmlns:a16="http://schemas.microsoft.com/office/drawing/2014/main" xmlns="" val="10006"/>
                  </a:ext>
                </a:extLst>
              </a:tr>
              <a:tr h="290077">
                <a:tc>
                  <a:txBody>
                    <a:bodyPr/>
                    <a:lstStyle/>
                    <a:p>
                      <a:pPr marL="0" algn="ctr" defTabSz="914400" rtl="0" eaLnBrk="1" fontAlgn="t" latinLnBrk="0" hangingPunct="1"/>
                      <a:r>
                        <a:rPr sz="1200" u="none" dirty="0">
                          <a:solidFill>
                            <a:srgbClr val="575756"/>
                          </a:solidFill>
                          <a:latin typeface="+mn-lt"/>
                          <a:ea typeface="Microsoft YaHei" panose="020B0503020204020204" pitchFamily="34" charset="-122"/>
                        </a:rPr>
                        <a:t>Applicable Fields</a:t>
                      </a:r>
                    </a:p>
                  </a:txBody>
                  <a:tcPr marL="9525" marR="9525" marT="9525" marB="0" anchor="ctr">
                    <a:noFill/>
                  </a:tcPr>
                </a:tc>
                <a:tc>
                  <a:txBody>
                    <a:bodyPr/>
                    <a:lstStyle/>
                    <a:p>
                      <a:pPr algn="ctr" fontAlgn="b"/>
                      <a:r>
                        <a:rPr lang="en-US" altLang="zh-CN" sz="1100" b="0" i="1" u="none" strike="noStrike" dirty="0">
                          <a:solidFill>
                            <a:schemeClr val="tx1">
                              <a:lumMod val="50000"/>
                              <a:lumOff val="50000"/>
                            </a:schemeClr>
                          </a:solidFill>
                          <a:effectLst/>
                          <a:latin typeface="+mn-lt"/>
                          <a:ea typeface="Microsoft YaHei" panose="020B0503020204020204" pitchFamily="34" charset="-122"/>
                        </a:rPr>
                        <a:t>Mental Health, Digital Healthcare, and AI-driven Wellness Platforms</a:t>
                      </a:r>
                      <a:endParaRPr lang="zh-CN" altLang="en-US" sz="1100" b="0" i="1" u="none" strike="noStrike" dirty="0">
                        <a:solidFill>
                          <a:schemeClr val="tx1">
                            <a:lumMod val="50000"/>
                            <a:lumOff val="50000"/>
                          </a:schemeClr>
                        </a:solidFill>
                        <a:effectLst/>
                        <a:latin typeface="+mn-lt"/>
                        <a:ea typeface="Microsoft YaHei" panose="020B0503020204020204" pitchFamily="34" charset="-122"/>
                      </a:endParaRPr>
                    </a:p>
                  </a:txBody>
                  <a:tcPr marL="9525" marR="9525" marT="9525" marB="0" anchor="ctr">
                    <a:noFill/>
                  </a:tcPr>
                </a:tc>
                <a:extLst>
                  <a:ext uri="{0D108BD9-81ED-4DB2-BD59-A6C34878D82A}">
                    <a16:rowId xmlns:a16="http://schemas.microsoft.com/office/drawing/2014/main" xmlns="" val="10007"/>
                  </a:ext>
                </a:extLst>
              </a:tr>
              <a:tr h="2979888">
                <a:tc>
                  <a:txBody>
                    <a:bodyPr/>
                    <a:lstStyle/>
                    <a:p>
                      <a:pPr marL="0" algn="ctr" defTabSz="914400" rtl="0" eaLnBrk="1" fontAlgn="t" latinLnBrk="0" hangingPunct="1"/>
                      <a:r>
                        <a:rPr sz="1200" u="none" dirty="0">
                          <a:solidFill>
                            <a:srgbClr val="575756"/>
                          </a:solidFill>
                          <a:latin typeface="+mn-lt"/>
                          <a:ea typeface="Microsoft YaHei" panose="020B0503020204020204" pitchFamily="34" charset="-122"/>
                        </a:rPr>
                        <a:t>Description (in </a:t>
                      </a:r>
                      <a:r>
                        <a:rPr lang="en-US" sz="1200" u="none" dirty="0">
                          <a:solidFill>
                            <a:srgbClr val="575756"/>
                          </a:solidFill>
                          <a:latin typeface="+mn-lt"/>
                          <a:ea typeface="Microsoft YaHei" panose="020B0503020204020204" pitchFamily="34" charset="-122"/>
                        </a:rPr>
                        <a:t>2</a:t>
                      </a:r>
                      <a:r>
                        <a:rPr sz="1200" u="none" dirty="0">
                          <a:solidFill>
                            <a:srgbClr val="575756"/>
                          </a:solidFill>
                          <a:latin typeface="+mn-lt"/>
                          <a:ea typeface="Microsoft YaHei" panose="020B0503020204020204" pitchFamily="34" charset="-122"/>
                        </a:rPr>
                        <a:t>00 words)</a:t>
                      </a:r>
                    </a:p>
                  </a:txBody>
                  <a:tcPr marL="9525" marR="9525" marT="9525" marB="0" anchor="ctr">
                    <a:noFill/>
                  </a:tcPr>
                </a:tc>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US" sz="1100" i="1" u="none" kern="1200" dirty="0">
                          <a:solidFill>
                            <a:schemeClr val="tx1">
                              <a:lumMod val="50000"/>
                              <a:lumOff val="50000"/>
                            </a:schemeClr>
                          </a:solidFill>
                          <a:latin typeface="+mn-lt"/>
                          <a:ea typeface="Microsoft YaHei" panose="020B0503020204020204" pitchFamily="34" charset="-122"/>
                          <a:cs typeface="+mn-cs"/>
                        </a:rPr>
                        <a:t>Our project introduces an AI-powered platform designed to detect and monitor depression through Natural Language Processing (NLP). The solution allows users to engage in daily journaling via a mobile application</a:t>
                      </a:r>
                      <a:r>
                        <a:rPr lang="en-US" sz="1100" i="1" u="none" kern="1200" dirty="0">
                          <a:solidFill>
                            <a:srgbClr val="FF0000"/>
                          </a:solidFill>
                          <a:latin typeface="+mn-lt"/>
                          <a:ea typeface="Microsoft YaHei" panose="020B0503020204020204" pitchFamily="34" charset="-122"/>
                          <a:cs typeface="+mn-cs"/>
                        </a:rPr>
                        <a:t> </a:t>
                      </a:r>
                      <a:r>
                        <a:rPr lang="en-US" sz="1100" i="1" u="none" kern="1200" dirty="0">
                          <a:solidFill>
                            <a:schemeClr val="tx1">
                              <a:lumMod val="50000"/>
                              <a:lumOff val="50000"/>
                            </a:schemeClr>
                          </a:solidFill>
                          <a:latin typeface="+mn-lt"/>
                          <a:ea typeface="Microsoft YaHei" panose="020B0503020204020204" pitchFamily="34" charset="-122"/>
                          <a:cs typeface="+mn-cs"/>
                        </a:rPr>
                        <a:t>where written entries are analyzed using advanced deep learning models such as DeepSeek. By interpreting linguistic patterns, emotional tone, and writing behavior, the system classifies the user’s depression severity level (e.g., mild, moderate, or severe). If elevated risk is detected, the app recommends nearby certified therapists using location services, ensuring immediate professional support. In addition, a built-in community feature offers safe peer interaction and emotional support, promoting early intervention and social connection. The platform leverages Huawei’s EI (Enterprise Intelligence) capabilities and PaaS infrastructure for scalable AI processing, cloud storage, and secure data management. Ultimately, this project aims to empower users to monitor their mental health, reduce stigma around depression, and support healthcare professionals through AI-driven insights and real-time analysis.</a:t>
                      </a:r>
                    </a:p>
                    <a:p>
                      <a:pPr algn="ctr" fontAlgn="t"/>
                      <a:endParaRPr lang="zh-CN" altLang="en-US" sz="1100" i="1" u="none" kern="1200" dirty="0">
                        <a:solidFill>
                          <a:schemeClr val="tx1">
                            <a:lumMod val="50000"/>
                            <a:lumOff val="50000"/>
                          </a:schemeClr>
                        </a:solidFill>
                        <a:latin typeface="+mn-lt"/>
                        <a:ea typeface="Microsoft YaHei" panose="020B0503020204020204" pitchFamily="34" charset="-122"/>
                        <a:cs typeface="+mn-cs"/>
                      </a:endParaRPr>
                    </a:p>
                  </a:txBody>
                  <a:tcPr marL="9525" marR="9525" marT="9525" marB="0" anchor="ctr">
                    <a:noFill/>
                  </a:tcPr>
                </a:tc>
                <a:extLst>
                  <a:ext uri="{0D108BD9-81ED-4DB2-BD59-A6C34878D82A}">
                    <a16:rowId xmlns:a16="http://schemas.microsoft.com/office/drawing/2014/main" xmlns="" val="10008"/>
                  </a:ext>
                </a:extLst>
              </a:tr>
            </a:tbl>
          </a:graphicData>
        </a:graphic>
      </p:graphicFrame>
      <p:sp>
        <p:nvSpPr>
          <p:cNvPr id="7" name="标题 1">
            <a:extLst>
              <a:ext uri="{FF2B5EF4-FFF2-40B4-BE49-F238E27FC236}">
                <a16:creationId xmlns:a16="http://schemas.microsoft.com/office/drawing/2014/main" xmlns="" id="{30EEF05E-3A70-3A46-9D7D-01C624CFCEA5}"/>
              </a:ext>
            </a:extLst>
          </p:cNvPr>
          <p:cNvSpPr txBox="1">
            <a:spLocks/>
          </p:cNvSpPr>
          <p:nvPr/>
        </p:nvSpPr>
        <p:spPr>
          <a:xfrm>
            <a:off x="806883" y="1037202"/>
            <a:ext cx="2045373" cy="682541"/>
          </a:xfrm>
          <a:prstGeom prst="rect">
            <a:avLst/>
          </a:prstGeom>
        </p:spPr>
        <p:txBody>
          <a:bodyPr/>
          <a:lstStyle>
            <a:lvl1pPr algn="l" defTabSz="914400" rtl="0" eaLnBrk="1" latinLnBrk="0" hangingPunct="1">
              <a:lnSpc>
                <a:spcPts val="3440"/>
              </a:lnSpc>
              <a:spcBef>
                <a:spcPct val="0"/>
              </a:spcBef>
              <a:buNone/>
              <a:defRPr sz="2800" kern="1200">
                <a:solidFill>
                  <a:schemeClr val="tx1"/>
                </a:solidFill>
                <a:latin typeface="Arial" panose="02000000000000000000" pitchFamily="2" charset="-122"/>
                <a:ea typeface="FZLanTingHeiS-R-GB" panose="02000000000000000000" pitchFamily="2" charset="-122"/>
                <a:cs typeface="+mj-cs"/>
              </a:defRPr>
            </a:lvl1pPr>
          </a:lstStyle>
          <a:p>
            <a:pPr algn="ctr"/>
            <a:r>
              <a:rPr sz="2799" b="1" u="none" dirty="0">
                <a:solidFill>
                  <a:srgbClr val="990000"/>
                </a:solidFill>
              </a:rPr>
              <a:t>Overview</a:t>
            </a:r>
            <a:endParaRPr lang="zh-CN" altLang="en-US" sz="2799" b="1" dirty="0">
              <a:solidFill>
                <a:srgbClr val="990000"/>
              </a:solidFill>
              <a:latin typeface="Arial" panose="02000000000000000000" pitchFamily="2" charset="-122"/>
              <a:ea typeface="方正兰亭黑简体" panose="02000000000000000000" pitchFamily="2" charset="-122"/>
              <a:cs typeface="Arial" pitchFamily="34" charset="0"/>
            </a:endParaRPr>
          </a:p>
        </p:txBody>
      </p:sp>
      <p:pic>
        <p:nvPicPr>
          <p:cNvPr id="8" name="图片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691" y="3027861"/>
            <a:ext cx="2857500" cy="2857500"/>
          </a:xfrm>
          <a:prstGeom prst="rect">
            <a:avLst/>
          </a:prstGeom>
        </p:spPr>
      </p:pic>
      <p:sp>
        <p:nvSpPr>
          <p:cNvPr id="9" name="标题 1">
            <a:extLst>
              <a:ext uri="{FF2B5EF4-FFF2-40B4-BE49-F238E27FC236}">
                <a16:creationId xmlns:a16="http://schemas.microsoft.com/office/drawing/2014/main" xmlns="" id="{30EEF05E-3A70-3A46-9D7D-01C624CFCEA5}"/>
              </a:ext>
            </a:extLst>
          </p:cNvPr>
          <p:cNvSpPr txBox="1">
            <a:spLocks/>
          </p:cNvSpPr>
          <p:nvPr/>
        </p:nvSpPr>
        <p:spPr>
          <a:xfrm>
            <a:off x="3279061" y="383524"/>
            <a:ext cx="2339102" cy="461665"/>
          </a:xfrm>
          <a:prstGeom prst="rect">
            <a:avLst/>
          </a:prstGeom>
          <a:noFill/>
        </p:spPr>
        <p:txBody>
          <a:bodyPr wrap="none" rtlCol="0">
            <a:spAutoFit/>
          </a:bodyPr>
          <a:lstStyle>
            <a:defPPr>
              <a:defRPr lang="zh-CN"/>
            </a:defPPr>
            <a:lvl1pPr>
              <a:defRPr kumimoji="1" sz="2400">
                <a:solidFill>
                  <a:srgbClr val="575756"/>
                </a:solidFill>
                <a:latin typeface="Arial" panose="02000000000000000000" pitchFamily="2" charset="-122"/>
                <a:ea typeface="方正兰亭黑简体" panose="02000000000000000000" pitchFamily="2" charset="-122"/>
              </a:defRPr>
            </a:lvl1pPr>
          </a:lstStyle>
          <a:p>
            <a:r>
              <a:rPr u="none" dirty="0">
                <a:latin typeface="+mn-lt"/>
              </a:rPr>
              <a:t>Project Overview</a:t>
            </a:r>
          </a:p>
        </p:txBody>
      </p:sp>
    </p:spTree>
    <p:extLst>
      <p:ext uri="{BB962C8B-B14F-4D97-AF65-F5344CB8AC3E}">
        <p14:creationId xmlns:p14="http://schemas.microsoft.com/office/powerpoint/2010/main" val="18088348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矩形 29"/>
          <p:cNvSpPr/>
          <p:nvPr/>
        </p:nvSpPr>
        <p:spPr>
          <a:xfrm>
            <a:off x="2970191" y="29861"/>
            <a:ext cx="9221809" cy="68579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Microsoft YaHei" panose="020B0503020204020204" pitchFamily="34" charset="-122"/>
              <a:ea typeface="Microsoft YaHei" panose="020B0503020204020204" pitchFamily="34" charset="-122"/>
              <a:cs typeface="Arial" panose="020B0604020202020204" pitchFamily="34" charset="0"/>
            </a:endParaRPr>
          </a:p>
        </p:txBody>
      </p:sp>
      <p:grpSp>
        <p:nvGrpSpPr>
          <p:cNvPr id="5" name="组合 4"/>
          <p:cNvGrpSpPr/>
          <p:nvPr/>
        </p:nvGrpSpPr>
        <p:grpSpPr>
          <a:xfrm>
            <a:off x="3267749" y="1023746"/>
            <a:ext cx="6911008" cy="543339"/>
            <a:chOff x="3432313" y="1034105"/>
            <a:chExt cx="6911008" cy="543339"/>
          </a:xfrm>
        </p:grpSpPr>
        <p:sp>
          <p:nvSpPr>
            <p:cNvPr id="6" name="文本框 5">
              <a:extLst>
                <a:ext uri="{FF2B5EF4-FFF2-40B4-BE49-F238E27FC236}">
                  <a16:creationId xmlns:a16="http://schemas.microsoft.com/office/drawing/2014/main" xmlns="" id="{FFB3ED04-8B69-3E4B-BE7B-BF4415B53DB9}"/>
                </a:ext>
              </a:extLst>
            </p:cNvPr>
            <p:cNvSpPr txBox="1"/>
            <p:nvPr/>
          </p:nvSpPr>
          <p:spPr>
            <a:xfrm>
              <a:off x="4200938" y="1053278"/>
              <a:ext cx="2098267" cy="400110"/>
            </a:xfrm>
            <a:prstGeom prst="rect">
              <a:avLst/>
            </a:prstGeom>
            <a:noFill/>
          </p:spPr>
          <p:txBody>
            <a:bodyPr wrap="none" rtlCol="0">
              <a:spAutoFit/>
            </a:bodyPr>
            <a:lstStyle/>
            <a:p>
              <a:pPr algn="l"/>
              <a:r>
                <a:rPr sz="2000" u="none" dirty="0">
                  <a:solidFill>
                    <a:srgbClr val="575756"/>
                  </a:solidFill>
                  <a:latin typeface="+mn-lt"/>
                  <a:cs typeface="Arial" panose="020B0604020202020204" pitchFamily="34" charset="0"/>
                </a:rPr>
                <a:t>Team Introduction</a:t>
              </a:r>
              <a:endParaRPr kumimoji="1" lang="zh-CN" altLang="en-US" sz="2000" dirty="0">
                <a:solidFill>
                  <a:srgbClr val="575756"/>
                </a:solidFill>
                <a:latin typeface="+mn-lt"/>
                <a:ea typeface="方正兰亭黑简体" panose="02000000000000000000" pitchFamily="2" charset="-122"/>
                <a:cs typeface="Arial" panose="020B0604020202020204" pitchFamily="34" charset="0"/>
              </a:endParaRPr>
            </a:p>
          </p:txBody>
        </p:sp>
        <p:cxnSp>
          <p:nvCxnSpPr>
            <p:cNvPr id="7" name="直线连接符 9">
              <a:extLst>
                <a:ext uri="{FF2B5EF4-FFF2-40B4-BE49-F238E27FC236}">
                  <a16:creationId xmlns:a16="http://schemas.microsoft.com/office/drawing/2014/main" xmlns="" id="{769F327C-2A02-9945-906D-25389F1748EE}"/>
                </a:ext>
              </a:extLst>
            </p:cNvPr>
            <p:cNvCxnSpPr/>
            <p:nvPr/>
          </p:nvCxnSpPr>
          <p:spPr>
            <a:xfrm>
              <a:off x="3703982" y="1570229"/>
              <a:ext cx="6639339" cy="0"/>
            </a:xfrm>
            <a:prstGeom prst="line">
              <a:avLst/>
            </a:prstGeom>
            <a:ln>
              <a:solidFill>
                <a:srgbClr val="DEDEDE"/>
              </a:solidFill>
            </a:ln>
          </p:spPr>
          <p:style>
            <a:lnRef idx="1">
              <a:schemeClr val="accent1"/>
            </a:lnRef>
            <a:fillRef idx="0">
              <a:schemeClr val="accent1"/>
            </a:fillRef>
            <a:effectRef idx="0">
              <a:schemeClr val="accent1"/>
            </a:effectRef>
            <a:fontRef idx="minor">
              <a:schemeClr val="tx1"/>
            </a:fontRef>
          </p:style>
        </p:cxnSp>
        <p:sp>
          <p:nvSpPr>
            <p:cNvPr id="8" name="对角圆角矩形 7">
              <a:extLst>
                <a:ext uri="{FF2B5EF4-FFF2-40B4-BE49-F238E27FC236}">
                  <a16:creationId xmlns:a16="http://schemas.microsoft.com/office/drawing/2014/main" xmlns="" id="{271C7AD8-6D1D-BD4F-B743-B37DCCC53202}"/>
                </a:ext>
              </a:extLst>
            </p:cNvPr>
            <p:cNvSpPr/>
            <p:nvPr/>
          </p:nvSpPr>
          <p:spPr>
            <a:xfrm>
              <a:off x="3432313" y="1034105"/>
              <a:ext cx="543339" cy="543339"/>
            </a:xfrm>
            <a:prstGeom prst="round2DiagRect">
              <a:avLst/>
            </a:prstGeom>
            <a:solidFill>
              <a:srgbClr val="DEDED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sz="2000" b="1" u="none">
                  <a:cs typeface="Arial" panose="020B0604020202020204" pitchFamily="34" charset="0"/>
                </a:rPr>
                <a:t>1</a:t>
              </a:r>
              <a:endParaRPr kumimoji="1" lang="zh-CN" altLang="en-US" sz="2000" b="1" dirty="0">
                <a:ea typeface="FZLanTingHeiS-DB-GB" panose="02000000000000000000" pitchFamily="2" charset="-122"/>
                <a:cs typeface="Arial" panose="020B0604020202020204" pitchFamily="34" charset="0"/>
              </a:endParaRPr>
            </a:p>
          </p:txBody>
        </p:sp>
      </p:grpSp>
      <p:sp>
        <p:nvSpPr>
          <p:cNvPr id="9" name="标题 1">
            <a:extLst>
              <a:ext uri="{FF2B5EF4-FFF2-40B4-BE49-F238E27FC236}">
                <a16:creationId xmlns:a16="http://schemas.microsoft.com/office/drawing/2014/main" xmlns="" id="{30EEF05E-3A70-3A46-9D7D-01C624CFCEA5}"/>
              </a:ext>
            </a:extLst>
          </p:cNvPr>
          <p:cNvSpPr txBox="1">
            <a:spLocks/>
          </p:cNvSpPr>
          <p:nvPr/>
        </p:nvSpPr>
        <p:spPr>
          <a:xfrm>
            <a:off x="646189" y="994999"/>
            <a:ext cx="1800731" cy="495949"/>
          </a:xfrm>
          <a:prstGeom prst="rect">
            <a:avLst/>
          </a:prstGeom>
        </p:spPr>
        <p:txBody>
          <a:bodyPr/>
          <a:lstStyle>
            <a:lvl1pPr algn="l" defTabSz="914400" rtl="0" eaLnBrk="1" latinLnBrk="0" hangingPunct="1">
              <a:lnSpc>
                <a:spcPts val="3440"/>
              </a:lnSpc>
              <a:spcBef>
                <a:spcPct val="0"/>
              </a:spcBef>
              <a:buNone/>
              <a:defRPr sz="2800" kern="1200">
                <a:solidFill>
                  <a:schemeClr val="tx1"/>
                </a:solidFill>
                <a:latin typeface="Arial" panose="02000000000000000000" pitchFamily="2" charset="-122"/>
                <a:ea typeface="FZLanTingHeiS-R-GB" panose="02000000000000000000" pitchFamily="2" charset="-122"/>
                <a:cs typeface="+mj-cs"/>
              </a:defRPr>
            </a:lvl1pPr>
          </a:lstStyle>
          <a:p>
            <a:pPr algn="ctr"/>
            <a:r>
              <a:rPr sz="2799" b="1" u="none" dirty="0">
                <a:solidFill>
                  <a:srgbClr val="990000"/>
                </a:solidFill>
              </a:rPr>
              <a:t>Contents</a:t>
            </a:r>
            <a:endParaRPr lang="zh-CN" altLang="en-US" sz="2799" b="1" dirty="0">
              <a:solidFill>
                <a:srgbClr val="990000"/>
              </a:solidFill>
              <a:latin typeface="Arial" panose="02000000000000000000" pitchFamily="2" charset="-122"/>
              <a:ea typeface="方正兰亭黑简体" panose="02000000000000000000" pitchFamily="2" charset="-122"/>
              <a:cs typeface="Arial" pitchFamily="34" charset="0"/>
            </a:endParaRPr>
          </a:p>
        </p:txBody>
      </p:sp>
      <p:grpSp>
        <p:nvGrpSpPr>
          <p:cNvPr id="10" name="组合 9"/>
          <p:cNvGrpSpPr/>
          <p:nvPr/>
        </p:nvGrpSpPr>
        <p:grpSpPr>
          <a:xfrm>
            <a:off x="3267749" y="1699558"/>
            <a:ext cx="6911008" cy="543339"/>
            <a:chOff x="3432313" y="1889316"/>
            <a:chExt cx="6911008" cy="543339"/>
          </a:xfrm>
        </p:grpSpPr>
        <p:cxnSp>
          <p:nvCxnSpPr>
            <p:cNvPr id="11" name="直线连接符 13">
              <a:extLst>
                <a:ext uri="{FF2B5EF4-FFF2-40B4-BE49-F238E27FC236}">
                  <a16:creationId xmlns:a16="http://schemas.microsoft.com/office/drawing/2014/main" xmlns="" id="{D7CFA81B-7F26-A940-B597-4DF4E4A47EA5}"/>
                </a:ext>
              </a:extLst>
            </p:cNvPr>
            <p:cNvCxnSpPr/>
            <p:nvPr/>
          </p:nvCxnSpPr>
          <p:spPr>
            <a:xfrm>
              <a:off x="3703982" y="2425440"/>
              <a:ext cx="6639339" cy="0"/>
            </a:xfrm>
            <a:prstGeom prst="line">
              <a:avLst/>
            </a:prstGeom>
            <a:ln>
              <a:solidFill>
                <a:srgbClr val="DEDEDE"/>
              </a:solidFill>
            </a:ln>
          </p:spPr>
          <p:style>
            <a:lnRef idx="1">
              <a:schemeClr val="accent1"/>
            </a:lnRef>
            <a:fillRef idx="0">
              <a:schemeClr val="accent1"/>
            </a:fillRef>
            <a:effectRef idx="0">
              <a:schemeClr val="accent1"/>
            </a:effectRef>
            <a:fontRef idx="minor">
              <a:schemeClr val="tx1"/>
            </a:fontRef>
          </p:style>
        </p:cxnSp>
        <p:sp>
          <p:nvSpPr>
            <p:cNvPr id="12" name="对角圆角矩形 11">
              <a:extLst>
                <a:ext uri="{FF2B5EF4-FFF2-40B4-BE49-F238E27FC236}">
                  <a16:creationId xmlns:a16="http://schemas.microsoft.com/office/drawing/2014/main" xmlns="" id="{B2447B12-37EF-E341-A2D5-BAB3B91ED546}"/>
                </a:ext>
              </a:extLst>
            </p:cNvPr>
            <p:cNvSpPr/>
            <p:nvPr/>
          </p:nvSpPr>
          <p:spPr>
            <a:xfrm>
              <a:off x="3432313" y="1889316"/>
              <a:ext cx="543339" cy="543339"/>
            </a:xfrm>
            <a:prstGeom prst="round2DiagRect">
              <a:avLst/>
            </a:prstGeom>
            <a:solidFill>
              <a:srgbClr val="DEDED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sz="2000" b="1" u="none">
                  <a:cs typeface="Arial" panose="020B0604020202020204" pitchFamily="34" charset="0"/>
                </a:rPr>
                <a:t>2</a:t>
              </a:r>
              <a:endParaRPr kumimoji="1" lang="zh-CN" altLang="en-US" sz="2000" b="1" dirty="0">
                <a:ea typeface="方正兰亭黑简体" panose="02000000000000000000" pitchFamily="2" charset="-122"/>
                <a:cs typeface="Arial" panose="020B0604020202020204" pitchFamily="34" charset="0"/>
              </a:endParaRPr>
            </a:p>
          </p:txBody>
        </p:sp>
        <p:sp>
          <p:nvSpPr>
            <p:cNvPr id="13" name="文本框 12">
              <a:extLst>
                <a:ext uri="{FF2B5EF4-FFF2-40B4-BE49-F238E27FC236}">
                  <a16:creationId xmlns:a16="http://schemas.microsoft.com/office/drawing/2014/main" xmlns="" id="{FFB3ED04-8B69-3E4B-BE7B-BF4415B53DB9}"/>
                </a:ext>
              </a:extLst>
            </p:cNvPr>
            <p:cNvSpPr txBox="1"/>
            <p:nvPr/>
          </p:nvSpPr>
          <p:spPr>
            <a:xfrm>
              <a:off x="4200937" y="1927425"/>
              <a:ext cx="2277226" cy="400110"/>
            </a:xfrm>
            <a:prstGeom prst="rect">
              <a:avLst/>
            </a:prstGeom>
            <a:noFill/>
          </p:spPr>
          <p:txBody>
            <a:bodyPr wrap="none" rtlCol="0">
              <a:spAutoFit/>
            </a:bodyPr>
            <a:lstStyle/>
            <a:p>
              <a:r>
                <a:rPr sz="2000" u="none" dirty="0">
                  <a:solidFill>
                    <a:srgbClr val="575756"/>
                  </a:solidFill>
                  <a:latin typeface="+mn-lt"/>
                  <a:cs typeface="Arial" panose="020B0604020202020204" pitchFamily="34" charset="0"/>
                </a:rPr>
                <a:t>Project Introduction</a:t>
              </a:r>
              <a:endParaRPr kumimoji="1" lang="zh-CN" altLang="en-US" sz="2000" dirty="0">
                <a:solidFill>
                  <a:srgbClr val="575756"/>
                </a:solidFill>
                <a:latin typeface="+mn-lt"/>
                <a:ea typeface="方正兰亭黑简体" panose="02000000000000000000" pitchFamily="2" charset="-122"/>
                <a:cs typeface="Arial" panose="020B0604020202020204" pitchFamily="34" charset="0"/>
              </a:endParaRPr>
            </a:p>
          </p:txBody>
        </p:sp>
      </p:grpSp>
      <p:grpSp>
        <p:nvGrpSpPr>
          <p:cNvPr id="14" name="组合 13"/>
          <p:cNvGrpSpPr/>
          <p:nvPr/>
        </p:nvGrpSpPr>
        <p:grpSpPr>
          <a:xfrm>
            <a:off x="3267749" y="2375370"/>
            <a:ext cx="6911008" cy="543339"/>
            <a:chOff x="3432313" y="2750708"/>
            <a:chExt cx="6911008" cy="543339"/>
          </a:xfrm>
        </p:grpSpPr>
        <p:cxnSp>
          <p:nvCxnSpPr>
            <p:cNvPr id="15" name="直线连接符 16">
              <a:extLst>
                <a:ext uri="{FF2B5EF4-FFF2-40B4-BE49-F238E27FC236}">
                  <a16:creationId xmlns:a16="http://schemas.microsoft.com/office/drawing/2014/main" xmlns="" id="{9459AFDF-5D27-2645-BCA9-4366F5ED3468}"/>
                </a:ext>
              </a:extLst>
            </p:cNvPr>
            <p:cNvCxnSpPr/>
            <p:nvPr/>
          </p:nvCxnSpPr>
          <p:spPr>
            <a:xfrm>
              <a:off x="3703982" y="3286832"/>
              <a:ext cx="6639339" cy="0"/>
            </a:xfrm>
            <a:prstGeom prst="line">
              <a:avLst/>
            </a:prstGeom>
            <a:ln>
              <a:solidFill>
                <a:srgbClr val="DEDEDE"/>
              </a:solidFill>
            </a:ln>
          </p:spPr>
          <p:style>
            <a:lnRef idx="1">
              <a:schemeClr val="accent1"/>
            </a:lnRef>
            <a:fillRef idx="0">
              <a:schemeClr val="accent1"/>
            </a:fillRef>
            <a:effectRef idx="0">
              <a:schemeClr val="accent1"/>
            </a:effectRef>
            <a:fontRef idx="minor">
              <a:schemeClr val="tx1"/>
            </a:fontRef>
          </p:style>
        </p:cxnSp>
        <p:sp>
          <p:nvSpPr>
            <p:cNvPr id="16" name="对角圆角矩形 15">
              <a:extLst>
                <a:ext uri="{FF2B5EF4-FFF2-40B4-BE49-F238E27FC236}">
                  <a16:creationId xmlns:a16="http://schemas.microsoft.com/office/drawing/2014/main" xmlns="" id="{291DED04-5B3C-2D40-98E0-EB6D0A8B04BC}"/>
                </a:ext>
              </a:extLst>
            </p:cNvPr>
            <p:cNvSpPr/>
            <p:nvPr/>
          </p:nvSpPr>
          <p:spPr>
            <a:xfrm>
              <a:off x="3432313" y="2750708"/>
              <a:ext cx="543339" cy="543339"/>
            </a:xfrm>
            <a:prstGeom prst="round2DiagRect">
              <a:avLst/>
            </a:prstGeom>
            <a:solidFill>
              <a:srgbClr val="DEDED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sz="2000" b="1" u="none">
                  <a:cs typeface="Arial" panose="020B0604020202020204" pitchFamily="34" charset="0"/>
                </a:rPr>
                <a:t>3</a:t>
              </a:r>
              <a:endParaRPr kumimoji="1" lang="zh-CN" altLang="en-US" sz="2000" b="1" dirty="0">
                <a:ea typeface="方正兰亭黑简体" panose="02000000000000000000" pitchFamily="2" charset="-122"/>
                <a:cs typeface="Arial" panose="020B0604020202020204" pitchFamily="34" charset="0"/>
              </a:endParaRPr>
            </a:p>
          </p:txBody>
        </p:sp>
        <p:sp>
          <p:nvSpPr>
            <p:cNvPr id="17" name="文本框 16">
              <a:extLst>
                <a:ext uri="{FF2B5EF4-FFF2-40B4-BE49-F238E27FC236}">
                  <a16:creationId xmlns:a16="http://schemas.microsoft.com/office/drawing/2014/main" xmlns="" id="{FFB3ED04-8B69-3E4B-BE7B-BF4415B53DB9}"/>
                </a:ext>
              </a:extLst>
            </p:cNvPr>
            <p:cNvSpPr txBox="1"/>
            <p:nvPr/>
          </p:nvSpPr>
          <p:spPr>
            <a:xfrm>
              <a:off x="4200938" y="2787938"/>
              <a:ext cx="2495042" cy="400110"/>
            </a:xfrm>
            <a:prstGeom prst="rect">
              <a:avLst/>
            </a:prstGeom>
            <a:noFill/>
          </p:spPr>
          <p:txBody>
            <a:bodyPr wrap="none" rtlCol="0">
              <a:spAutoFit/>
            </a:bodyPr>
            <a:lstStyle/>
            <a:p>
              <a:r>
                <a:rPr sz="2000" u="none" dirty="0">
                  <a:solidFill>
                    <a:srgbClr val="575756"/>
                  </a:solidFill>
                  <a:latin typeface="+mn-lt"/>
                  <a:cs typeface="Arial" panose="020B0604020202020204" pitchFamily="34" charset="0"/>
                </a:rPr>
                <a:t>Technical Architecture</a:t>
              </a:r>
              <a:endParaRPr kumimoji="1" lang="zh-CN" altLang="en-US" sz="2000" dirty="0">
                <a:solidFill>
                  <a:srgbClr val="575756"/>
                </a:solidFill>
                <a:latin typeface="+mn-lt"/>
                <a:ea typeface="方正兰亭黑简体" panose="02000000000000000000" pitchFamily="2" charset="-122"/>
                <a:cs typeface="Arial" panose="020B0604020202020204" pitchFamily="34" charset="0"/>
              </a:endParaRPr>
            </a:p>
          </p:txBody>
        </p:sp>
      </p:grpSp>
      <p:grpSp>
        <p:nvGrpSpPr>
          <p:cNvPr id="18" name="组合 17"/>
          <p:cNvGrpSpPr/>
          <p:nvPr/>
        </p:nvGrpSpPr>
        <p:grpSpPr>
          <a:xfrm>
            <a:off x="3267749" y="3051182"/>
            <a:ext cx="6911008" cy="543339"/>
            <a:chOff x="3432313" y="3662362"/>
            <a:chExt cx="6911008" cy="543339"/>
          </a:xfrm>
        </p:grpSpPr>
        <p:cxnSp>
          <p:nvCxnSpPr>
            <p:cNvPr id="19" name="直线连接符 19">
              <a:extLst>
                <a:ext uri="{FF2B5EF4-FFF2-40B4-BE49-F238E27FC236}">
                  <a16:creationId xmlns:a16="http://schemas.microsoft.com/office/drawing/2014/main" xmlns="" id="{DA95948E-1B35-C74F-B5D3-BAF372F305FB}"/>
                </a:ext>
              </a:extLst>
            </p:cNvPr>
            <p:cNvCxnSpPr/>
            <p:nvPr/>
          </p:nvCxnSpPr>
          <p:spPr>
            <a:xfrm>
              <a:off x="3703982" y="4198486"/>
              <a:ext cx="6639339" cy="0"/>
            </a:xfrm>
            <a:prstGeom prst="line">
              <a:avLst/>
            </a:prstGeom>
            <a:ln>
              <a:solidFill>
                <a:srgbClr val="DEDEDE"/>
              </a:solidFill>
            </a:ln>
          </p:spPr>
          <p:style>
            <a:lnRef idx="1">
              <a:schemeClr val="accent1"/>
            </a:lnRef>
            <a:fillRef idx="0">
              <a:schemeClr val="accent1"/>
            </a:fillRef>
            <a:effectRef idx="0">
              <a:schemeClr val="accent1"/>
            </a:effectRef>
            <a:fontRef idx="minor">
              <a:schemeClr val="tx1"/>
            </a:fontRef>
          </p:style>
        </p:cxnSp>
        <p:sp>
          <p:nvSpPr>
            <p:cNvPr id="20" name="对角圆角矩形 19">
              <a:extLst>
                <a:ext uri="{FF2B5EF4-FFF2-40B4-BE49-F238E27FC236}">
                  <a16:creationId xmlns:a16="http://schemas.microsoft.com/office/drawing/2014/main" xmlns="" id="{7759FC1B-3C0B-D942-8B9B-FC6352169D35}"/>
                </a:ext>
              </a:extLst>
            </p:cNvPr>
            <p:cNvSpPr/>
            <p:nvPr/>
          </p:nvSpPr>
          <p:spPr>
            <a:xfrm>
              <a:off x="3432313" y="3662362"/>
              <a:ext cx="543339" cy="543339"/>
            </a:xfrm>
            <a:prstGeom prst="round2DiagRect">
              <a:avLst/>
            </a:prstGeom>
            <a:solidFill>
              <a:srgbClr val="DEDED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sz="2000" b="1" u="none">
                  <a:cs typeface="Arial" panose="020B0604020202020204" pitchFamily="34" charset="0"/>
                </a:rPr>
                <a:t>4</a:t>
              </a:r>
              <a:endParaRPr kumimoji="1" lang="zh-CN" altLang="en-US" sz="2000" b="1" dirty="0">
                <a:ea typeface="方正兰亭黑简体" panose="02000000000000000000" pitchFamily="2" charset="-122"/>
                <a:cs typeface="Arial" panose="020B0604020202020204" pitchFamily="34" charset="0"/>
              </a:endParaRPr>
            </a:p>
          </p:txBody>
        </p:sp>
        <p:sp>
          <p:nvSpPr>
            <p:cNvPr id="21" name="文本框 20">
              <a:extLst>
                <a:ext uri="{FF2B5EF4-FFF2-40B4-BE49-F238E27FC236}">
                  <a16:creationId xmlns:a16="http://schemas.microsoft.com/office/drawing/2014/main" xmlns="" id="{FFB3ED04-8B69-3E4B-BE7B-BF4415B53DB9}"/>
                </a:ext>
              </a:extLst>
            </p:cNvPr>
            <p:cNvSpPr txBox="1"/>
            <p:nvPr/>
          </p:nvSpPr>
          <p:spPr>
            <a:xfrm>
              <a:off x="4200938" y="3703198"/>
              <a:ext cx="1197764" cy="400110"/>
            </a:xfrm>
            <a:prstGeom prst="rect">
              <a:avLst/>
            </a:prstGeom>
            <a:noFill/>
          </p:spPr>
          <p:txBody>
            <a:bodyPr wrap="none" rtlCol="0">
              <a:spAutoFit/>
            </a:bodyPr>
            <a:lstStyle/>
            <a:p>
              <a:r>
                <a:rPr sz="2000" u="none">
                  <a:solidFill>
                    <a:srgbClr val="575756"/>
                  </a:solidFill>
                  <a:latin typeface="+mn-lt"/>
                  <a:cs typeface="Arial" panose="020B0604020202020204" pitchFamily="34" charset="0"/>
                </a:rPr>
                <a:t>Functions</a:t>
              </a:r>
              <a:endParaRPr kumimoji="1" lang="zh-CN" altLang="en-US" sz="2000" dirty="0">
                <a:solidFill>
                  <a:srgbClr val="575756"/>
                </a:solidFill>
                <a:latin typeface="+mn-lt"/>
                <a:ea typeface="方正兰亭黑简体" panose="02000000000000000000" pitchFamily="2" charset="-122"/>
                <a:cs typeface="Arial" panose="020B0604020202020204" pitchFamily="34" charset="0"/>
              </a:endParaRPr>
            </a:p>
          </p:txBody>
        </p:sp>
      </p:grpSp>
      <p:grpSp>
        <p:nvGrpSpPr>
          <p:cNvPr id="22" name="组合 21"/>
          <p:cNvGrpSpPr/>
          <p:nvPr/>
        </p:nvGrpSpPr>
        <p:grpSpPr>
          <a:xfrm>
            <a:off x="3267749" y="3726994"/>
            <a:ext cx="6911008" cy="543339"/>
            <a:chOff x="3432313" y="4574015"/>
            <a:chExt cx="6911008" cy="543339"/>
          </a:xfrm>
        </p:grpSpPr>
        <p:cxnSp>
          <p:nvCxnSpPr>
            <p:cNvPr id="23" name="直线连接符 22">
              <a:extLst>
                <a:ext uri="{FF2B5EF4-FFF2-40B4-BE49-F238E27FC236}">
                  <a16:creationId xmlns:a16="http://schemas.microsoft.com/office/drawing/2014/main" xmlns="" id="{62898963-F52B-714B-8D3D-3C6BDDD5048D}"/>
                </a:ext>
              </a:extLst>
            </p:cNvPr>
            <p:cNvCxnSpPr/>
            <p:nvPr/>
          </p:nvCxnSpPr>
          <p:spPr>
            <a:xfrm>
              <a:off x="3703982" y="5110139"/>
              <a:ext cx="6639339" cy="0"/>
            </a:xfrm>
            <a:prstGeom prst="line">
              <a:avLst/>
            </a:prstGeom>
            <a:ln>
              <a:solidFill>
                <a:srgbClr val="DEDEDE"/>
              </a:solidFill>
            </a:ln>
          </p:spPr>
          <p:style>
            <a:lnRef idx="1">
              <a:schemeClr val="accent1"/>
            </a:lnRef>
            <a:fillRef idx="0">
              <a:schemeClr val="accent1"/>
            </a:fillRef>
            <a:effectRef idx="0">
              <a:schemeClr val="accent1"/>
            </a:effectRef>
            <a:fontRef idx="minor">
              <a:schemeClr val="tx1"/>
            </a:fontRef>
          </p:style>
        </p:cxnSp>
        <p:sp>
          <p:nvSpPr>
            <p:cNvPr id="24" name="对角圆角矩形 23">
              <a:extLst>
                <a:ext uri="{FF2B5EF4-FFF2-40B4-BE49-F238E27FC236}">
                  <a16:creationId xmlns:a16="http://schemas.microsoft.com/office/drawing/2014/main" xmlns="" id="{AF8DC714-CEAB-5040-8B74-52E7C64E1AC7}"/>
                </a:ext>
              </a:extLst>
            </p:cNvPr>
            <p:cNvSpPr/>
            <p:nvPr/>
          </p:nvSpPr>
          <p:spPr>
            <a:xfrm>
              <a:off x="3432313" y="4574015"/>
              <a:ext cx="543339" cy="543339"/>
            </a:xfrm>
            <a:prstGeom prst="round2DiagRect">
              <a:avLst/>
            </a:prstGeom>
            <a:solidFill>
              <a:srgbClr val="DEDED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sz="2000" b="1" u="none">
                  <a:cs typeface="Arial" panose="020B0604020202020204" pitchFamily="34" charset="0"/>
                </a:rPr>
                <a:t>5</a:t>
              </a:r>
              <a:endParaRPr kumimoji="1" lang="zh-CN" altLang="en-US" sz="2000" b="1" dirty="0">
                <a:ea typeface="方正兰亭黑简体" panose="02000000000000000000" pitchFamily="2" charset="-122"/>
                <a:cs typeface="Arial" panose="020B0604020202020204" pitchFamily="34" charset="0"/>
              </a:endParaRPr>
            </a:p>
          </p:txBody>
        </p:sp>
        <p:sp>
          <p:nvSpPr>
            <p:cNvPr id="25" name="文本框 24">
              <a:extLst>
                <a:ext uri="{FF2B5EF4-FFF2-40B4-BE49-F238E27FC236}">
                  <a16:creationId xmlns:a16="http://schemas.microsoft.com/office/drawing/2014/main" xmlns="" id="{FFB3ED04-8B69-3E4B-BE7B-BF4415B53DB9}"/>
                </a:ext>
              </a:extLst>
            </p:cNvPr>
            <p:cNvSpPr txBox="1"/>
            <p:nvPr/>
          </p:nvSpPr>
          <p:spPr>
            <a:xfrm>
              <a:off x="4200938" y="4614851"/>
              <a:ext cx="1400448" cy="400110"/>
            </a:xfrm>
            <a:prstGeom prst="rect">
              <a:avLst/>
            </a:prstGeom>
            <a:noFill/>
          </p:spPr>
          <p:txBody>
            <a:bodyPr wrap="none" rtlCol="0">
              <a:spAutoFit/>
            </a:bodyPr>
            <a:lstStyle/>
            <a:p>
              <a:r>
                <a:rPr sz="2000" u="none" dirty="0">
                  <a:solidFill>
                    <a:srgbClr val="575756"/>
                  </a:solidFill>
                  <a:latin typeface="+mn-lt"/>
                  <a:cs typeface="Arial" panose="020B0604020202020204" pitchFamily="34" charset="0"/>
                </a:rPr>
                <a:t>Innovations</a:t>
              </a:r>
              <a:endParaRPr kumimoji="1" lang="en-US" altLang="zh-CN" sz="2000" dirty="0">
                <a:solidFill>
                  <a:srgbClr val="575756"/>
                </a:solidFill>
                <a:latin typeface="+mn-lt"/>
                <a:ea typeface="方正兰亭黑简体" panose="02000000000000000000" pitchFamily="2" charset="-122"/>
                <a:cs typeface="Arial" panose="020B0604020202020204" pitchFamily="34" charset="0"/>
              </a:endParaRPr>
            </a:p>
          </p:txBody>
        </p:sp>
      </p:grpSp>
      <p:grpSp>
        <p:nvGrpSpPr>
          <p:cNvPr id="26" name="组合 25"/>
          <p:cNvGrpSpPr/>
          <p:nvPr/>
        </p:nvGrpSpPr>
        <p:grpSpPr>
          <a:xfrm>
            <a:off x="3267749" y="4402806"/>
            <a:ext cx="6911008" cy="543339"/>
            <a:chOff x="3432313" y="5535930"/>
            <a:chExt cx="6911008" cy="543339"/>
          </a:xfrm>
        </p:grpSpPr>
        <p:cxnSp>
          <p:nvCxnSpPr>
            <p:cNvPr id="27" name="直线连接符 25">
              <a:extLst>
                <a:ext uri="{FF2B5EF4-FFF2-40B4-BE49-F238E27FC236}">
                  <a16:creationId xmlns:a16="http://schemas.microsoft.com/office/drawing/2014/main" xmlns="" id="{44604F91-AB4C-294F-9337-2B8CC48C8EC5}"/>
                </a:ext>
              </a:extLst>
            </p:cNvPr>
            <p:cNvCxnSpPr/>
            <p:nvPr/>
          </p:nvCxnSpPr>
          <p:spPr>
            <a:xfrm>
              <a:off x="3703982" y="6072054"/>
              <a:ext cx="6639339" cy="0"/>
            </a:xfrm>
            <a:prstGeom prst="line">
              <a:avLst/>
            </a:prstGeom>
            <a:ln>
              <a:solidFill>
                <a:srgbClr val="DEDEDE"/>
              </a:solidFill>
            </a:ln>
          </p:spPr>
          <p:style>
            <a:lnRef idx="1">
              <a:schemeClr val="accent1"/>
            </a:lnRef>
            <a:fillRef idx="0">
              <a:schemeClr val="accent1"/>
            </a:fillRef>
            <a:effectRef idx="0">
              <a:schemeClr val="accent1"/>
            </a:effectRef>
            <a:fontRef idx="minor">
              <a:schemeClr val="tx1"/>
            </a:fontRef>
          </p:style>
        </p:cxnSp>
        <p:sp>
          <p:nvSpPr>
            <p:cNvPr id="28" name="对角圆角矩形 27">
              <a:extLst>
                <a:ext uri="{FF2B5EF4-FFF2-40B4-BE49-F238E27FC236}">
                  <a16:creationId xmlns:a16="http://schemas.microsoft.com/office/drawing/2014/main" xmlns="" id="{E272513A-7057-5E45-BD3C-018F5437C7EE}"/>
                </a:ext>
              </a:extLst>
            </p:cNvPr>
            <p:cNvSpPr/>
            <p:nvPr/>
          </p:nvSpPr>
          <p:spPr>
            <a:xfrm>
              <a:off x="3432313" y="5535930"/>
              <a:ext cx="543339" cy="543339"/>
            </a:xfrm>
            <a:prstGeom prst="round2DiagRect">
              <a:avLst/>
            </a:prstGeom>
            <a:solidFill>
              <a:srgbClr val="DEDED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sz="2000" b="1" u="none">
                  <a:cs typeface="Arial" panose="020B0604020202020204" pitchFamily="34" charset="0"/>
                </a:rPr>
                <a:t>6</a:t>
              </a:r>
              <a:endParaRPr kumimoji="1" lang="zh-CN" altLang="en-US" sz="2000" b="1" dirty="0">
                <a:ea typeface="方正兰亭黑简体" panose="02000000000000000000" pitchFamily="2" charset="-122"/>
                <a:cs typeface="Arial" panose="020B0604020202020204" pitchFamily="34" charset="0"/>
              </a:endParaRPr>
            </a:p>
          </p:txBody>
        </p:sp>
        <p:sp>
          <p:nvSpPr>
            <p:cNvPr id="29" name="文本框 28">
              <a:extLst>
                <a:ext uri="{FF2B5EF4-FFF2-40B4-BE49-F238E27FC236}">
                  <a16:creationId xmlns:a16="http://schemas.microsoft.com/office/drawing/2014/main" xmlns="" id="{FFB3ED04-8B69-3E4B-BE7B-BF4415B53DB9}"/>
                </a:ext>
              </a:extLst>
            </p:cNvPr>
            <p:cNvSpPr txBox="1"/>
            <p:nvPr/>
          </p:nvSpPr>
          <p:spPr>
            <a:xfrm>
              <a:off x="4200936" y="5576766"/>
              <a:ext cx="1718868" cy="400110"/>
            </a:xfrm>
            <a:prstGeom prst="rect">
              <a:avLst/>
            </a:prstGeom>
            <a:noFill/>
          </p:spPr>
          <p:txBody>
            <a:bodyPr wrap="none" rtlCol="0">
              <a:spAutoFit/>
            </a:bodyPr>
            <a:lstStyle/>
            <a:p>
              <a:r>
                <a:rPr sz="2000" u="none" dirty="0">
                  <a:solidFill>
                    <a:srgbClr val="575756"/>
                  </a:solidFill>
                  <a:latin typeface="+mn-lt"/>
                  <a:cs typeface="Arial" panose="020B0604020202020204" pitchFamily="34" charset="0"/>
                </a:rPr>
                <a:t>Business </a:t>
              </a:r>
              <a:r>
                <a:rPr lang="en-US" sz="2000" u="none" dirty="0">
                  <a:solidFill>
                    <a:srgbClr val="575756"/>
                  </a:solidFill>
                  <a:latin typeface="+mn-lt"/>
                  <a:cs typeface="Arial" panose="020B0604020202020204" pitchFamily="34" charset="0"/>
                </a:rPr>
                <a:t>V</a:t>
              </a:r>
              <a:r>
                <a:rPr sz="2000" u="none" dirty="0">
                  <a:solidFill>
                    <a:srgbClr val="575756"/>
                  </a:solidFill>
                  <a:latin typeface="+mn-lt"/>
                  <a:cs typeface="Arial" panose="020B0604020202020204" pitchFamily="34" charset="0"/>
                </a:rPr>
                <a:t>alue</a:t>
              </a:r>
              <a:endParaRPr kumimoji="1" lang="zh-CN" altLang="en-US" sz="2000" dirty="0">
                <a:solidFill>
                  <a:srgbClr val="575756"/>
                </a:solidFill>
                <a:latin typeface="+mn-lt"/>
                <a:ea typeface="方正兰亭黑简体" panose="02000000000000000000" pitchFamily="2" charset="-122"/>
                <a:cs typeface="Arial" panose="020B0604020202020204" pitchFamily="34" charset="0"/>
              </a:endParaRPr>
            </a:p>
          </p:txBody>
        </p:sp>
      </p:grpSp>
      <p:pic>
        <p:nvPicPr>
          <p:cNvPr id="2" name="图片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691" y="3420030"/>
            <a:ext cx="2857500" cy="2857500"/>
          </a:xfrm>
          <a:prstGeom prst="rect">
            <a:avLst/>
          </a:prstGeom>
        </p:spPr>
      </p:pic>
      <p:grpSp>
        <p:nvGrpSpPr>
          <p:cNvPr id="32" name="组合 31"/>
          <p:cNvGrpSpPr/>
          <p:nvPr/>
        </p:nvGrpSpPr>
        <p:grpSpPr>
          <a:xfrm>
            <a:off x="3267749" y="5078618"/>
            <a:ext cx="6911008" cy="543339"/>
            <a:chOff x="3432313" y="4574015"/>
            <a:chExt cx="6911008" cy="543339"/>
          </a:xfrm>
        </p:grpSpPr>
        <p:cxnSp>
          <p:nvCxnSpPr>
            <p:cNvPr id="33" name="直线连接符 22">
              <a:extLst>
                <a:ext uri="{FF2B5EF4-FFF2-40B4-BE49-F238E27FC236}">
                  <a16:creationId xmlns:a16="http://schemas.microsoft.com/office/drawing/2014/main" xmlns="" id="{62898963-F52B-714B-8D3D-3C6BDDD5048D}"/>
                </a:ext>
              </a:extLst>
            </p:cNvPr>
            <p:cNvCxnSpPr/>
            <p:nvPr/>
          </p:nvCxnSpPr>
          <p:spPr>
            <a:xfrm>
              <a:off x="3703982" y="5110139"/>
              <a:ext cx="6639339" cy="0"/>
            </a:xfrm>
            <a:prstGeom prst="line">
              <a:avLst/>
            </a:prstGeom>
            <a:ln>
              <a:solidFill>
                <a:srgbClr val="DEDEDE"/>
              </a:solidFill>
            </a:ln>
          </p:spPr>
          <p:style>
            <a:lnRef idx="1">
              <a:schemeClr val="accent1"/>
            </a:lnRef>
            <a:fillRef idx="0">
              <a:schemeClr val="accent1"/>
            </a:fillRef>
            <a:effectRef idx="0">
              <a:schemeClr val="accent1"/>
            </a:effectRef>
            <a:fontRef idx="minor">
              <a:schemeClr val="tx1"/>
            </a:fontRef>
          </p:style>
        </p:cxnSp>
        <p:sp>
          <p:nvSpPr>
            <p:cNvPr id="34" name="对角圆角矩形 33">
              <a:extLst>
                <a:ext uri="{FF2B5EF4-FFF2-40B4-BE49-F238E27FC236}">
                  <a16:creationId xmlns:a16="http://schemas.microsoft.com/office/drawing/2014/main" xmlns="" id="{AF8DC714-CEAB-5040-8B74-52E7C64E1AC7}"/>
                </a:ext>
              </a:extLst>
            </p:cNvPr>
            <p:cNvSpPr/>
            <p:nvPr/>
          </p:nvSpPr>
          <p:spPr>
            <a:xfrm>
              <a:off x="3432313" y="4574015"/>
              <a:ext cx="543339" cy="543339"/>
            </a:xfrm>
            <a:prstGeom prst="round2DiagRect">
              <a:avLst/>
            </a:prstGeom>
            <a:solidFill>
              <a:srgbClr val="DEDED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sz="2000" b="1" u="none">
                  <a:cs typeface="Arial" panose="020B0604020202020204" pitchFamily="34" charset="0"/>
                </a:rPr>
                <a:t>7</a:t>
              </a:r>
              <a:endParaRPr kumimoji="1" lang="zh-CN" altLang="en-US" sz="2000" b="1" dirty="0">
                <a:ea typeface="方正兰亭黑简体" panose="02000000000000000000" pitchFamily="2" charset="-122"/>
                <a:cs typeface="Arial" panose="020B0604020202020204" pitchFamily="34" charset="0"/>
              </a:endParaRPr>
            </a:p>
          </p:txBody>
        </p:sp>
        <p:sp>
          <p:nvSpPr>
            <p:cNvPr id="35" name="文本框 34">
              <a:extLst>
                <a:ext uri="{FF2B5EF4-FFF2-40B4-BE49-F238E27FC236}">
                  <a16:creationId xmlns:a16="http://schemas.microsoft.com/office/drawing/2014/main" xmlns="" id="{FFB3ED04-8B69-3E4B-BE7B-BF4415B53DB9}"/>
                </a:ext>
              </a:extLst>
            </p:cNvPr>
            <p:cNvSpPr txBox="1"/>
            <p:nvPr/>
          </p:nvSpPr>
          <p:spPr>
            <a:xfrm>
              <a:off x="4200938" y="4614851"/>
              <a:ext cx="2640723" cy="400110"/>
            </a:xfrm>
            <a:prstGeom prst="rect">
              <a:avLst/>
            </a:prstGeom>
            <a:noFill/>
          </p:spPr>
          <p:txBody>
            <a:bodyPr wrap="none" rtlCol="0">
              <a:spAutoFit/>
            </a:bodyPr>
            <a:lstStyle/>
            <a:p>
              <a:r>
                <a:rPr lang="en-US" sz="2000" u="none" dirty="0">
                  <a:solidFill>
                    <a:srgbClr val="575756"/>
                  </a:solidFill>
                  <a:latin typeface="+mn-lt"/>
                  <a:cs typeface="Arial" panose="020B0604020202020204" pitchFamily="34" charset="0"/>
                </a:rPr>
                <a:t>Demo &amp; Follow-up</a:t>
              </a:r>
              <a:r>
                <a:rPr sz="2000" u="none" dirty="0">
                  <a:solidFill>
                    <a:srgbClr val="575756"/>
                  </a:solidFill>
                  <a:latin typeface="+mn-lt"/>
                  <a:cs typeface="Arial" panose="020B0604020202020204" pitchFamily="34" charset="0"/>
                </a:rPr>
                <a:t> Plan</a:t>
              </a:r>
              <a:endParaRPr kumimoji="1" lang="en-US" altLang="zh-CN" sz="2000" dirty="0">
                <a:solidFill>
                  <a:srgbClr val="575756"/>
                </a:solidFill>
                <a:latin typeface="+mn-lt"/>
                <a:ea typeface="方正兰亭黑简体" panose="02000000000000000000" pitchFamily="2" charset="-122"/>
                <a:cs typeface="Arial" panose="020B0604020202020204" pitchFamily="34" charset="0"/>
              </a:endParaRPr>
            </a:p>
          </p:txBody>
        </p:sp>
      </p:grpSp>
    </p:spTree>
    <p:extLst>
      <p:ext uri="{BB962C8B-B14F-4D97-AF65-F5344CB8AC3E}">
        <p14:creationId xmlns:p14="http://schemas.microsoft.com/office/powerpoint/2010/main" val="10508550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F868B916-4407-A9B3-DB78-1F30821D1D47}"/>
            </a:ext>
          </a:extLst>
        </p:cNvPr>
        <p:cNvGrpSpPr/>
        <p:nvPr/>
      </p:nvGrpSpPr>
      <p:grpSpPr>
        <a:xfrm>
          <a:off x="0" y="0"/>
          <a:ext cx="0" cy="0"/>
          <a:chOff x="0" y="0"/>
          <a:chExt cx="0" cy="0"/>
        </a:xfrm>
      </p:grpSpPr>
      <p:sp>
        <p:nvSpPr>
          <p:cNvPr id="8" name="Subtitle 1">
            <a:extLst>
              <a:ext uri="{FF2B5EF4-FFF2-40B4-BE49-F238E27FC236}">
                <a16:creationId xmlns:a16="http://schemas.microsoft.com/office/drawing/2014/main" xmlns="" id="{D56D3797-98F5-A1BE-78C1-5C6884E5E4CE}"/>
              </a:ext>
            </a:extLst>
          </p:cNvPr>
          <p:cNvSpPr txBox="1">
            <a:spLocks/>
          </p:cNvSpPr>
          <p:nvPr/>
        </p:nvSpPr>
        <p:spPr>
          <a:xfrm>
            <a:off x="996993" y="416710"/>
            <a:ext cx="10736446" cy="39505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9pPr>
          </a:lstStyle>
          <a:p>
            <a:pPr marL="0" indent="0" eaLnBrk="0" fontAlgn="base" hangingPunct="0">
              <a:spcBef>
                <a:spcPct val="0"/>
              </a:spcBef>
              <a:spcAft>
                <a:spcPct val="0"/>
              </a:spcAft>
              <a:buNone/>
            </a:pPr>
            <a:r>
              <a:rPr sz="2799" b="1" u="none" dirty="0">
                <a:solidFill>
                  <a:srgbClr val="990000"/>
                </a:solidFill>
                <a:latin typeface="Microsoft YaHei" panose="020B0503020204020204" pitchFamily="34" charset="-122"/>
                <a:ea typeface="Microsoft YaHei" panose="020B0503020204020204" pitchFamily="34" charset="-122"/>
              </a:rPr>
              <a:t>Team Introduction</a:t>
            </a:r>
            <a:endParaRPr lang="zh-CN" altLang="en-US" sz="2799" b="1" dirty="0">
              <a:solidFill>
                <a:srgbClr val="990000"/>
              </a:solidFill>
              <a:latin typeface="Microsoft YaHei" panose="020B0503020204020204" pitchFamily="34" charset="-122"/>
              <a:ea typeface="Microsoft YaHei" panose="020B0503020204020204" pitchFamily="34" charset="-122"/>
              <a:cs typeface="Arial" pitchFamily="34" charset="0"/>
            </a:endParaRPr>
          </a:p>
        </p:txBody>
      </p:sp>
      <p:sp>
        <p:nvSpPr>
          <p:cNvPr id="11" name="矩形 10">
            <a:extLst>
              <a:ext uri="{FF2B5EF4-FFF2-40B4-BE49-F238E27FC236}">
                <a16:creationId xmlns:a16="http://schemas.microsoft.com/office/drawing/2014/main" xmlns="" id="{DF9D8FDA-37A1-D304-87BB-B5A962DB275E}"/>
              </a:ext>
            </a:extLst>
          </p:cNvPr>
          <p:cNvSpPr/>
          <p:nvPr/>
        </p:nvSpPr>
        <p:spPr>
          <a:xfrm>
            <a:off x="0" y="6435634"/>
            <a:ext cx="12192000" cy="422366"/>
          </a:xfrm>
          <a:prstGeom prst="rect">
            <a:avLst/>
          </a:prstGeom>
          <a:solidFill>
            <a:srgbClr val="D7E4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图片 1">
            <a:extLst>
              <a:ext uri="{FF2B5EF4-FFF2-40B4-BE49-F238E27FC236}">
                <a16:creationId xmlns:a16="http://schemas.microsoft.com/office/drawing/2014/main" xmlns="" id="{43FFF83C-C785-AC1D-2DA4-95AA7DB4F7E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34034" y="4888851"/>
            <a:ext cx="1757966" cy="1757966"/>
          </a:xfrm>
          <a:prstGeom prst="rect">
            <a:avLst/>
          </a:prstGeom>
        </p:spPr>
      </p:pic>
      <p:sp>
        <p:nvSpPr>
          <p:cNvPr id="10" name="Google Shape;1578;p16">
            <a:extLst>
              <a:ext uri="{FF2B5EF4-FFF2-40B4-BE49-F238E27FC236}">
                <a16:creationId xmlns:a16="http://schemas.microsoft.com/office/drawing/2014/main" xmlns="" id="{C10301B6-E7B7-16D9-0A59-7DB1BFBFC0BF}"/>
              </a:ext>
            </a:extLst>
          </p:cNvPr>
          <p:cNvSpPr txBox="1"/>
          <p:nvPr/>
        </p:nvSpPr>
        <p:spPr>
          <a:xfrm>
            <a:off x="3562617" y="4071731"/>
            <a:ext cx="2631056" cy="1020300"/>
          </a:xfrm>
          <a:prstGeom prst="rect">
            <a:avLst/>
          </a:prstGeom>
          <a:noFill/>
          <a:ln>
            <a:noFill/>
          </a:ln>
        </p:spPr>
        <p:txBody>
          <a:bodyPr spcFirstLastPara="1" wrap="square" lIns="91425" tIns="91425" rIns="91425" bIns="91425" anchor="ctr" anchorCtr="0">
            <a:noAutofit/>
          </a:bodyPr>
          <a:lstStyle/>
          <a:p>
            <a:pPr marL="0" marR="0" lvl="0" indent="0" rtl="0">
              <a:lnSpc>
                <a:spcPct val="100000"/>
              </a:lnSpc>
              <a:spcBef>
                <a:spcPts val="0"/>
              </a:spcBef>
              <a:spcAft>
                <a:spcPts val="0"/>
              </a:spcAft>
              <a:buClr>
                <a:srgbClr val="000000"/>
              </a:buClr>
              <a:buSzPts val="1400"/>
              <a:buFont typeface="Arial"/>
              <a:buNone/>
            </a:pPr>
            <a:r>
              <a:rPr lang="en-US" sz="1400" b="1" dirty="0">
                <a:solidFill>
                  <a:schemeClr val="dk2"/>
                </a:solidFill>
                <a:latin typeface="Microsoft YaHei" panose="020B0503020204020204" pitchFamily="34" charset="-122"/>
                <a:ea typeface="Microsoft YaHei" panose="020B0503020204020204" pitchFamily="34" charset="-122"/>
                <a:cs typeface="Open Sans"/>
                <a:sym typeface="Open Sans"/>
              </a:rPr>
              <a:t>Edu:  </a:t>
            </a:r>
            <a:r>
              <a:rPr lang="en-US" sz="1400" dirty="0">
                <a:solidFill>
                  <a:schemeClr val="dk2"/>
                </a:solidFill>
                <a:latin typeface="Microsoft YaHei" panose="020B0503020204020204" pitchFamily="34" charset="-122"/>
                <a:ea typeface="Microsoft YaHei" panose="020B0503020204020204" pitchFamily="34" charset="-122"/>
                <a:cs typeface="Open Sans"/>
                <a:sym typeface="Open Sans"/>
              </a:rPr>
              <a:t>Mansoura University </a:t>
            </a:r>
            <a:endParaRPr lang="en-US" altLang="zh-CN" sz="1400" dirty="0">
              <a:solidFill>
                <a:schemeClr val="dk2"/>
              </a:solidFill>
              <a:latin typeface="Microsoft YaHei" panose="020B0503020204020204" pitchFamily="34" charset="-122"/>
              <a:ea typeface="Microsoft YaHei" panose="020B0503020204020204" pitchFamily="34" charset="-122"/>
              <a:cs typeface="Open Sans"/>
              <a:sym typeface="Open Sans"/>
            </a:endParaRPr>
          </a:p>
          <a:p>
            <a:pPr marL="0" marR="0" lvl="0" indent="0" rtl="0">
              <a:lnSpc>
                <a:spcPct val="100000"/>
              </a:lnSpc>
              <a:spcBef>
                <a:spcPts val="0"/>
              </a:spcBef>
              <a:spcAft>
                <a:spcPts val="0"/>
              </a:spcAft>
              <a:buClr>
                <a:srgbClr val="000000"/>
              </a:buClr>
              <a:buSzPts val="1400"/>
              <a:buFont typeface="Arial"/>
              <a:buNone/>
            </a:pPr>
            <a:r>
              <a:rPr lang="en-US" sz="1400" b="1" dirty="0">
                <a:solidFill>
                  <a:schemeClr val="dk2"/>
                </a:solidFill>
                <a:latin typeface="Microsoft YaHei" panose="020B0503020204020204" pitchFamily="34" charset="-122"/>
                <a:ea typeface="Microsoft YaHei" panose="020B0503020204020204" pitchFamily="34" charset="-122"/>
                <a:cs typeface="Open Sans"/>
                <a:sym typeface="Open Sans"/>
              </a:rPr>
              <a:t>Role: </a:t>
            </a:r>
            <a:r>
              <a:rPr lang="en-US" sz="1400" dirty="0">
                <a:solidFill>
                  <a:schemeClr val="dk2"/>
                </a:solidFill>
                <a:latin typeface="Microsoft YaHei" panose="020B0503020204020204" pitchFamily="34" charset="-122"/>
                <a:ea typeface="Microsoft YaHei" panose="020B0503020204020204" pitchFamily="34" charset="-122"/>
                <a:cs typeface="Open Sans"/>
                <a:sym typeface="Open Sans"/>
              </a:rPr>
              <a:t>Development </a:t>
            </a:r>
          </a:p>
          <a:p>
            <a:pPr lvl="0">
              <a:buClr>
                <a:srgbClr val="000000"/>
              </a:buClr>
              <a:buSzPts val="1400"/>
            </a:pPr>
            <a:r>
              <a:rPr lang="en-US" altLang="zh-CN" sz="1400" b="1" dirty="0">
                <a:solidFill>
                  <a:schemeClr val="dk2"/>
                </a:solidFill>
                <a:latin typeface="Microsoft YaHei" panose="020B0503020204020204" pitchFamily="34" charset="-122"/>
                <a:ea typeface="Microsoft YaHei" panose="020B0503020204020204" pitchFamily="34" charset="-122"/>
                <a:cs typeface="Open Sans"/>
                <a:sym typeface="Open Sans"/>
              </a:rPr>
              <a:t>E</a:t>
            </a:r>
            <a:r>
              <a:rPr lang="en-US" sz="1400" b="1" dirty="0">
                <a:solidFill>
                  <a:schemeClr val="dk2"/>
                </a:solidFill>
                <a:latin typeface="Microsoft YaHei" panose="020B0503020204020204" pitchFamily="34" charset="-122"/>
                <a:ea typeface="Microsoft YaHei" panose="020B0503020204020204" pitchFamily="34" charset="-122"/>
                <a:cs typeface="Open Sans"/>
                <a:sym typeface="Open Sans"/>
              </a:rPr>
              <a:t>xperience</a:t>
            </a:r>
            <a:r>
              <a:rPr lang="zh-CN" altLang="en-US" sz="1400" b="1" dirty="0">
                <a:solidFill>
                  <a:schemeClr val="dk2"/>
                </a:solidFill>
                <a:latin typeface="Microsoft YaHei" panose="020B0503020204020204" pitchFamily="34" charset="-122"/>
                <a:ea typeface="Microsoft YaHei" panose="020B0503020204020204" pitchFamily="34" charset="-122"/>
                <a:cs typeface="Open Sans"/>
                <a:sym typeface="Open Sans"/>
              </a:rPr>
              <a:t>：</a:t>
            </a:r>
            <a:r>
              <a:rPr lang="en-US" altLang="zh-CN" sz="1400" dirty="0">
                <a:solidFill>
                  <a:schemeClr val="dk2"/>
                </a:solidFill>
                <a:latin typeface="Microsoft YaHei" panose="020B0503020204020204" pitchFamily="34" charset="-122"/>
                <a:ea typeface="Microsoft YaHei" panose="020B0503020204020204" pitchFamily="34" charset="-122"/>
                <a:cs typeface="Open Sans"/>
                <a:sym typeface="Open Sans"/>
              </a:rPr>
              <a:t>iOS and Backend Developer</a:t>
            </a:r>
            <a:endParaRPr sz="1400" dirty="0">
              <a:solidFill>
                <a:schemeClr val="dk2"/>
              </a:solidFill>
              <a:latin typeface="Microsoft YaHei" panose="020B0503020204020204" pitchFamily="34" charset="-122"/>
              <a:ea typeface="Microsoft YaHei" panose="020B0503020204020204" pitchFamily="34" charset="-122"/>
              <a:cs typeface="Open Sans"/>
              <a:sym typeface="Open Sans"/>
            </a:endParaRPr>
          </a:p>
        </p:txBody>
      </p:sp>
      <p:sp>
        <p:nvSpPr>
          <p:cNvPr id="12" name="Google Shape;1579;p16">
            <a:extLst>
              <a:ext uri="{FF2B5EF4-FFF2-40B4-BE49-F238E27FC236}">
                <a16:creationId xmlns:a16="http://schemas.microsoft.com/office/drawing/2014/main" xmlns="" id="{EDE96A2E-FDC0-5B4D-CD24-1DDDB5322FD0}"/>
              </a:ext>
            </a:extLst>
          </p:cNvPr>
          <p:cNvSpPr txBox="1"/>
          <p:nvPr/>
        </p:nvSpPr>
        <p:spPr>
          <a:xfrm>
            <a:off x="3416936" y="3499331"/>
            <a:ext cx="1926000" cy="1020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chemeClr val="dk2"/>
              </a:solidFill>
              <a:latin typeface="Microsoft YaHei" panose="020B0503020204020204" pitchFamily="34" charset="-122"/>
              <a:ea typeface="Microsoft YaHei" panose="020B0503020204020204" pitchFamily="34" charset="-122"/>
              <a:cs typeface="Open Sans"/>
              <a:sym typeface="Open Sans"/>
            </a:endParaRPr>
          </a:p>
        </p:txBody>
      </p:sp>
      <p:sp>
        <p:nvSpPr>
          <p:cNvPr id="16" name="Google Shape;1583;p16">
            <a:extLst>
              <a:ext uri="{FF2B5EF4-FFF2-40B4-BE49-F238E27FC236}">
                <a16:creationId xmlns:a16="http://schemas.microsoft.com/office/drawing/2014/main" xmlns="" id="{9061D7F3-FF67-D67E-E053-E22CFE34A3F3}"/>
              </a:ext>
            </a:extLst>
          </p:cNvPr>
          <p:cNvSpPr txBox="1"/>
          <p:nvPr/>
        </p:nvSpPr>
        <p:spPr>
          <a:xfrm>
            <a:off x="3915145" y="3456338"/>
            <a:ext cx="1926000" cy="677692"/>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dirty="0" err="1">
                <a:solidFill>
                  <a:schemeClr val="dk2"/>
                </a:solidFill>
                <a:latin typeface="Microsoft YaHei" panose="020B0503020204020204" pitchFamily="34" charset="-122"/>
                <a:ea typeface="Microsoft YaHei" panose="020B0503020204020204" pitchFamily="34" charset="-122"/>
                <a:cs typeface="Overpass Black"/>
                <a:sym typeface="Overpass Black"/>
              </a:rPr>
              <a:t>ElAmir</a:t>
            </a:r>
            <a:r>
              <a:rPr lang="en-US" sz="1600" b="0" i="0" u="none" strike="noStrike" cap="none" dirty="0">
                <a:solidFill>
                  <a:schemeClr val="dk2"/>
                </a:solidFill>
                <a:latin typeface="Microsoft YaHei" panose="020B0503020204020204" pitchFamily="34" charset="-122"/>
                <a:ea typeface="Microsoft YaHei" panose="020B0503020204020204" pitchFamily="34" charset="-122"/>
                <a:cs typeface="Overpass Black"/>
                <a:sym typeface="Overpass Black"/>
              </a:rPr>
              <a:t> Mahmoud Mansour </a:t>
            </a:r>
            <a:endParaRPr sz="1600" b="0" i="0" u="none" strike="noStrike" cap="none" dirty="0">
              <a:solidFill>
                <a:schemeClr val="dk2"/>
              </a:solidFill>
              <a:latin typeface="Microsoft YaHei" panose="020B0503020204020204" pitchFamily="34" charset="-122"/>
              <a:ea typeface="Microsoft YaHei" panose="020B0503020204020204" pitchFamily="34" charset="-122"/>
              <a:cs typeface="Overpass Black"/>
              <a:sym typeface="Overpass Black"/>
            </a:endParaRPr>
          </a:p>
        </p:txBody>
      </p:sp>
      <p:sp>
        <p:nvSpPr>
          <p:cNvPr id="17" name="Google Shape;1584;p16">
            <a:extLst>
              <a:ext uri="{FF2B5EF4-FFF2-40B4-BE49-F238E27FC236}">
                <a16:creationId xmlns:a16="http://schemas.microsoft.com/office/drawing/2014/main" xmlns="" id="{2C94B63E-F021-2D3D-8354-D3CC930F7D13}"/>
              </a:ext>
            </a:extLst>
          </p:cNvPr>
          <p:cNvSpPr txBox="1"/>
          <p:nvPr/>
        </p:nvSpPr>
        <p:spPr>
          <a:xfrm>
            <a:off x="9513254" y="3441481"/>
            <a:ext cx="1926000" cy="3372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dirty="0">
                <a:solidFill>
                  <a:schemeClr val="dk2"/>
                </a:solidFill>
                <a:latin typeface="Microsoft YaHei" panose="020B0503020204020204" pitchFamily="34" charset="-122"/>
                <a:ea typeface="Microsoft YaHei" panose="020B0503020204020204" pitchFamily="34" charset="-122"/>
                <a:cs typeface="Overpass Black"/>
                <a:sym typeface="Overpass Black"/>
              </a:rPr>
              <a:t>Roaa Osama Elsheikh </a:t>
            </a:r>
            <a:endParaRPr sz="1400" b="0" i="0" u="none" strike="noStrike" cap="none" dirty="0">
              <a:solidFill>
                <a:srgbClr val="000000"/>
              </a:solidFill>
              <a:latin typeface="Microsoft YaHei" panose="020B0503020204020204" pitchFamily="34" charset="-122"/>
              <a:ea typeface="Microsoft YaHei" panose="020B0503020204020204" pitchFamily="34" charset="-122"/>
              <a:cs typeface="Arial"/>
              <a:sym typeface="Arial"/>
            </a:endParaRPr>
          </a:p>
        </p:txBody>
      </p:sp>
      <p:sp>
        <p:nvSpPr>
          <p:cNvPr id="18" name="Google Shape;1585;p16">
            <a:extLst>
              <a:ext uri="{FF2B5EF4-FFF2-40B4-BE49-F238E27FC236}">
                <a16:creationId xmlns:a16="http://schemas.microsoft.com/office/drawing/2014/main" xmlns="" id="{1CDED9E2-75D3-F73F-3F97-79AE470DEA9E}"/>
              </a:ext>
            </a:extLst>
          </p:cNvPr>
          <p:cNvSpPr txBox="1"/>
          <p:nvPr/>
        </p:nvSpPr>
        <p:spPr>
          <a:xfrm>
            <a:off x="6714199" y="3429000"/>
            <a:ext cx="1926000" cy="3372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dirty="0">
                <a:solidFill>
                  <a:schemeClr val="dk2"/>
                </a:solidFill>
                <a:latin typeface="Microsoft YaHei" panose="020B0503020204020204" pitchFamily="34" charset="-122"/>
                <a:ea typeface="Microsoft YaHei" panose="020B0503020204020204" pitchFamily="34" charset="-122"/>
                <a:cs typeface="Overpass Black"/>
                <a:sym typeface="Overpass Black"/>
              </a:rPr>
              <a:t>Nourhan Alaa Mohamed </a:t>
            </a:r>
            <a:endParaRPr sz="1600" b="0" i="0" u="none" strike="noStrike" cap="none" dirty="0">
              <a:solidFill>
                <a:schemeClr val="dk2"/>
              </a:solidFill>
              <a:latin typeface="Microsoft YaHei" panose="020B0503020204020204" pitchFamily="34" charset="-122"/>
              <a:ea typeface="Microsoft YaHei" panose="020B0503020204020204" pitchFamily="34" charset="-122"/>
              <a:cs typeface="Overpass Black"/>
              <a:sym typeface="Overpass Black"/>
            </a:endParaRPr>
          </a:p>
        </p:txBody>
      </p:sp>
      <p:sp>
        <p:nvSpPr>
          <p:cNvPr id="23" name="Google Shape;1591;p16">
            <a:extLst>
              <a:ext uri="{FF2B5EF4-FFF2-40B4-BE49-F238E27FC236}">
                <a16:creationId xmlns:a16="http://schemas.microsoft.com/office/drawing/2014/main" xmlns="" id="{2C5298D6-C5F3-6E3B-66E8-9E8E95E1BBF4}"/>
              </a:ext>
            </a:extLst>
          </p:cNvPr>
          <p:cNvSpPr txBox="1"/>
          <p:nvPr/>
        </p:nvSpPr>
        <p:spPr>
          <a:xfrm>
            <a:off x="752746" y="3441481"/>
            <a:ext cx="1926000" cy="3372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dirty="0">
                <a:solidFill>
                  <a:schemeClr val="dk2"/>
                </a:solidFill>
                <a:latin typeface="Microsoft YaHei" panose="020B0503020204020204" pitchFamily="34" charset="-122"/>
                <a:ea typeface="Microsoft YaHei" panose="020B0503020204020204" pitchFamily="34" charset="-122"/>
                <a:cs typeface="Overpass Black"/>
                <a:sym typeface="Overpass Black"/>
              </a:rPr>
              <a:t>Maryam Osman Hussien </a:t>
            </a:r>
            <a:endParaRPr sz="1600" b="0" i="0" u="none" strike="noStrike" cap="none" dirty="0">
              <a:solidFill>
                <a:schemeClr val="dk2"/>
              </a:solidFill>
              <a:latin typeface="Microsoft YaHei" panose="020B0503020204020204" pitchFamily="34" charset="-122"/>
              <a:ea typeface="Microsoft YaHei" panose="020B0503020204020204" pitchFamily="34" charset="-122"/>
              <a:cs typeface="Overpass Black"/>
              <a:sym typeface="Overpass Black"/>
            </a:endParaRPr>
          </a:p>
        </p:txBody>
      </p:sp>
      <p:sp>
        <p:nvSpPr>
          <p:cNvPr id="5" name="Google Shape;1578;p16">
            <a:extLst>
              <a:ext uri="{FF2B5EF4-FFF2-40B4-BE49-F238E27FC236}">
                <a16:creationId xmlns:a16="http://schemas.microsoft.com/office/drawing/2014/main" xmlns="" id="{429F1E92-9085-3174-E96D-F12F1867747D}"/>
              </a:ext>
            </a:extLst>
          </p:cNvPr>
          <p:cNvSpPr txBox="1"/>
          <p:nvPr/>
        </p:nvSpPr>
        <p:spPr>
          <a:xfrm>
            <a:off x="9367573" y="4134030"/>
            <a:ext cx="2631056" cy="1020300"/>
          </a:xfrm>
          <a:prstGeom prst="rect">
            <a:avLst/>
          </a:prstGeom>
          <a:noFill/>
          <a:ln>
            <a:noFill/>
          </a:ln>
        </p:spPr>
        <p:txBody>
          <a:bodyPr spcFirstLastPara="1" wrap="square" lIns="91425" tIns="91425" rIns="91425" bIns="91425" anchor="ctr" anchorCtr="0">
            <a:noAutofit/>
          </a:bodyPr>
          <a:lstStyle/>
          <a:p>
            <a:pPr lvl="0">
              <a:buClr>
                <a:srgbClr val="000000"/>
              </a:buClr>
              <a:buSzPts val="1400"/>
            </a:pPr>
            <a:r>
              <a:rPr lang="en-US" sz="1400" b="1" dirty="0">
                <a:solidFill>
                  <a:schemeClr val="dk2"/>
                </a:solidFill>
                <a:latin typeface="Microsoft YaHei" panose="020B0503020204020204" pitchFamily="34" charset="-122"/>
                <a:ea typeface="Microsoft YaHei" panose="020B0503020204020204" pitchFamily="34" charset="-122"/>
                <a:cs typeface="Open Sans"/>
                <a:sym typeface="Open Sans"/>
              </a:rPr>
              <a:t>Edu: </a:t>
            </a:r>
            <a:r>
              <a:rPr lang="en-US" sz="1400" dirty="0">
                <a:solidFill>
                  <a:schemeClr val="dk2"/>
                </a:solidFill>
                <a:latin typeface="Microsoft YaHei" panose="020B0503020204020204" pitchFamily="34" charset="-122"/>
                <a:ea typeface="Microsoft YaHei" panose="020B0503020204020204" pitchFamily="34" charset="-122"/>
                <a:cs typeface="Open Sans"/>
                <a:sym typeface="Open Sans"/>
              </a:rPr>
              <a:t>Mansoura University </a:t>
            </a:r>
            <a:endParaRPr lang="en-US" altLang="zh-CN" sz="1400" dirty="0">
              <a:solidFill>
                <a:schemeClr val="dk2"/>
              </a:solidFill>
              <a:latin typeface="Microsoft YaHei" panose="020B0503020204020204" pitchFamily="34" charset="-122"/>
              <a:ea typeface="Microsoft YaHei" panose="020B0503020204020204" pitchFamily="34" charset="-122"/>
              <a:cs typeface="Open Sans"/>
              <a:sym typeface="Open Sans"/>
            </a:endParaRPr>
          </a:p>
          <a:p>
            <a:pPr marL="0" marR="0" lvl="0" indent="0" rtl="0">
              <a:lnSpc>
                <a:spcPct val="100000"/>
              </a:lnSpc>
              <a:spcBef>
                <a:spcPts val="0"/>
              </a:spcBef>
              <a:spcAft>
                <a:spcPts val="0"/>
              </a:spcAft>
              <a:buClr>
                <a:srgbClr val="000000"/>
              </a:buClr>
              <a:buSzPts val="1400"/>
              <a:buFont typeface="Arial"/>
              <a:buNone/>
            </a:pPr>
            <a:r>
              <a:rPr lang="en-US" sz="1400" b="1" dirty="0">
                <a:solidFill>
                  <a:schemeClr val="dk2"/>
                </a:solidFill>
                <a:latin typeface="Microsoft YaHei" panose="020B0503020204020204" pitchFamily="34" charset="-122"/>
                <a:ea typeface="Microsoft YaHei" panose="020B0503020204020204" pitchFamily="34" charset="-122"/>
                <a:cs typeface="Open Sans"/>
                <a:sym typeface="Open Sans"/>
              </a:rPr>
              <a:t>Role: </a:t>
            </a:r>
            <a:r>
              <a:rPr lang="en-US" sz="1400" dirty="0">
                <a:solidFill>
                  <a:schemeClr val="dk2"/>
                </a:solidFill>
                <a:latin typeface="Microsoft YaHei" panose="020B0503020204020204" pitchFamily="34" charset="-122"/>
                <a:ea typeface="Microsoft YaHei" panose="020B0503020204020204" pitchFamily="34" charset="-122"/>
                <a:cs typeface="Open Sans"/>
                <a:sym typeface="Open Sans"/>
              </a:rPr>
              <a:t>AI </a:t>
            </a:r>
          </a:p>
          <a:p>
            <a:pPr lvl="0">
              <a:buClr>
                <a:srgbClr val="000000"/>
              </a:buClr>
              <a:buSzPts val="1400"/>
            </a:pPr>
            <a:r>
              <a:rPr lang="en-US" altLang="zh-CN" sz="1400" b="1" dirty="0">
                <a:solidFill>
                  <a:schemeClr val="dk2"/>
                </a:solidFill>
                <a:latin typeface="Microsoft YaHei" panose="020B0503020204020204" pitchFamily="34" charset="-122"/>
                <a:ea typeface="Microsoft YaHei" panose="020B0503020204020204" pitchFamily="34" charset="-122"/>
                <a:cs typeface="Open Sans"/>
                <a:sym typeface="Open Sans"/>
              </a:rPr>
              <a:t>E</a:t>
            </a:r>
            <a:r>
              <a:rPr lang="en-US" sz="1400" b="1" dirty="0">
                <a:solidFill>
                  <a:schemeClr val="dk2"/>
                </a:solidFill>
                <a:latin typeface="Microsoft YaHei" panose="020B0503020204020204" pitchFamily="34" charset="-122"/>
                <a:ea typeface="Microsoft YaHei" panose="020B0503020204020204" pitchFamily="34" charset="-122"/>
                <a:cs typeface="Open Sans"/>
                <a:sym typeface="Open Sans"/>
              </a:rPr>
              <a:t>xperience</a:t>
            </a:r>
            <a:r>
              <a:rPr lang="zh-CN" altLang="en-US" sz="1400" b="1" dirty="0">
                <a:solidFill>
                  <a:schemeClr val="dk2"/>
                </a:solidFill>
                <a:latin typeface="Microsoft YaHei" panose="020B0503020204020204" pitchFamily="34" charset="-122"/>
                <a:ea typeface="Microsoft YaHei" panose="020B0503020204020204" pitchFamily="34" charset="-122"/>
                <a:cs typeface="Open Sans"/>
                <a:sym typeface="Open Sans"/>
              </a:rPr>
              <a:t>：</a:t>
            </a:r>
            <a:r>
              <a:rPr lang="en-US" sz="1400" dirty="0">
                <a:solidFill>
                  <a:schemeClr val="dk2"/>
                </a:solidFill>
                <a:latin typeface="Microsoft YaHei" panose="020B0503020204020204" pitchFamily="34" charset="-122"/>
                <a:ea typeface="Microsoft YaHei" panose="020B0503020204020204" pitchFamily="34" charset="-122"/>
                <a:cs typeface="Open Sans"/>
              </a:rPr>
              <a:t>AI model development</a:t>
            </a:r>
            <a:endParaRPr sz="1400" dirty="0">
              <a:solidFill>
                <a:schemeClr val="dk2"/>
              </a:solidFill>
              <a:latin typeface="Microsoft YaHei" panose="020B0503020204020204" pitchFamily="34" charset="-122"/>
              <a:ea typeface="Microsoft YaHei" panose="020B0503020204020204" pitchFamily="34" charset="-122"/>
              <a:cs typeface="Open Sans"/>
              <a:sym typeface="Open Sans"/>
            </a:endParaRPr>
          </a:p>
        </p:txBody>
      </p:sp>
      <p:sp>
        <p:nvSpPr>
          <p:cNvPr id="6" name="Google Shape;1578;p16">
            <a:extLst>
              <a:ext uri="{FF2B5EF4-FFF2-40B4-BE49-F238E27FC236}">
                <a16:creationId xmlns:a16="http://schemas.microsoft.com/office/drawing/2014/main" xmlns="" id="{58839E17-0B85-C5B8-8E2F-83E592A0E2AE}"/>
              </a:ext>
            </a:extLst>
          </p:cNvPr>
          <p:cNvSpPr txBox="1"/>
          <p:nvPr/>
        </p:nvSpPr>
        <p:spPr>
          <a:xfrm>
            <a:off x="6465095" y="4179064"/>
            <a:ext cx="2631056" cy="1020300"/>
          </a:xfrm>
          <a:prstGeom prst="rect">
            <a:avLst/>
          </a:prstGeom>
          <a:noFill/>
          <a:ln>
            <a:noFill/>
          </a:ln>
        </p:spPr>
        <p:txBody>
          <a:bodyPr spcFirstLastPara="1" wrap="square" lIns="91425" tIns="91425" rIns="91425" bIns="91425" anchor="ctr" anchorCtr="0">
            <a:noAutofit/>
          </a:bodyPr>
          <a:lstStyle/>
          <a:p>
            <a:pPr marL="0" marR="0" lvl="0" indent="0" rtl="0">
              <a:lnSpc>
                <a:spcPct val="100000"/>
              </a:lnSpc>
              <a:spcBef>
                <a:spcPts val="0"/>
              </a:spcBef>
              <a:spcAft>
                <a:spcPts val="0"/>
              </a:spcAft>
              <a:buClr>
                <a:srgbClr val="000000"/>
              </a:buClr>
              <a:buSzPts val="1400"/>
              <a:buFont typeface="Arial"/>
              <a:buNone/>
            </a:pPr>
            <a:r>
              <a:rPr lang="en-US" sz="1400" b="1" dirty="0">
                <a:solidFill>
                  <a:schemeClr val="dk2"/>
                </a:solidFill>
                <a:latin typeface="Microsoft YaHei" panose="020B0503020204020204" pitchFamily="34" charset="-122"/>
                <a:ea typeface="Microsoft YaHei" panose="020B0503020204020204" pitchFamily="34" charset="-122"/>
                <a:cs typeface="Open Sans"/>
                <a:sym typeface="Open Sans"/>
              </a:rPr>
              <a:t>Edu: </a:t>
            </a:r>
            <a:r>
              <a:rPr lang="en-US" sz="1400" dirty="0">
                <a:solidFill>
                  <a:schemeClr val="dk2"/>
                </a:solidFill>
                <a:latin typeface="Microsoft YaHei" panose="020B0503020204020204" pitchFamily="34" charset="-122"/>
                <a:ea typeface="Microsoft YaHei" panose="020B0503020204020204" pitchFamily="34" charset="-122"/>
                <a:cs typeface="Open Sans"/>
                <a:sym typeface="Open Sans"/>
              </a:rPr>
              <a:t>Cairo</a:t>
            </a:r>
            <a:r>
              <a:rPr lang="en-US" sz="1400" b="1" dirty="0">
                <a:solidFill>
                  <a:schemeClr val="dk2"/>
                </a:solidFill>
                <a:latin typeface="Microsoft YaHei" panose="020B0503020204020204" pitchFamily="34" charset="-122"/>
                <a:ea typeface="Microsoft YaHei" panose="020B0503020204020204" pitchFamily="34" charset="-122"/>
                <a:cs typeface="Open Sans"/>
                <a:sym typeface="Open Sans"/>
              </a:rPr>
              <a:t> </a:t>
            </a:r>
            <a:r>
              <a:rPr lang="en-US" altLang="zh-CN" sz="1400" dirty="0">
                <a:solidFill>
                  <a:schemeClr val="dk2"/>
                </a:solidFill>
                <a:latin typeface="Microsoft YaHei" panose="020B0503020204020204" pitchFamily="34" charset="-122"/>
                <a:ea typeface="Microsoft YaHei" panose="020B0503020204020204" pitchFamily="34" charset="-122"/>
                <a:cs typeface="Open Sans"/>
                <a:sym typeface="Open Sans"/>
              </a:rPr>
              <a:t>University</a:t>
            </a:r>
          </a:p>
          <a:p>
            <a:pPr marL="0" marR="0" lvl="0" indent="0" rtl="0">
              <a:lnSpc>
                <a:spcPct val="100000"/>
              </a:lnSpc>
              <a:spcBef>
                <a:spcPts val="0"/>
              </a:spcBef>
              <a:spcAft>
                <a:spcPts val="0"/>
              </a:spcAft>
              <a:buClr>
                <a:srgbClr val="000000"/>
              </a:buClr>
              <a:buSzPts val="1400"/>
              <a:buFont typeface="Arial"/>
              <a:buNone/>
            </a:pPr>
            <a:r>
              <a:rPr lang="en-US" sz="1400" b="1" dirty="0">
                <a:solidFill>
                  <a:schemeClr val="dk2"/>
                </a:solidFill>
                <a:latin typeface="Microsoft YaHei" panose="020B0503020204020204" pitchFamily="34" charset="-122"/>
                <a:ea typeface="Microsoft YaHei" panose="020B0503020204020204" pitchFamily="34" charset="-122"/>
                <a:cs typeface="Open Sans"/>
                <a:sym typeface="Open Sans"/>
              </a:rPr>
              <a:t>Role: </a:t>
            </a:r>
            <a:r>
              <a:rPr lang="en-US" sz="1400" dirty="0">
                <a:solidFill>
                  <a:schemeClr val="dk2"/>
                </a:solidFill>
                <a:latin typeface="Microsoft YaHei" panose="020B0503020204020204" pitchFamily="34" charset="-122"/>
                <a:ea typeface="Microsoft YaHei" panose="020B0503020204020204" pitchFamily="34" charset="-122"/>
                <a:cs typeface="Open Sans"/>
                <a:sym typeface="Open Sans"/>
              </a:rPr>
              <a:t>AI </a:t>
            </a:r>
          </a:p>
          <a:p>
            <a:pPr lvl="0">
              <a:buClr>
                <a:srgbClr val="000000"/>
              </a:buClr>
              <a:buSzPts val="1400"/>
            </a:pPr>
            <a:r>
              <a:rPr lang="en-US" altLang="zh-CN" sz="1400" b="1" dirty="0">
                <a:solidFill>
                  <a:schemeClr val="dk2"/>
                </a:solidFill>
                <a:latin typeface="Microsoft YaHei" panose="020B0503020204020204" pitchFamily="34" charset="-122"/>
                <a:ea typeface="Microsoft YaHei" panose="020B0503020204020204" pitchFamily="34" charset="-122"/>
                <a:cs typeface="Open Sans"/>
                <a:sym typeface="Open Sans"/>
              </a:rPr>
              <a:t>E</a:t>
            </a:r>
            <a:r>
              <a:rPr lang="en-US" sz="1400" b="1" dirty="0">
                <a:solidFill>
                  <a:schemeClr val="dk2"/>
                </a:solidFill>
                <a:latin typeface="Microsoft YaHei" panose="020B0503020204020204" pitchFamily="34" charset="-122"/>
                <a:ea typeface="Microsoft YaHei" panose="020B0503020204020204" pitchFamily="34" charset="-122"/>
                <a:cs typeface="Open Sans"/>
                <a:sym typeface="Open Sans"/>
              </a:rPr>
              <a:t>xperience</a:t>
            </a:r>
            <a:r>
              <a:rPr lang="zh-CN" altLang="en-US" sz="1400" b="1" dirty="0">
                <a:solidFill>
                  <a:schemeClr val="dk2"/>
                </a:solidFill>
                <a:latin typeface="Microsoft YaHei" panose="020B0503020204020204" pitchFamily="34" charset="-122"/>
                <a:ea typeface="Microsoft YaHei" panose="020B0503020204020204" pitchFamily="34" charset="-122"/>
                <a:cs typeface="Open Sans"/>
                <a:sym typeface="Open Sans"/>
              </a:rPr>
              <a:t>：</a:t>
            </a:r>
            <a:r>
              <a:rPr lang="en-US" sz="1400" dirty="0" smtClean="0">
                <a:solidFill>
                  <a:schemeClr val="dk2"/>
                </a:solidFill>
                <a:latin typeface="Microsoft YaHei" panose="020B0503020204020204" pitchFamily="34" charset="-122"/>
                <a:ea typeface="Microsoft YaHei" panose="020B0503020204020204" pitchFamily="34" charset="-122"/>
                <a:cs typeface="Open Sans"/>
              </a:rPr>
              <a:t>AI </a:t>
            </a:r>
            <a:r>
              <a:rPr lang="en-US" sz="1400" dirty="0" err="1" smtClean="0">
                <a:solidFill>
                  <a:schemeClr val="dk2"/>
                </a:solidFill>
                <a:latin typeface="Microsoft YaHei" panose="020B0503020204020204" pitchFamily="34" charset="-122"/>
                <a:ea typeface="Microsoft YaHei" panose="020B0503020204020204" pitchFamily="34" charset="-122"/>
                <a:cs typeface="Open Sans"/>
              </a:rPr>
              <a:t>model,cloud</a:t>
            </a:r>
            <a:r>
              <a:rPr lang="en-US" sz="1400" dirty="0" smtClean="0">
                <a:solidFill>
                  <a:schemeClr val="dk2"/>
                </a:solidFill>
                <a:latin typeface="Microsoft YaHei" panose="020B0503020204020204" pitchFamily="34" charset="-122"/>
                <a:ea typeface="Microsoft YaHei" panose="020B0503020204020204" pitchFamily="34" charset="-122"/>
                <a:cs typeface="Open Sans"/>
              </a:rPr>
              <a:t> </a:t>
            </a:r>
            <a:r>
              <a:rPr lang="en-US" sz="1400" dirty="0">
                <a:solidFill>
                  <a:schemeClr val="dk2"/>
                </a:solidFill>
                <a:latin typeface="Microsoft YaHei" panose="020B0503020204020204" pitchFamily="34" charset="-122"/>
                <a:ea typeface="Microsoft YaHei" panose="020B0503020204020204" pitchFamily="34" charset="-122"/>
                <a:cs typeface="Open Sans"/>
              </a:rPr>
              <a:t>development</a:t>
            </a:r>
            <a:endParaRPr sz="1400" dirty="0">
              <a:solidFill>
                <a:schemeClr val="dk2"/>
              </a:solidFill>
              <a:latin typeface="Microsoft YaHei" panose="020B0503020204020204" pitchFamily="34" charset="-122"/>
              <a:ea typeface="Microsoft YaHei" panose="020B0503020204020204" pitchFamily="34" charset="-122"/>
              <a:cs typeface="Open Sans"/>
              <a:sym typeface="Open Sans"/>
            </a:endParaRPr>
          </a:p>
        </p:txBody>
      </p:sp>
      <p:sp>
        <p:nvSpPr>
          <p:cNvPr id="7" name="Google Shape;1578;p16">
            <a:extLst>
              <a:ext uri="{FF2B5EF4-FFF2-40B4-BE49-F238E27FC236}">
                <a16:creationId xmlns:a16="http://schemas.microsoft.com/office/drawing/2014/main" xmlns="" id="{12D4E600-F1BE-8C9A-146E-EA6FDE6E69BF}"/>
              </a:ext>
            </a:extLst>
          </p:cNvPr>
          <p:cNvSpPr txBox="1"/>
          <p:nvPr/>
        </p:nvSpPr>
        <p:spPr>
          <a:xfrm>
            <a:off x="720522" y="4039685"/>
            <a:ext cx="2631056" cy="1020300"/>
          </a:xfrm>
          <a:prstGeom prst="rect">
            <a:avLst/>
          </a:prstGeom>
          <a:noFill/>
          <a:ln>
            <a:noFill/>
          </a:ln>
        </p:spPr>
        <p:txBody>
          <a:bodyPr spcFirstLastPara="1" wrap="square" lIns="91425" tIns="91425" rIns="91425" bIns="91425" anchor="ctr" anchorCtr="0">
            <a:noAutofit/>
          </a:bodyPr>
          <a:lstStyle/>
          <a:p>
            <a:pPr marL="0" marR="0" lvl="0" indent="0" rtl="0">
              <a:lnSpc>
                <a:spcPct val="100000"/>
              </a:lnSpc>
              <a:spcBef>
                <a:spcPts val="0"/>
              </a:spcBef>
              <a:spcAft>
                <a:spcPts val="0"/>
              </a:spcAft>
              <a:buClr>
                <a:srgbClr val="000000"/>
              </a:buClr>
              <a:buSzPts val="1400"/>
              <a:buFont typeface="Arial"/>
              <a:buNone/>
            </a:pPr>
            <a:r>
              <a:rPr lang="en-US" sz="1400" b="1" dirty="0">
                <a:solidFill>
                  <a:schemeClr val="dk2"/>
                </a:solidFill>
                <a:latin typeface="Microsoft YaHei" panose="020B0503020204020204" pitchFamily="34" charset="-122"/>
                <a:ea typeface="Microsoft YaHei" panose="020B0503020204020204" pitchFamily="34" charset="-122"/>
                <a:cs typeface="Open Sans"/>
                <a:sym typeface="Open Sans"/>
              </a:rPr>
              <a:t>Edu:  </a:t>
            </a:r>
            <a:r>
              <a:rPr lang="en-US" sz="1400" dirty="0">
                <a:solidFill>
                  <a:schemeClr val="dk2"/>
                </a:solidFill>
                <a:latin typeface="Microsoft YaHei" panose="020B0503020204020204" pitchFamily="34" charset="-122"/>
                <a:ea typeface="Microsoft YaHei" panose="020B0503020204020204" pitchFamily="34" charset="-122"/>
                <a:cs typeface="Open Sans"/>
                <a:sym typeface="Open Sans"/>
              </a:rPr>
              <a:t>Zagazig</a:t>
            </a:r>
            <a:r>
              <a:rPr lang="en-US" altLang="zh-CN" sz="1400" dirty="0">
                <a:solidFill>
                  <a:schemeClr val="dk2"/>
                </a:solidFill>
                <a:latin typeface="Microsoft YaHei" panose="020B0503020204020204" pitchFamily="34" charset="-122"/>
                <a:ea typeface="Microsoft YaHei" panose="020B0503020204020204" pitchFamily="34" charset="-122"/>
                <a:cs typeface="Open Sans"/>
                <a:sym typeface="Open Sans"/>
              </a:rPr>
              <a:t> University</a:t>
            </a:r>
          </a:p>
          <a:p>
            <a:pPr lvl="0">
              <a:buClr>
                <a:srgbClr val="000000"/>
              </a:buClr>
              <a:buSzPts val="1400"/>
            </a:pPr>
            <a:r>
              <a:rPr lang="en-US" sz="1400" b="1" dirty="0">
                <a:solidFill>
                  <a:schemeClr val="dk2"/>
                </a:solidFill>
                <a:latin typeface="Microsoft YaHei" panose="020B0503020204020204" pitchFamily="34" charset="-122"/>
                <a:ea typeface="Microsoft YaHei" panose="020B0503020204020204" pitchFamily="34" charset="-122"/>
                <a:cs typeface="Open Sans"/>
                <a:sym typeface="Open Sans"/>
              </a:rPr>
              <a:t>Role: </a:t>
            </a:r>
            <a:r>
              <a:rPr lang="en-US" sz="1400" dirty="0">
                <a:solidFill>
                  <a:schemeClr val="dk2"/>
                </a:solidFill>
                <a:latin typeface="Microsoft YaHei" panose="020B0503020204020204" pitchFamily="34" charset="-122"/>
                <a:ea typeface="Microsoft YaHei" panose="020B0503020204020204" pitchFamily="34" charset="-122"/>
                <a:cs typeface="Open Sans"/>
                <a:sym typeface="Open Sans"/>
              </a:rPr>
              <a:t>Team leader , cloud </a:t>
            </a:r>
          </a:p>
          <a:p>
            <a:pPr lvl="0">
              <a:buClr>
                <a:srgbClr val="000000"/>
              </a:buClr>
              <a:buSzPts val="1400"/>
            </a:pPr>
            <a:r>
              <a:rPr lang="en-US" altLang="zh-CN" sz="1400" b="1" dirty="0">
                <a:solidFill>
                  <a:schemeClr val="dk2"/>
                </a:solidFill>
                <a:latin typeface="Microsoft YaHei" panose="020B0503020204020204" pitchFamily="34" charset="-122"/>
                <a:ea typeface="Microsoft YaHei" panose="020B0503020204020204" pitchFamily="34" charset="-122"/>
                <a:cs typeface="Open Sans"/>
                <a:sym typeface="Open Sans"/>
              </a:rPr>
              <a:t>E</a:t>
            </a:r>
            <a:r>
              <a:rPr lang="en-US" sz="1400" b="1" dirty="0">
                <a:solidFill>
                  <a:schemeClr val="dk2"/>
                </a:solidFill>
                <a:latin typeface="Microsoft YaHei" panose="020B0503020204020204" pitchFamily="34" charset="-122"/>
                <a:ea typeface="Microsoft YaHei" panose="020B0503020204020204" pitchFamily="34" charset="-122"/>
                <a:cs typeface="Open Sans"/>
                <a:sym typeface="Open Sans"/>
              </a:rPr>
              <a:t>xperience</a:t>
            </a:r>
            <a:r>
              <a:rPr lang="zh-CN" altLang="en-US" sz="1400" b="1" dirty="0">
                <a:solidFill>
                  <a:schemeClr val="dk2"/>
                </a:solidFill>
                <a:latin typeface="Microsoft YaHei" panose="020B0503020204020204" pitchFamily="34" charset="-122"/>
                <a:ea typeface="Microsoft YaHei" panose="020B0503020204020204" pitchFamily="34" charset="-122"/>
                <a:cs typeface="Open Sans"/>
                <a:sym typeface="Open Sans"/>
              </a:rPr>
              <a:t>：</a:t>
            </a:r>
            <a:r>
              <a:rPr lang="en-US" altLang="zh-CN" sz="1400" dirty="0">
                <a:solidFill>
                  <a:schemeClr val="dk2"/>
                </a:solidFill>
                <a:latin typeface="Microsoft YaHei" panose="020B0503020204020204" pitchFamily="34" charset="-122"/>
                <a:ea typeface="Microsoft YaHei" panose="020B0503020204020204" pitchFamily="34" charset="-122"/>
                <a:cs typeface="Open Sans"/>
                <a:sym typeface="Open Sans"/>
              </a:rPr>
              <a:t>DevOps, cloud</a:t>
            </a:r>
            <a:endParaRPr sz="1400" dirty="0">
              <a:solidFill>
                <a:schemeClr val="dk2"/>
              </a:solidFill>
              <a:latin typeface="Microsoft YaHei" panose="020B0503020204020204" pitchFamily="34" charset="-122"/>
              <a:ea typeface="Microsoft YaHei" panose="020B0503020204020204" pitchFamily="34" charset="-122"/>
              <a:cs typeface="Open Sans"/>
              <a:sym typeface="Open Sans"/>
            </a:endParaRPr>
          </a:p>
        </p:txBody>
      </p:sp>
      <p:pic>
        <p:nvPicPr>
          <p:cNvPr id="13" name="Picture 12" descr="A person in a suit and tie&#10;&#10;AI-generated content may be incorrect.">
            <a:extLst>
              <a:ext uri="{FF2B5EF4-FFF2-40B4-BE49-F238E27FC236}">
                <a16:creationId xmlns:a16="http://schemas.microsoft.com/office/drawing/2014/main" xmlns="" id="{A698C4BD-7130-6393-1738-4032F469CD5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019491" y="1340347"/>
            <a:ext cx="1552602" cy="1971302"/>
          </a:xfrm>
          <a:prstGeom prst="rect">
            <a:avLst/>
          </a:prstGeom>
        </p:spPr>
      </p:pic>
      <p:pic>
        <p:nvPicPr>
          <p:cNvPr id="15" name="Picture 14" descr="A person wearing a black head scarf&#10;&#10;AI-generated content may be incorrect.">
            <a:extLst>
              <a:ext uri="{FF2B5EF4-FFF2-40B4-BE49-F238E27FC236}">
                <a16:creationId xmlns:a16="http://schemas.microsoft.com/office/drawing/2014/main" xmlns="" id="{F40FC899-B599-D991-BE48-C764454762B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705241" y="1295207"/>
            <a:ext cx="1542025" cy="1983673"/>
          </a:xfrm>
          <a:prstGeom prst="rect">
            <a:avLst/>
          </a:prstGeom>
        </p:spPr>
      </p:pic>
      <p:pic>
        <p:nvPicPr>
          <p:cNvPr id="19" name="Picture 18" descr="A person wearing a white scarf and a lanyard&#10;&#10;AI-generated content may be incorrect.">
            <a:extLst>
              <a:ext uri="{FF2B5EF4-FFF2-40B4-BE49-F238E27FC236}">
                <a16:creationId xmlns:a16="http://schemas.microsoft.com/office/drawing/2014/main" xmlns="" id="{5189588F-BC95-30E2-7FED-1362568240F2}"/>
              </a:ext>
            </a:extLst>
          </p:cNvPr>
          <p:cNvPicPr>
            <a:picLocks noChangeAspect="1"/>
          </p:cNvPicPr>
          <p:nvPr/>
        </p:nvPicPr>
        <p:blipFill>
          <a:blip r:embed="rId5" cstate="print">
            <a:extLst>
              <a:ext uri="{28A0092B-C50C-407E-A947-70E740481C1C}">
                <a14:useLocalDpi xmlns:a14="http://schemas.microsoft.com/office/drawing/2010/main" val="0"/>
              </a:ext>
            </a:extLst>
          </a:blip>
          <a:srcRect t="22201" r="31337" b="9037"/>
          <a:stretch>
            <a:fillRect/>
          </a:stretch>
        </p:blipFill>
        <p:spPr>
          <a:xfrm>
            <a:off x="944734" y="1273734"/>
            <a:ext cx="1552602" cy="2005146"/>
          </a:xfrm>
          <a:prstGeom prst="rect">
            <a:avLst/>
          </a:prstGeom>
        </p:spPr>
      </p:pic>
      <p:pic>
        <p:nvPicPr>
          <p:cNvPr id="4" name="Picture 3" descr="A person wearing a head scarf&#10;&#10;AI-generated content may be incorrect.">
            <a:extLst>
              <a:ext uri="{FF2B5EF4-FFF2-40B4-BE49-F238E27FC236}">
                <a16:creationId xmlns:a16="http://schemas.microsoft.com/office/drawing/2014/main" xmlns="" id="{49175ECD-853E-39FD-D2E2-7E3FAF2753F3}"/>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851564" y="1273734"/>
            <a:ext cx="1574206" cy="2098941"/>
          </a:xfrm>
          <a:prstGeom prst="rect">
            <a:avLst/>
          </a:prstGeom>
        </p:spPr>
      </p:pic>
    </p:spTree>
    <p:extLst>
      <p:ext uri="{BB962C8B-B14F-4D97-AF65-F5344CB8AC3E}">
        <p14:creationId xmlns:p14="http://schemas.microsoft.com/office/powerpoint/2010/main" val="26656135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ubtitle 1">
            <a:extLst>
              <a:ext uri="{FF2B5EF4-FFF2-40B4-BE49-F238E27FC236}">
                <a16:creationId xmlns:a16="http://schemas.microsoft.com/office/drawing/2014/main" xmlns="" id="{C6ADB1D9-336D-594D-9418-4BC486843D21}"/>
              </a:ext>
            </a:extLst>
          </p:cNvPr>
          <p:cNvSpPr txBox="1">
            <a:spLocks/>
          </p:cNvSpPr>
          <p:nvPr/>
        </p:nvSpPr>
        <p:spPr>
          <a:xfrm>
            <a:off x="1046251" y="404410"/>
            <a:ext cx="10736446" cy="395050"/>
          </a:xfrm>
          <a:prstGeom prst="rect">
            <a:avLst/>
          </a:prstGeom>
        </p:spPr>
        <p:txBody>
          <a:bodyPr vert="horz" lIns="91440" tIns="45720" rIns="91440" bIns="45720" rtlCol="0">
            <a:noAutofit/>
          </a:bodyPr>
          <a:lstStyle>
            <a:defPPr>
              <a:defRPr lang="zh-CN"/>
            </a:defPPr>
            <a:lvl1pPr indent="0" eaLnBrk="0" fontAlgn="base" hangingPunct="0">
              <a:lnSpc>
                <a:spcPct val="90000"/>
              </a:lnSpc>
              <a:spcBef>
                <a:spcPct val="0"/>
              </a:spcBef>
              <a:spcAft>
                <a:spcPct val="0"/>
              </a:spcAft>
              <a:buFont typeface="Arial" panose="020B0604020202020204" pitchFamily="34" charset="0"/>
              <a:buNone/>
              <a:defRPr sz="2799" b="1" u="none">
                <a:solidFill>
                  <a:srgbClr val="990000"/>
                </a:solidFill>
                <a:latin typeface="Microsoft YaHei" panose="020B0503020204020204" pitchFamily="34" charset="-122"/>
                <a:ea typeface="Microsoft YaHei"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dirty="0"/>
              <a:t>Project Introduction</a:t>
            </a:r>
            <a:endParaRPr lang="zh-CN" altLang="en-US" dirty="0"/>
          </a:p>
        </p:txBody>
      </p:sp>
      <p:sp>
        <p:nvSpPr>
          <p:cNvPr id="12" name="矩形 11"/>
          <p:cNvSpPr/>
          <p:nvPr/>
        </p:nvSpPr>
        <p:spPr>
          <a:xfrm>
            <a:off x="0" y="6435634"/>
            <a:ext cx="12192000" cy="422366"/>
          </a:xfrm>
          <a:prstGeom prst="rect">
            <a:avLst/>
          </a:prstGeom>
          <a:solidFill>
            <a:srgbClr val="D7E4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34034" y="4888851"/>
            <a:ext cx="1757966" cy="1757966"/>
          </a:xfrm>
          <a:prstGeom prst="rect">
            <a:avLst/>
          </a:prstGeom>
        </p:spPr>
      </p:pic>
      <p:sp>
        <p:nvSpPr>
          <p:cNvPr id="3" name="Content Placeholder 2">
            <a:extLst>
              <a:ext uri="{FF2B5EF4-FFF2-40B4-BE49-F238E27FC236}">
                <a16:creationId xmlns:a16="http://schemas.microsoft.com/office/drawing/2014/main" xmlns="" id="{586AE55C-E042-6EBE-19F3-067383F418D7}"/>
              </a:ext>
            </a:extLst>
          </p:cNvPr>
          <p:cNvSpPr>
            <a:spLocks noGrp="1"/>
          </p:cNvSpPr>
          <p:nvPr>
            <p:ph idx="1"/>
          </p:nvPr>
        </p:nvSpPr>
        <p:spPr>
          <a:xfrm>
            <a:off x="676836" y="1741768"/>
            <a:ext cx="10515600" cy="4351338"/>
          </a:xfrm>
        </p:spPr>
        <p:txBody>
          <a:bodyPr>
            <a:normAutofit fontScale="25000" lnSpcReduction="20000"/>
          </a:bodyPr>
          <a:lstStyle/>
          <a:p>
            <a:pPr>
              <a:lnSpc>
                <a:spcPct val="120000"/>
              </a:lnSpc>
            </a:pPr>
            <a:r>
              <a:rPr lang="en-US" sz="7200" dirty="0"/>
              <a:t>Depression is one of the leading causes of disability worldwide, affecting </a:t>
            </a:r>
            <a:r>
              <a:rPr lang="en-US" sz="7200" b="1" dirty="0"/>
              <a:t>over 300 million people</a:t>
            </a:r>
            <a:r>
              <a:rPr lang="en-US" sz="7200" dirty="0"/>
              <a:t>, according to the </a:t>
            </a:r>
            <a:r>
              <a:rPr lang="en-US" sz="7200" b="1" dirty="0"/>
              <a:t>World Health Organization (WHO, 2023)</a:t>
            </a:r>
            <a:r>
              <a:rPr lang="en-US" sz="7200" dirty="0"/>
              <a:t>. Recent studies show that </a:t>
            </a:r>
            <a:r>
              <a:rPr lang="en-US" sz="7200" b="1" dirty="0"/>
              <a:t>one in every five adults</a:t>
            </a:r>
            <a:r>
              <a:rPr lang="en-US" sz="7200" dirty="0"/>
              <a:t> will experience depression at some point in their lives, yet </a:t>
            </a:r>
            <a:r>
              <a:rPr lang="en-US" sz="7200" b="1" dirty="0"/>
              <a:t>more than 60%</a:t>
            </a:r>
            <a:r>
              <a:rPr lang="en-US" sz="7200" dirty="0"/>
              <a:t> of those affected never receive proper diagnosis or treatment due to </a:t>
            </a:r>
            <a:r>
              <a:rPr lang="en-US" sz="7200" b="1" dirty="0"/>
              <a:t>social stigma</a:t>
            </a:r>
            <a:r>
              <a:rPr lang="en-US" sz="7200" dirty="0"/>
              <a:t>, </a:t>
            </a:r>
            <a:r>
              <a:rPr lang="en-US" sz="7200" b="1" dirty="0"/>
              <a:t>high costs</a:t>
            </a:r>
            <a:r>
              <a:rPr lang="en-US" sz="7200" dirty="0"/>
              <a:t>, and </a:t>
            </a:r>
            <a:r>
              <a:rPr lang="en-US" sz="7200" b="1" dirty="0"/>
              <a:t>limited access to mental health professionals</a:t>
            </a:r>
            <a:r>
              <a:rPr lang="en-US" sz="7200" dirty="0"/>
              <a:t>—particularly in low- and middle-income countries.</a:t>
            </a:r>
          </a:p>
          <a:p>
            <a:pPr>
              <a:lnSpc>
                <a:spcPct val="120000"/>
              </a:lnSpc>
            </a:pPr>
            <a:r>
              <a:rPr lang="en-US" sz="7200" dirty="0"/>
              <a:t>At the same time, research indicates that </a:t>
            </a:r>
            <a:r>
              <a:rPr lang="en-US" sz="7200" b="1" dirty="0"/>
              <a:t>language use and writing patterns</a:t>
            </a:r>
            <a:r>
              <a:rPr lang="en-US" sz="7200" dirty="0"/>
              <a:t> can serve as reliable indicators of mental state. For instance, studies in </a:t>
            </a:r>
            <a:r>
              <a:rPr lang="en-US" sz="7200" i="1" dirty="0"/>
              <a:t>Nature Human </a:t>
            </a:r>
            <a:r>
              <a:rPr lang="en-US" sz="7200" i="1" dirty="0" err="1"/>
              <a:t>Behaviour</a:t>
            </a:r>
            <a:r>
              <a:rPr lang="en-US" sz="7200" i="1" dirty="0"/>
              <a:t> (2022)</a:t>
            </a:r>
            <a:r>
              <a:rPr lang="en-US" sz="7200" dirty="0"/>
              <a:t> and </a:t>
            </a:r>
            <a:r>
              <a:rPr lang="en-US" sz="7200" i="1" dirty="0"/>
              <a:t>Frontiers in Psychology (2023)</a:t>
            </a:r>
            <a:r>
              <a:rPr lang="en-US" sz="7200" dirty="0"/>
              <a:t> demonstrate that </a:t>
            </a:r>
            <a:r>
              <a:rPr lang="en-US" sz="7200" b="1" dirty="0"/>
              <a:t>Natural Language Processing (NLP)</a:t>
            </a:r>
            <a:r>
              <a:rPr lang="en-US" sz="7200" dirty="0"/>
              <a:t> models can detect depressive tendencies with </a:t>
            </a:r>
            <a:r>
              <a:rPr lang="en-US" sz="7200" b="1" dirty="0"/>
              <a:t>accuracy rates exceeding 85%</a:t>
            </a:r>
            <a:r>
              <a:rPr lang="en-US" sz="7200" dirty="0"/>
              <a:t>.</a:t>
            </a:r>
          </a:p>
          <a:p>
            <a:pPr>
              <a:lnSpc>
                <a:spcPct val="120000"/>
              </a:lnSpc>
            </a:pPr>
            <a:r>
              <a:rPr lang="en-US" sz="7200" dirty="0"/>
              <a:t>Despite these advances, most solutions remain confined to academic settings or lack practical implementation for end-users. There is a critical need for </a:t>
            </a:r>
            <a:r>
              <a:rPr lang="en-US" sz="7200" b="1" dirty="0"/>
              <a:t>accessible, AI-driven tools</a:t>
            </a:r>
            <a:r>
              <a:rPr lang="en-US" sz="7200" dirty="0"/>
              <a:t> that can monitor emotional health in real time while ensuring data privacy and user engagement.</a:t>
            </a:r>
          </a:p>
          <a:p>
            <a:pPr>
              <a:lnSpc>
                <a:spcPct val="120000"/>
              </a:lnSpc>
            </a:pPr>
            <a:r>
              <a:rPr lang="en-US" sz="7200" dirty="0"/>
              <a:t>Our project addresses this gap by developing an </a:t>
            </a:r>
            <a:r>
              <a:rPr lang="en-US" sz="7200" b="1" dirty="0"/>
              <a:t>AI-powered mental health platform</a:t>
            </a:r>
            <a:r>
              <a:rPr lang="en-US" sz="7200" dirty="0"/>
              <a:t> that leverages </a:t>
            </a:r>
            <a:r>
              <a:rPr lang="en-US" sz="7200" b="1" dirty="0"/>
              <a:t>Huawei’s EI and PaaS technologies</a:t>
            </a:r>
            <a:r>
              <a:rPr lang="en-US" sz="7200" dirty="0"/>
              <a:t> to analyze text-based journaling, assess depression severity, and connect users to professional or community support.</a:t>
            </a:r>
          </a:p>
          <a:p>
            <a:endParaRPr lang="en-US" dirty="0"/>
          </a:p>
        </p:txBody>
      </p:sp>
      <p:sp>
        <p:nvSpPr>
          <p:cNvPr id="5" name="TextBox 4">
            <a:extLst>
              <a:ext uri="{FF2B5EF4-FFF2-40B4-BE49-F238E27FC236}">
                <a16:creationId xmlns:a16="http://schemas.microsoft.com/office/drawing/2014/main" xmlns="" id="{279B59CA-7349-D885-DDE3-DA353255E67E}"/>
              </a:ext>
            </a:extLst>
          </p:cNvPr>
          <p:cNvSpPr txBox="1"/>
          <p:nvPr/>
        </p:nvSpPr>
        <p:spPr>
          <a:xfrm>
            <a:off x="676836" y="1221723"/>
            <a:ext cx="6096000" cy="523220"/>
          </a:xfrm>
          <a:prstGeom prst="rect">
            <a:avLst/>
          </a:prstGeom>
          <a:noFill/>
        </p:spPr>
        <p:txBody>
          <a:bodyPr wrap="square">
            <a:spAutoFit/>
          </a:bodyPr>
          <a:lstStyle/>
          <a:p>
            <a:pPr>
              <a:buNone/>
            </a:pPr>
            <a:r>
              <a:rPr lang="en-US" sz="2800" b="1" dirty="0">
                <a:latin typeface="+mn-lt"/>
              </a:rPr>
              <a:t>Project Background</a:t>
            </a:r>
          </a:p>
        </p:txBody>
      </p:sp>
    </p:spTree>
    <p:extLst>
      <p:ext uri="{BB962C8B-B14F-4D97-AF65-F5344CB8AC3E}">
        <p14:creationId xmlns:p14="http://schemas.microsoft.com/office/powerpoint/2010/main" val="37093974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57A0E06D-3EDC-E725-3E12-F3B285AF6E21}"/>
            </a:ext>
          </a:extLst>
        </p:cNvPr>
        <p:cNvGrpSpPr/>
        <p:nvPr/>
      </p:nvGrpSpPr>
      <p:grpSpPr>
        <a:xfrm>
          <a:off x="0" y="0"/>
          <a:ext cx="0" cy="0"/>
          <a:chOff x="0" y="0"/>
          <a:chExt cx="0" cy="0"/>
        </a:xfrm>
      </p:grpSpPr>
      <p:sp>
        <p:nvSpPr>
          <p:cNvPr id="8" name="Subtitle 1">
            <a:extLst>
              <a:ext uri="{FF2B5EF4-FFF2-40B4-BE49-F238E27FC236}">
                <a16:creationId xmlns:a16="http://schemas.microsoft.com/office/drawing/2014/main" xmlns="" id="{D4D5EA30-DCBD-81F6-8593-2AD0048986CD}"/>
              </a:ext>
            </a:extLst>
          </p:cNvPr>
          <p:cNvSpPr txBox="1">
            <a:spLocks/>
          </p:cNvSpPr>
          <p:nvPr/>
        </p:nvSpPr>
        <p:spPr>
          <a:xfrm>
            <a:off x="1046251" y="404410"/>
            <a:ext cx="10736446" cy="395050"/>
          </a:xfrm>
          <a:prstGeom prst="rect">
            <a:avLst/>
          </a:prstGeom>
        </p:spPr>
        <p:txBody>
          <a:bodyPr vert="horz" lIns="91440" tIns="45720" rIns="91440" bIns="45720" rtlCol="0">
            <a:noAutofit/>
          </a:bodyPr>
          <a:lstStyle>
            <a:defPPr>
              <a:defRPr lang="zh-CN"/>
            </a:defPPr>
            <a:lvl1pPr indent="0" eaLnBrk="0" fontAlgn="base" hangingPunct="0">
              <a:lnSpc>
                <a:spcPct val="90000"/>
              </a:lnSpc>
              <a:spcBef>
                <a:spcPct val="0"/>
              </a:spcBef>
              <a:spcAft>
                <a:spcPct val="0"/>
              </a:spcAft>
              <a:buFont typeface="Arial" panose="020B0604020202020204" pitchFamily="34" charset="0"/>
              <a:buNone/>
              <a:defRPr sz="2799" b="1" u="none">
                <a:solidFill>
                  <a:srgbClr val="990000"/>
                </a:solidFill>
                <a:latin typeface="Microsoft YaHei" panose="020B0503020204020204" pitchFamily="34" charset="-122"/>
                <a:ea typeface="Microsoft YaHei"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dirty="0"/>
              <a:t>Project Introduction</a:t>
            </a:r>
            <a:endParaRPr lang="zh-CN" altLang="en-US" dirty="0"/>
          </a:p>
        </p:txBody>
      </p:sp>
      <p:sp>
        <p:nvSpPr>
          <p:cNvPr id="12" name="矩形 11">
            <a:extLst>
              <a:ext uri="{FF2B5EF4-FFF2-40B4-BE49-F238E27FC236}">
                <a16:creationId xmlns:a16="http://schemas.microsoft.com/office/drawing/2014/main" xmlns="" id="{2A622F4C-94FE-C05A-351C-7982FDB64982}"/>
              </a:ext>
            </a:extLst>
          </p:cNvPr>
          <p:cNvSpPr/>
          <p:nvPr/>
        </p:nvSpPr>
        <p:spPr>
          <a:xfrm>
            <a:off x="0" y="6435634"/>
            <a:ext cx="12192000" cy="422366"/>
          </a:xfrm>
          <a:prstGeom prst="rect">
            <a:avLst/>
          </a:prstGeom>
          <a:solidFill>
            <a:srgbClr val="D7E4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a:extLst>
              <a:ext uri="{FF2B5EF4-FFF2-40B4-BE49-F238E27FC236}">
                <a16:creationId xmlns:a16="http://schemas.microsoft.com/office/drawing/2014/main" xmlns="" id="{DE5050D6-A3A2-2F5D-49F7-21F3576A431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34034" y="4888851"/>
            <a:ext cx="1757966" cy="1757966"/>
          </a:xfrm>
          <a:prstGeom prst="rect">
            <a:avLst/>
          </a:prstGeom>
        </p:spPr>
      </p:pic>
      <p:sp>
        <p:nvSpPr>
          <p:cNvPr id="3" name="Content Placeholder 2">
            <a:extLst>
              <a:ext uri="{FF2B5EF4-FFF2-40B4-BE49-F238E27FC236}">
                <a16:creationId xmlns:a16="http://schemas.microsoft.com/office/drawing/2014/main" xmlns="" id="{914ECE14-04D1-2351-6406-1FAEBDE306E7}"/>
              </a:ext>
            </a:extLst>
          </p:cNvPr>
          <p:cNvSpPr>
            <a:spLocks noGrp="1"/>
          </p:cNvSpPr>
          <p:nvPr>
            <p:ph idx="1"/>
          </p:nvPr>
        </p:nvSpPr>
        <p:spPr>
          <a:xfrm>
            <a:off x="394005" y="1902569"/>
            <a:ext cx="10515600" cy="4351338"/>
          </a:xfrm>
        </p:spPr>
        <p:txBody>
          <a:bodyPr>
            <a:noAutofit/>
          </a:bodyPr>
          <a:lstStyle/>
          <a:p>
            <a:pPr marL="0" lvl="0" indent="0" fontAlgn="base">
              <a:lnSpc>
                <a:spcPct val="120000"/>
              </a:lnSpc>
              <a:spcAft>
                <a:spcPct val="0"/>
              </a:spcAft>
              <a:buNone/>
            </a:pPr>
            <a:r>
              <a:rPr lang="en-US" sz="2000" dirty="0"/>
              <a:t>1- </a:t>
            </a:r>
            <a:r>
              <a:rPr lang="en-US" sz="2000" b="1" dirty="0"/>
              <a:t>AI-Powered Text Analysis:</a:t>
            </a:r>
          </a:p>
          <a:p>
            <a:pPr marL="573088" lvl="0" indent="-115888" fontAlgn="base">
              <a:lnSpc>
                <a:spcPct val="120000"/>
              </a:lnSpc>
              <a:spcAft>
                <a:spcPct val="0"/>
              </a:spcAft>
            </a:pPr>
            <a:r>
              <a:rPr lang="en-US" altLang="en-US" sz="2000" dirty="0"/>
              <a:t>Utilizes DeepSeek NLP models to analyze the written journal entries submitted by users.</a:t>
            </a:r>
          </a:p>
          <a:p>
            <a:pPr marL="573088" lvl="0" indent="-115888" fontAlgn="base">
              <a:lnSpc>
                <a:spcPct val="120000"/>
              </a:lnSpc>
              <a:spcAft>
                <a:spcPct val="0"/>
              </a:spcAft>
            </a:pPr>
            <a:r>
              <a:rPr lang="en-US" altLang="en-US" sz="2000" dirty="0"/>
              <a:t>Examines linguistic patterns such as word choice, sentence structure, emotional tone, and sentiment polarity to identify depressive tendencies.</a:t>
            </a:r>
          </a:p>
          <a:p>
            <a:pPr marL="573088" lvl="0" indent="-115888" fontAlgn="base">
              <a:lnSpc>
                <a:spcPct val="120000"/>
              </a:lnSpc>
              <a:spcAft>
                <a:spcPct val="0"/>
              </a:spcAft>
            </a:pPr>
            <a:r>
              <a:rPr lang="en-US" altLang="en-US" sz="2000" dirty="0"/>
              <a:t>Classifies the user’s mental state into severity levels (mild, moderate, or severe) based solely on textual content.</a:t>
            </a:r>
          </a:p>
          <a:p>
            <a:pPr marL="573088" lvl="0" indent="-115888" fontAlgn="base">
              <a:lnSpc>
                <a:spcPct val="120000"/>
              </a:lnSpc>
              <a:spcAft>
                <a:spcPct val="0"/>
              </a:spcAft>
            </a:pPr>
            <a:r>
              <a:rPr lang="en-US" altLang="en-US" sz="2000" dirty="0"/>
              <a:t>Continuously refines accuracy through machine learning on anonymized text data.</a:t>
            </a:r>
            <a:endParaRPr lang="en-US" sz="2000" dirty="0"/>
          </a:p>
          <a:p>
            <a:pPr marL="0" indent="0" fontAlgn="base">
              <a:lnSpc>
                <a:spcPct val="120000"/>
              </a:lnSpc>
              <a:spcAft>
                <a:spcPct val="0"/>
              </a:spcAft>
              <a:buNone/>
            </a:pPr>
            <a:r>
              <a:rPr lang="en-US" sz="2000" dirty="0"/>
              <a:t>2- </a:t>
            </a:r>
            <a:r>
              <a:rPr lang="en-US" sz="2000" b="1" dirty="0"/>
              <a:t>Therapist Recommendation System: </a:t>
            </a:r>
          </a:p>
          <a:p>
            <a:pPr marL="627063" indent="-223838" fontAlgn="base">
              <a:lnSpc>
                <a:spcPct val="120000"/>
              </a:lnSpc>
              <a:spcAft>
                <a:spcPct val="0"/>
              </a:spcAft>
            </a:pPr>
            <a:r>
              <a:rPr lang="en-US" sz="2000" dirty="0"/>
              <a:t>Enables quick access to professional help by using location services when high-risk patterns are detected.</a:t>
            </a:r>
          </a:p>
          <a:p>
            <a:pPr marL="403225" indent="-403225" fontAlgn="base">
              <a:lnSpc>
                <a:spcPct val="120000"/>
              </a:lnSpc>
              <a:spcAft>
                <a:spcPct val="0"/>
              </a:spcAft>
              <a:buNone/>
            </a:pPr>
            <a:r>
              <a:rPr lang="en-US" sz="2000" dirty="0"/>
              <a:t/>
            </a:r>
            <a:br>
              <a:rPr lang="en-US" sz="2000" dirty="0"/>
            </a:br>
            <a:r>
              <a:rPr lang="en-US" sz="2000" dirty="0"/>
              <a:t>      </a:t>
            </a:r>
          </a:p>
          <a:p>
            <a:pPr marL="0" lvl="0" indent="0" fontAlgn="base">
              <a:lnSpc>
                <a:spcPct val="120000"/>
              </a:lnSpc>
              <a:spcAft>
                <a:spcPct val="0"/>
              </a:spcAft>
              <a:buNone/>
            </a:pPr>
            <a:r>
              <a:rPr lang="en-US" sz="2000" dirty="0"/>
              <a:t>     </a:t>
            </a:r>
          </a:p>
        </p:txBody>
      </p:sp>
      <p:sp>
        <p:nvSpPr>
          <p:cNvPr id="5" name="TextBox 4">
            <a:extLst>
              <a:ext uri="{FF2B5EF4-FFF2-40B4-BE49-F238E27FC236}">
                <a16:creationId xmlns:a16="http://schemas.microsoft.com/office/drawing/2014/main" xmlns="" id="{2E31D4AA-D1FA-4280-8451-EFAB01045A09}"/>
              </a:ext>
            </a:extLst>
          </p:cNvPr>
          <p:cNvSpPr txBox="1"/>
          <p:nvPr/>
        </p:nvSpPr>
        <p:spPr>
          <a:xfrm>
            <a:off x="712694" y="1288486"/>
            <a:ext cx="6096000" cy="523220"/>
          </a:xfrm>
          <a:prstGeom prst="rect">
            <a:avLst/>
          </a:prstGeom>
          <a:noFill/>
        </p:spPr>
        <p:txBody>
          <a:bodyPr wrap="square">
            <a:spAutoFit/>
          </a:bodyPr>
          <a:lstStyle/>
          <a:p>
            <a:r>
              <a:rPr lang="en-US" sz="2800" b="1" dirty="0">
                <a:latin typeface="+mn-lt"/>
              </a:rPr>
              <a:t>Project</a:t>
            </a:r>
            <a:r>
              <a:rPr lang="en-US" sz="2800" dirty="0"/>
              <a:t> </a:t>
            </a:r>
            <a:r>
              <a:rPr lang="en-US" sz="2800" b="1" dirty="0">
                <a:latin typeface="+mn-lt"/>
              </a:rPr>
              <a:t>Features</a:t>
            </a:r>
          </a:p>
        </p:txBody>
      </p:sp>
    </p:spTree>
    <p:extLst>
      <p:ext uri="{BB962C8B-B14F-4D97-AF65-F5344CB8AC3E}">
        <p14:creationId xmlns:p14="http://schemas.microsoft.com/office/powerpoint/2010/main" val="22346391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AD2BDDFD-637D-7912-EEAA-098564D55246}"/>
            </a:ext>
          </a:extLst>
        </p:cNvPr>
        <p:cNvGrpSpPr/>
        <p:nvPr/>
      </p:nvGrpSpPr>
      <p:grpSpPr>
        <a:xfrm>
          <a:off x="0" y="0"/>
          <a:ext cx="0" cy="0"/>
          <a:chOff x="0" y="0"/>
          <a:chExt cx="0" cy="0"/>
        </a:xfrm>
      </p:grpSpPr>
      <p:sp>
        <p:nvSpPr>
          <p:cNvPr id="8" name="Subtitle 1">
            <a:extLst>
              <a:ext uri="{FF2B5EF4-FFF2-40B4-BE49-F238E27FC236}">
                <a16:creationId xmlns:a16="http://schemas.microsoft.com/office/drawing/2014/main" xmlns="" id="{CC254BD1-AEFB-B20F-92CA-DF0DD847BE3C}"/>
              </a:ext>
            </a:extLst>
          </p:cNvPr>
          <p:cNvSpPr txBox="1">
            <a:spLocks/>
          </p:cNvSpPr>
          <p:nvPr/>
        </p:nvSpPr>
        <p:spPr>
          <a:xfrm>
            <a:off x="1046251" y="404410"/>
            <a:ext cx="10736446" cy="395050"/>
          </a:xfrm>
          <a:prstGeom prst="rect">
            <a:avLst/>
          </a:prstGeom>
        </p:spPr>
        <p:txBody>
          <a:bodyPr vert="horz" lIns="91440" tIns="45720" rIns="91440" bIns="45720" rtlCol="0">
            <a:noAutofit/>
          </a:bodyPr>
          <a:lstStyle>
            <a:defPPr>
              <a:defRPr lang="zh-CN"/>
            </a:defPPr>
            <a:lvl1pPr indent="0" eaLnBrk="0" fontAlgn="base" hangingPunct="0">
              <a:lnSpc>
                <a:spcPct val="90000"/>
              </a:lnSpc>
              <a:spcBef>
                <a:spcPct val="0"/>
              </a:spcBef>
              <a:spcAft>
                <a:spcPct val="0"/>
              </a:spcAft>
              <a:buFont typeface="Arial" panose="020B0604020202020204" pitchFamily="34" charset="0"/>
              <a:buNone/>
              <a:defRPr sz="2799" b="1" u="none">
                <a:solidFill>
                  <a:srgbClr val="990000"/>
                </a:solidFill>
                <a:latin typeface="Microsoft YaHei" panose="020B0503020204020204" pitchFamily="34" charset="-122"/>
                <a:ea typeface="Microsoft YaHei"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dirty="0"/>
              <a:t>Project Introduction</a:t>
            </a:r>
            <a:endParaRPr lang="zh-CN" altLang="en-US" dirty="0"/>
          </a:p>
        </p:txBody>
      </p:sp>
      <p:sp>
        <p:nvSpPr>
          <p:cNvPr id="12" name="矩形 11">
            <a:extLst>
              <a:ext uri="{FF2B5EF4-FFF2-40B4-BE49-F238E27FC236}">
                <a16:creationId xmlns:a16="http://schemas.microsoft.com/office/drawing/2014/main" xmlns="" id="{5F779BE0-3D00-4D7F-78E7-A03DF81D0427}"/>
              </a:ext>
            </a:extLst>
          </p:cNvPr>
          <p:cNvSpPr/>
          <p:nvPr/>
        </p:nvSpPr>
        <p:spPr>
          <a:xfrm>
            <a:off x="0" y="6435634"/>
            <a:ext cx="12192000" cy="422366"/>
          </a:xfrm>
          <a:prstGeom prst="rect">
            <a:avLst/>
          </a:prstGeom>
          <a:solidFill>
            <a:srgbClr val="D7E4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a:extLst>
              <a:ext uri="{FF2B5EF4-FFF2-40B4-BE49-F238E27FC236}">
                <a16:creationId xmlns:a16="http://schemas.microsoft.com/office/drawing/2014/main" xmlns="" id="{1034EAE6-AE75-BD9B-5967-E23C058ED93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34034" y="4888851"/>
            <a:ext cx="1757966" cy="1757966"/>
          </a:xfrm>
          <a:prstGeom prst="rect">
            <a:avLst/>
          </a:prstGeom>
        </p:spPr>
      </p:pic>
      <p:sp>
        <p:nvSpPr>
          <p:cNvPr id="3" name="Content Placeholder 2">
            <a:extLst>
              <a:ext uri="{FF2B5EF4-FFF2-40B4-BE49-F238E27FC236}">
                <a16:creationId xmlns:a16="http://schemas.microsoft.com/office/drawing/2014/main" xmlns="" id="{4AC97B49-2744-30AE-9291-AABB607C2AE5}"/>
              </a:ext>
            </a:extLst>
          </p:cNvPr>
          <p:cNvSpPr>
            <a:spLocks noGrp="1"/>
          </p:cNvSpPr>
          <p:nvPr>
            <p:ph idx="1"/>
          </p:nvPr>
        </p:nvSpPr>
        <p:spPr>
          <a:xfrm>
            <a:off x="411936" y="1969149"/>
            <a:ext cx="10515600" cy="4351338"/>
          </a:xfrm>
        </p:spPr>
        <p:txBody>
          <a:bodyPr>
            <a:noAutofit/>
          </a:bodyPr>
          <a:lstStyle/>
          <a:p>
            <a:pPr marL="0" indent="0" fontAlgn="base">
              <a:lnSpc>
                <a:spcPct val="120000"/>
              </a:lnSpc>
              <a:spcAft>
                <a:spcPct val="0"/>
              </a:spcAft>
              <a:buNone/>
            </a:pPr>
            <a:r>
              <a:rPr lang="en-US" sz="2000" dirty="0"/>
              <a:t>3- </a:t>
            </a:r>
            <a:r>
              <a:rPr lang="en-US" sz="2000" b="1" dirty="0"/>
              <a:t>Community Support Hub: </a:t>
            </a:r>
          </a:p>
          <a:p>
            <a:pPr fontAlgn="base">
              <a:lnSpc>
                <a:spcPct val="120000"/>
              </a:lnSpc>
              <a:spcAft>
                <a:spcPct val="0"/>
              </a:spcAft>
            </a:pPr>
            <a:r>
              <a:rPr lang="en-US" sz="2000" dirty="0"/>
              <a:t> Provides a safe, anonymous community for users to share experiences, encouragement, and recovery stories.</a:t>
            </a:r>
          </a:p>
          <a:p>
            <a:pPr marL="0" indent="0" fontAlgn="base">
              <a:lnSpc>
                <a:spcPct val="120000"/>
              </a:lnSpc>
              <a:spcAft>
                <a:spcPct val="0"/>
              </a:spcAft>
              <a:buNone/>
            </a:pPr>
            <a:r>
              <a:rPr lang="en-US" sz="2000" dirty="0"/>
              <a:t>4- </a:t>
            </a:r>
            <a:r>
              <a:rPr lang="en-US" sz="2000" b="1" dirty="0"/>
              <a:t>Huawei Cloud &amp; EI Integration :</a:t>
            </a:r>
          </a:p>
          <a:p>
            <a:pPr marL="169863" indent="63500" fontAlgn="base">
              <a:lnSpc>
                <a:spcPct val="120000"/>
              </a:lnSpc>
              <a:spcAft>
                <a:spcPct val="0"/>
              </a:spcAft>
              <a:tabLst>
                <a:tab pos="287338" algn="l"/>
              </a:tabLst>
            </a:pPr>
            <a:r>
              <a:rPr lang="en-US" sz="2000" dirty="0"/>
              <a:t> Deployed on Huawei PaaS for scalability, reliability, and secure data storage.</a:t>
            </a:r>
          </a:p>
          <a:p>
            <a:pPr marL="341313" indent="-171450" fontAlgn="base">
              <a:lnSpc>
                <a:spcPct val="120000"/>
              </a:lnSpc>
              <a:spcAft>
                <a:spcPct val="0"/>
              </a:spcAft>
              <a:tabLst>
                <a:tab pos="341313" algn="l"/>
              </a:tabLst>
            </a:pPr>
            <a:r>
              <a:rPr lang="en-US" sz="2000" dirty="0"/>
              <a:t>Utilizes Huawei EI (Enterprise Intelligence) to power NLP inference and predictive analytics.</a:t>
            </a:r>
          </a:p>
          <a:p>
            <a:pPr marL="403225" indent="-403225" fontAlgn="base">
              <a:lnSpc>
                <a:spcPct val="120000"/>
              </a:lnSpc>
              <a:spcAft>
                <a:spcPct val="0"/>
              </a:spcAft>
              <a:buNone/>
              <a:tabLst>
                <a:tab pos="287338" algn="l"/>
              </a:tabLst>
            </a:pPr>
            <a:r>
              <a:rPr lang="en-US" sz="2000" dirty="0"/>
              <a:t/>
            </a:r>
            <a:br>
              <a:rPr lang="en-US" sz="2000" dirty="0"/>
            </a:br>
            <a:endParaRPr lang="en-US" sz="2000" dirty="0"/>
          </a:p>
          <a:p>
            <a:pPr marL="0" lvl="0" indent="0" fontAlgn="base">
              <a:lnSpc>
                <a:spcPct val="120000"/>
              </a:lnSpc>
              <a:spcAft>
                <a:spcPct val="0"/>
              </a:spcAft>
              <a:buNone/>
            </a:pPr>
            <a:endParaRPr lang="en-US" b="1" dirty="0"/>
          </a:p>
        </p:txBody>
      </p:sp>
      <p:sp>
        <p:nvSpPr>
          <p:cNvPr id="5" name="TextBox 4">
            <a:extLst>
              <a:ext uri="{FF2B5EF4-FFF2-40B4-BE49-F238E27FC236}">
                <a16:creationId xmlns:a16="http://schemas.microsoft.com/office/drawing/2014/main" xmlns="" id="{94F46BD5-636A-979D-D948-69937B5C6D55}"/>
              </a:ext>
            </a:extLst>
          </p:cNvPr>
          <p:cNvSpPr txBox="1"/>
          <p:nvPr/>
        </p:nvSpPr>
        <p:spPr>
          <a:xfrm>
            <a:off x="587188" y="1330782"/>
            <a:ext cx="6096000" cy="523220"/>
          </a:xfrm>
          <a:prstGeom prst="rect">
            <a:avLst/>
          </a:prstGeom>
          <a:noFill/>
        </p:spPr>
        <p:txBody>
          <a:bodyPr wrap="square">
            <a:spAutoFit/>
          </a:bodyPr>
          <a:lstStyle/>
          <a:p>
            <a:r>
              <a:rPr lang="en-US" sz="2800" b="1" dirty="0">
                <a:latin typeface="+mn-lt"/>
              </a:rPr>
              <a:t>Project</a:t>
            </a:r>
            <a:r>
              <a:rPr lang="en-US" sz="2800" dirty="0"/>
              <a:t> </a:t>
            </a:r>
            <a:r>
              <a:rPr lang="en-US" sz="2800" b="1" dirty="0">
                <a:latin typeface="+mn-lt"/>
              </a:rPr>
              <a:t>Features</a:t>
            </a:r>
            <a:r>
              <a:rPr lang="en-US" sz="2800" dirty="0"/>
              <a:t> </a:t>
            </a:r>
          </a:p>
        </p:txBody>
      </p:sp>
    </p:spTree>
    <p:extLst>
      <p:ext uri="{BB962C8B-B14F-4D97-AF65-F5344CB8AC3E}">
        <p14:creationId xmlns:p14="http://schemas.microsoft.com/office/powerpoint/2010/main" val="4972949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EA4AF279-DC62-7432-3DDA-4E5CD43CE26C}"/>
            </a:ext>
          </a:extLst>
        </p:cNvPr>
        <p:cNvGrpSpPr/>
        <p:nvPr/>
      </p:nvGrpSpPr>
      <p:grpSpPr>
        <a:xfrm>
          <a:off x="0" y="0"/>
          <a:ext cx="0" cy="0"/>
          <a:chOff x="0" y="0"/>
          <a:chExt cx="0" cy="0"/>
        </a:xfrm>
      </p:grpSpPr>
      <p:sp>
        <p:nvSpPr>
          <p:cNvPr id="8" name="Subtitle 1">
            <a:extLst>
              <a:ext uri="{FF2B5EF4-FFF2-40B4-BE49-F238E27FC236}">
                <a16:creationId xmlns:a16="http://schemas.microsoft.com/office/drawing/2014/main" xmlns="" id="{F4D1296F-C777-1BB1-96F3-82237EEB6F3A}"/>
              </a:ext>
            </a:extLst>
          </p:cNvPr>
          <p:cNvSpPr txBox="1">
            <a:spLocks/>
          </p:cNvSpPr>
          <p:nvPr/>
        </p:nvSpPr>
        <p:spPr>
          <a:xfrm>
            <a:off x="1046251" y="404410"/>
            <a:ext cx="10736446" cy="395050"/>
          </a:xfrm>
          <a:prstGeom prst="rect">
            <a:avLst/>
          </a:prstGeom>
        </p:spPr>
        <p:txBody>
          <a:bodyPr vert="horz" lIns="91440" tIns="45720" rIns="91440" bIns="45720" rtlCol="0">
            <a:noAutofit/>
          </a:bodyPr>
          <a:lstStyle>
            <a:defPPr>
              <a:defRPr lang="zh-CN"/>
            </a:defPPr>
            <a:lvl1pPr indent="0" eaLnBrk="0" fontAlgn="base" hangingPunct="0">
              <a:lnSpc>
                <a:spcPct val="90000"/>
              </a:lnSpc>
              <a:spcBef>
                <a:spcPct val="0"/>
              </a:spcBef>
              <a:spcAft>
                <a:spcPct val="0"/>
              </a:spcAft>
              <a:buFont typeface="Arial" panose="020B0604020202020204" pitchFamily="34" charset="0"/>
              <a:buNone/>
              <a:defRPr sz="2799" b="1" u="none">
                <a:solidFill>
                  <a:srgbClr val="990000"/>
                </a:solidFill>
                <a:latin typeface="Microsoft YaHei" panose="020B0503020204020204" pitchFamily="34" charset="-122"/>
                <a:ea typeface="Microsoft YaHei"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dirty="0"/>
              <a:t>Project Introduction</a:t>
            </a:r>
            <a:endParaRPr lang="zh-CN" altLang="en-US" dirty="0"/>
          </a:p>
        </p:txBody>
      </p:sp>
      <p:sp>
        <p:nvSpPr>
          <p:cNvPr id="12" name="矩形 11">
            <a:extLst>
              <a:ext uri="{FF2B5EF4-FFF2-40B4-BE49-F238E27FC236}">
                <a16:creationId xmlns:a16="http://schemas.microsoft.com/office/drawing/2014/main" xmlns="" id="{11CB5103-7DC8-3E5B-AA73-9AB35A2609A9}"/>
              </a:ext>
            </a:extLst>
          </p:cNvPr>
          <p:cNvSpPr/>
          <p:nvPr/>
        </p:nvSpPr>
        <p:spPr>
          <a:xfrm>
            <a:off x="0" y="6435634"/>
            <a:ext cx="12192000" cy="422366"/>
          </a:xfrm>
          <a:prstGeom prst="rect">
            <a:avLst/>
          </a:prstGeom>
          <a:solidFill>
            <a:srgbClr val="D7E4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a:extLst>
              <a:ext uri="{FF2B5EF4-FFF2-40B4-BE49-F238E27FC236}">
                <a16:creationId xmlns:a16="http://schemas.microsoft.com/office/drawing/2014/main" xmlns="" id="{7888B283-6853-789B-3D64-9A5FD7D21E6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34034" y="4888851"/>
            <a:ext cx="1757966" cy="1757966"/>
          </a:xfrm>
          <a:prstGeom prst="rect">
            <a:avLst/>
          </a:prstGeom>
        </p:spPr>
      </p:pic>
      <p:sp>
        <p:nvSpPr>
          <p:cNvPr id="3" name="Content Placeholder 2">
            <a:extLst>
              <a:ext uri="{FF2B5EF4-FFF2-40B4-BE49-F238E27FC236}">
                <a16:creationId xmlns:a16="http://schemas.microsoft.com/office/drawing/2014/main" xmlns="" id="{727DFCF0-D583-A00A-E0F9-4278CF68B07F}"/>
              </a:ext>
            </a:extLst>
          </p:cNvPr>
          <p:cNvSpPr>
            <a:spLocks noGrp="1"/>
          </p:cNvSpPr>
          <p:nvPr>
            <p:ph idx="1"/>
          </p:nvPr>
        </p:nvSpPr>
        <p:spPr>
          <a:xfrm>
            <a:off x="429865" y="2119004"/>
            <a:ext cx="10515600" cy="3883058"/>
          </a:xfrm>
        </p:spPr>
        <p:txBody>
          <a:bodyPr>
            <a:noAutofit/>
          </a:bodyPr>
          <a:lstStyle/>
          <a:p>
            <a:pPr marL="0" indent="0">
              <a:buNone/>
            </a:pPr>
            <a:r>
              <a:rPr lang="en-US" sz="2000" b="1" dirty="0"/>
              <a:t> 1. Mental Health Monitoring</a:t>
            </a:r>
          </a:p>
          <a:p>
            <a:r>
              <a:rPr lang="en-US" sz="2000" dirty="0"/>
              <a:t>Individuals can use the platform for </a:t>
            </a:r>
            <a:r>
              <a:rPr lang="en-US" sz="2000" b="1" dirty="0"/>
              <a:t>daily journaling</a:t>
            </a:r>
            <a:r>
              <a:rPr lang="en-US" sz="2000" dirty="0"/>
              <a:t> to monitor emotional trends and detect early signs of depression. The AI model analyzes text entries to provide </a:t>
            </a:r>
            <a:r>
              <a:rPr lang="en-US" sz="2000" b="1" dirty="0"/>
              <a:t>real-time emotional feedback</a:t>
            </a:r>
            <a:r>
              <a:rPr lang="en-US" sz="2000" dirty="0"/>
              <a:t> and progress tracking over time.</a:t>
            </a:r>
          </a:p>
          <a:p>
            <a:pPr marL="0" indent="0">
              <a:buNone/>
            </a:pPr>
            <a:r>
              <a:rPr lang="en-US" sz="2000" b="1" dirty="0"/>
              <a:t>2. University and Student Wellness Programs</a:t>
            </a:r>
          </a:p>
          <a:p>
            <a:r>
              <a:rPr lang="en-US" sz="2000" dirty="0"/>
              <a:t>Universities and schools can adopt the system to support </a:t>
            </a:r>
            <a:r>
              <a:rPr lang="en-US" sz="2000" b="1" dirty="0"/>
              <a:t>student mental wellbeing</a:t>
            </a:r>
            <a:r>
              <a:rPr lang="en-US" sz="2000" dirty="0"/>
              <a:t>. With proper privacy controls, the platform can help identify students who may need counseling or additional psychological support.</a:t>
            </a:r>
          </a:p>
          <a:p>
            <a:pPr marL="0" indent="0">
              <a:buNone/>
            </a:pPr>
            <a:r>
              <a:rPr lang="en-US" sz="2000" b="1" dirty="0"/>
              <a:t>3.Teletherapy and e-Health Platforms</a:t>
            </a:r>
          </a:p>
          <a:p>
            <a:r>
              <a:rPr lang="en-US" sz="2000" dirty="0"/>
              <a:t>Therapists and digital health providers can use the platform as a </a:t>
            </a:r>
            <a:r>
              <a:rPr lang="en-US" sz="2000" b="1" dirty="0"/>
              <a:t>screening and monitoring tool</a:t>
            </a:r>
            <a:r>
              <a:rPr lang="en-US" sz="2000" dirty="0"/>
              <a:t> to complement online counseling, helping track patient mood evolution through written communication.</a:t>
            </a:r>
          </a:p>
          <a:p>
            <a:pPr marL="403225" indent="-403225" fontAlgn="base">
              <a:lnSpc>
                <a:spcPct val="120000"/>
              </a:lnSpc>
              <a:spcAft>
                <a:spcPct val="0"/>
              </a:spcAft>
              <a:buNone/>
            </a:pPr>
            <a:r>
              <a:rPr lang="en-US" sz="2000" dirty="0"/>
              <a:t/>
            </a:r>
            <a:br>
              <a:rPr lang="en-US" sz="2000" dirty="0"/>
            </a:br>
            <a:r>
              <a:rPr lang="en-US" sz="2000" dirty="0"/>
              <a:t>      </a:t>
            </a:r>
          </a:p>
          <a:p>
            <a:pPr marL="0" lvl="0" indent="0" fontAlgn="base">
              <a:lnSpc>
                <a:spcPct val="120000"/>
              </a:lnSpc>
              <a:spcAft>
                <a:spcPct val="0"/>
              </a:spcAft>
              <a:buNone/>
            </a:pPr>
            <a:r>
              <a:rPr lang="en-US" sz="2000" dirty="0"/>
              <a:t>     </a:t>
            </a:r>
          </a:p>
        </p:txBody>
      </p:sp>
      <p:sp>
        <p:nvSpPr>
          <p:cNvPr id="5" name="TextBox 4">
            <a:extLst>
              <a:ext uri="{FF2B5EF4-FFF2-40B4-BE49-F238E27FC236}">
                <a16:creationId xmlns:a16="http://schemas.microsoft.com/office/drawing/2014/main" xmlns="" id="{43FC145F-8CD3-60D2-EF99-0CD15C44838E}"/>
              </a:ext>
            </a:extLst>
          </p:cNvPr>
          <p:cNvSpPr txBox="1"/>
          <p:nvPr/>
        </p:nvSpPr>
        <p:spPr>
          <a:xfrm>
            <a:off x="524435" y="1423822"/>
            <a:ext cx="6096000" cy="523220"/>
          </a:xfrm>
          <a:prstGeom prst="rect">
            <a:avLst/>
          </a:prstGeom>
          <a:noFill/>
        </p:spPr>
        <p:txBody>
          <a:bodyPr wrap="square">
            <a:spAutoFit/>
          </a:bodyPr>
          <a:lstStyle/>
          <a:p>
            <a:r>
              <a:rPr lang="en-US" sz="2800" b="1" dirty="0">
                <a:latin typeface="+mn-lt"/>
              </a:rPr>
              <a:t>Application</a:t>
            </a:r>
            <a:r>
              <a:rPr lang="en-US" sz="2800" b="1" dirty="0"/>
              <a:t> </a:t>
            </a:r>
            <a:r>
              <a:rPr lang="en-US" sz="2800" b="1" dirty="0">
                <a:latin typeface="+mn-lt"/>
              </a:rPr>
              <a:t>Scenarios</a:t>
            </a:r>
          </a:p>
        </p:txBody>
      </p:sp>
    </p:spTree>
    <p:extLst>
      <p:ext uri="{BB962C8B-B14F-4D97-AF65-F5344CB8AC3E}">
        <p14:creationId xmlns:p14="http://schemas.microsoft.com/office/powerpoint/2010/main" val="8150923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8C78E0DB-39FA-9779-A69A-9F0119842063}"/>
            </a:ext>
          </a:extLst>
        </p:cNvPr>
        <p:cNvGrpSpPr/>
        <p:nvPr/>
      </p:nvGrpSpPr>
      <p:grpSpPr>
        <a:xfrm>
          <a:off x="0" y="0"/>
          <a:ext cx="0" cy="0"/>
          <a:chOff x="0" y="0"/>
          <a:chExt cx="0" cy="0"/>
        </a:xfrm>
      </p:grpSpPr>
      <p:sp>
        <p:nvSpPr>
          <p:cNvPr id="8" name="Subtitle 1">
            <a:extLst>
              <a:ext uri="{FF2B5EF4-FFF2-40B4-BE49-F238E27FC236}">
                <a16:creationId xmlns:a16="http://schemas.microsoft.com/office/drawing/2014/main" xmlns="" id="{4785F573-C2DA-B5E3-A2DC-57BFDC52C00C}"/>
              </a:ext>
            </a:extLst>
          </p:cNvPr>
          <p:cNvSpPr txBox="1">
            <a:spLocks/>
          </p:cNvSpPr>
          <p:nvPr/>
        </p:nvSpPr>
        <p:spPr>
          <a:xfrm>
            <a:off x="1046251" y="404410"/>
            <a:ext cx="10736446" cy="395050"/>
          </a:xfrm>
          <a:prstGeom prst="rect">
            <a:avLst/>
          </a:prstGeom>
        </p:spPr>
        <p:txBody>
          <a:bodyPr vert="horz" lIns="91440" tIns="45720" rIns="91440" bIns="45720" rtlCol="0">
            <a:noAutofit/>
          </a:bodyPr>
          <a:lstStyle>
            <a:defPPr>
              <a:defRPr lang="zh-CN"/>
            </a:defPPr>
            <a:lvl1pPr indent="0" eaLnBrk="0" fontAlgn="base" hangingPunct="0">
              <a:lnSpc>
                <a:spcPct val="90000"/>
              </a:lnSpc>
              <a:spcBef>
                <a:spcPct val="0"/>
              </a:spcBef>
              <a:spcAft>
                <a:spcPct val="0"/>
              </a:spcAft>
              <a:buFont typeface="Arial" panose="020B0604020202020204" pitchFamily="34" charset="0"/>
              <a:buNone/>
              <a:defRPr sz="2799" b="1" u="none">
                <a:solidFill>
                  <a:srgbClr val="990000"/>
                </a:solidFill>
                <a:latin typeface="Microsoft YaHei" panose="020B0503020204020204" pitchFamily="34" charset="-122"/>
                <a:ea typeface="Microsoft YaHei"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dirty="0"/>
              <a:t>Project Introduction</a:t>
            </a:r>
            <a:endParaRPr lang="zh-CN" altLang="en-US" dirty="0"/>
          </a:p>
        </p:txBody>
      </p:sp>
      <p:sp>
        <p:nvSpPr>
          <p:cNvPr id="12" name="矩形 11">
            <a:extLst>
              <a:ext uri="{FF2B5EF4-FFF2-40B4-BE49-F238E27FC236}">
                <a16:creationId xmlns:a16="http://schemas.microsoft.com/office/drawing/2014/main" xmlns="" id="{DFBF0AEE-E3C1-7355-C963-2E689C2FCC90}"/>
              </a:ext>
            </a:extLst>
          </p:cNvPr>
          <p:cNvSpPr/>
          <p:nvPr/>
        </p:nvSpPr>
        <p:spPr>
          <a:xfrm>
            <a:off x="0" y="6435634"/>
            <a:ext cx="12192000" cy="422366"/>
          </a:xfrm>
          <a:prstGeom prst="rect">
            <a:avLst/>
          </a:prstGeom>
          <a:solidFill>
            <a:srgbClr val="D7E4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a:extLst>
              <a:ext uri="{FF2B5EF4-FFF2-40B4-BE49-F238E27FC236}">
                <a16:creationId xmlns:a16="http://schemas.microsoft.com/office/drawing/2014/main" xmlns="" id="{209E02BA-89AF-3CDA-9D06-6BC19A9A386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34034" y="4888851"/>
            <a:ext cx="1757966" cy="1757966"/>
          </a:xfrm>
          <a:prstGeom prst="rect">
            <a:avLst/>
          </a:prstGeom>
        </p:spPr>
      </p:pic>
      <p:sp>
        <p:nvSpPr>
          <p:cNvPr id="3" name="Content Placeholder 2">
            <a:extLst>
              <a:ext uri="{FF2B5EF4-FFF2-40B4-BE49-F238E27FC236}">
                <a16:creationId xmlns:a16="http://schemas.microsoft.com/office/drawing/2014/main" xmlns="" id="{0D8ED4E7-2223-23F9-46A7-BC629CBAC9C2}"/>
              </a:ext>
            </a:extLst>
          </p:cNvPr>
          <p:cNvSpPr>
            <a:spLocks noGrp="1"/>
          </p:cNvSpPr>
          <p:nvPr>
            <p:ph idx="1"/>
          </p:nvPr>
        </p:nvSpPr>
        <p:spPr>
          <a:xfrm>
            <a:off x="420899" y="1720842"/>
            <a:ext cx="10515600" cy="4351338"/>
          </a:xfrm>
        </p:spPr>
        <p:txBody>
          <a:bodyPr>
            <a:noAutofit/>
          </a:bodyPr>
          <a:lstStyle/>
          <a:p>
            <a:pPr marL="0" indent="0">
              <a:buNone/>
            </a:pPr>
            <a:r>
              <a:rPr lang="en-US" sz="2000" b="1" dirty="0"/>
              <a:t>1. Lack of Early Detection</a:t>
            </a:r>
          </a:p>
          <a:p>
            <a:r>
              <a:rPr lang="en-US" sz="2000" dirty="0"/>
              <a:t>Most people with depression remain undiagnosed until symptoms become severe. Our platform provides </a:t>
            </a:r>
            <a:r>
              <a:rPr lang="en-US" sz="2000" b="1" dirty="0"/>
              <a:t>early, AI-driven screening</a:t>
            </a:r>
            <a:r>
              <a:rPr lang="en-US" sz="2000" dirty="0"/>
              <a:t> based on users’ written text, enabling timely awareness and intervention.</a:t>
            </a:r>
          </a:p>
          <a:p>
            <a:pPr marL="0" indent="0">
              <a:buNone/>
            </a:pPr>
            <a:r>
              <a:rPr lang="en-US" sz="2000" b="1" dirty="0"/>
              <a:t>2. Limited Access to Mental Health Services</a:t>
            </a:r>
          </a:p>
          <a:p>
            <a:r>
              <a:rPr lang="en-US" sz="2000" dirty="0"/>
              <a:t>In many regions, professional psychological support is </a:t>
            </a:r>
            <a:r>
              <a:rPr lang="en-US" sz="2000" b="1" dirty="0"/>
              <a:t>scarce or expensive</a:t>
            </a:r>
            <a:r>
              <a:rPr lang="en-US" sz="2000" dirty="0"/>
              <a:t>. The app bridges this gap by offering </a:t>
            </a:r>
            <a:r>
              <a:rPr lang="en-US" sz="2000" b="1" dirty="0"/>
              <a:t>AI-based self-assessment</a:t>
            </a:r>
            <a:r>
              <a:rPr lang="en-US" sz="2000" dirty="0"/>
              <a:t> and </a:t>
            </a:r>
            <a:r>
              <a:rPr lang="en-US" sz="2000" b="1" dirty="0"/>
              <a:t>therapist recommendations.</a:t>
            </a:r>
            <a:endParaRPr lang="en-US" sz="2000" dirty="0"/>
          </a:p>
          <a:p>
            <a:pPr marL="0" indent="0">
              <a:buNone/>
            </a:pPr>
            <a:r>
              <a:rPr lang="en-US" sz="2000" b="1" dirty="0"/>
              <a:t>3. Social Stigma and Fear of Judgment</a:t>
            </a:r>
          </a:p>
          <a:p>
            <a:r>
              <a:rPr lang="en-US" sz="2000" dirty="0"/>
              <a:t>Many individuals hesitate to seek help. The platform allows </a:t>
            </a:r>
            <a:r>
              <a:rPr lang="en-US" sz="2000" b="1" dirty="0"/>
              <a:t>private journaling and automated analysis</a:t>
            </a:r>
            <a:r>
              <a:rPr lang="en-US" sz="2000" dirty="0"/>
              <a:t>.</a:t>
            </a:r>
          </a:p>
          <a:p>
            <a:pPr marL="0" indent="0">
              <a:buNone/>
            </a:pPr>
            <a:r>
              <a:rPr lang="en-US" sz="2000" b="1" dirty="0"/>
              <a:t>4. Lack of Continuous Monitoring</a:t>
            </a:r>
          </a:p>
          <a:p>
            <a:r>
              <a:rPr lang="en-US" sz="2000" dirty="0"/>
              <a:t>Traditional therapy often lacks </a:t>
            </a:r>
            <a:r>
              <a:rPr lang="en-US" sz="2000" b="1" dirty="0"/>
              <a:t>between-session follow-up</a:t>
            </a:r>
            <a:r>
              <a:rPr lang="en-US" sz="2000" dirty="0"/>
              <a:t>. Our system enables </a:t>
            </a:r>
            <a:r>
              <a:rPr lang="en-US" sz="2000" b="1" dirty="0"/>
              <a:t>continuous emotional tracking</a:t>
            </a:r>
            <a:r>
              <a:rPr lang="en-US" sz="2000" dirty="0"/>
              <a:t> through text analysis, helping both users and professionals observe progress over time.</a:t>
            </a:r>
          </a:p>
          <a:p>
            <a:pPr marL="0" indent="0">
              <a:buNone/>
            </a:pPr>
            <a:endParaRPr lang="en-US" sz="2000" dirty="0"/>
          </a:p>
          <a:p>
            <a:pPr marL="403225" indent="-403225" fontAlgn="base">
              <a:lnSpc>
                <a:spcPct val="120000"/>
              </a:lnSpc>
              <a:spcAft>
                <a:spcPct val="0"/>
              </a:spcAft>
              <a:buNone/>
            </a:pPr>
            <a:r>
              <a:rPr lang="en-US" sz="2000" dirty="0"/>
              <a:t/>
            </a:r>
            <a:br>
              <a:rPr lang="en-US" sz="2000" dirty="0"/>
            </a:br>
            <a:r>
              <a:rPr lang="en-US" sz="2000" dirty="0"/>
              <a:t>      </a:t>
            </a:r>
          </a:p>
          <a:p>
            <a:pPr marL="0" lvl="0" indent="0" fontAlgn="base">
              <a:lnSpc>
                <a:spcPct val="120000"/>
              </a:lnSpc>
              <a:spcAft>
                <a:spcPct val="0"/>
              </a:spcAft>
              <a:buNone/>
            </a:pPr>
            <a:r>
              <a:rPr lang="en-US" sz="2000" dirty="0"/>
              <a:t>     </a:t>
            </a:r>
          </a:p>
        </p:txBody>
      </p:sp>
      <p:sp>
        <p:nvSpPr>
          <p:cNvPr id="5" name="TextBox 4">
            <a:extLst>
              <a:ext uri="{FF2B5EF4-FFF2-40B4-BE49-F238E27FC236}">
                <a16:creationId xmlns:a16="http://schemas.microsoft.com/office/drawing/2014/main" xmlns="" id="{72E01BBC-6972-742D-8394-06BC222C7DEE}"/>
              </a:ext>
            </a:extLst>
          </p:cNvPr>
          <p:cNvSpPr txBox="1"/>
          <p:nvPr/>
        </p:nvSpPr>
        <p:spPr>
          <a:xfrm>
            <a:off x="703729" y="1197622"/>
            <a:ext cx="6096000" cy="523220"/>
          </a:xfrm>
          <a:prstGeom prst="rect">
            <a:avLst/>
          </a:prstGeom>
          <a:noFill/>
        </p:spPr>
        <p:txBody>
          <a:bodyPr wrap="square">
            <a:spAutoFit/>
          </a:bodyPr>
          <a:lstStyle/>
          <a:p>
            <a:r>
              <a:rPr lang="en-US" sz="2800" b="1" dirty="0">
                <a:latin typeface="+mn-lt"/>
              </a:rPr>
              <a:t>Problems Solved</a:t>
            </a:r>
          </a:p>
        </p:txBody>
      </p:sp>
    </p:spTree>
    <p:extLst>
      <p:ext uri="{BB962C8B-B14F-4D97-AF65-F5344CB8AC3E}">
        <p14:creationId xmlns:p14="http://schemas.microsoft.com/office/powerpoint/2010/main" val="7833821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0D5042F7-31AD-EB82-69D0-D8516C19BA96}"/>
            </a:ext>
          </a:extLst>
        </p:cNvPr>
        <p:cNvGrpSpPr/>
        <p:nvPr/>
      </p:nvGrpSpPr>
      <p:grpSpPr>
        <a:xfrm>
          <a:off x="0" y="0"/>
          <a:ext cx="0" cy="0"/>
          <a:chOff x="0" y="0"/>
          <a:chExt cx="0" cy="0"/>
        </a:xfrm>
      </p:grpSpPr>
      <p:sp>
        <p:nvSpPr>
          <p:cNvPr id="8" name="Subtitle 1">
            <a:extLst>
              <a:ext uri="{FF2B5EF4-FFF2-40B4-BE49-F238E27FC236}">
                <a16:creationId xmlns:a16="http://schemas.microsoft.com/office/drawing/2014/main" xmlns="" id="{A45CD754-DAA2-3500-9C9E-1016D9534C61}"/>
              </a:ext>
            </a:extLst>
          </p:cNvPr>
          <p:cNvSpPr txBox="1">
            <a:spLocks/>
          </p:cNvSpPr>
          <p:nvPr/>
        </p:nvSpPr>
        <p:spPr>
          <a:xfrm>
            <a:off x="1046251" y="404410"/>
            <a:ext cx="10736446" cy="395050"/>
          </a:xfrm>
          <a:prstGeom prst="rect">
            <a:avLst/>
          </a:prstGeom>
        </p:spPr>
        <p:txBody>
          <a:bodyPr vert="horz" lIns="91440" tIns="45720" rIns="91440" bIns="45720" rtlCol="0">
            <a:noAutofit/>
          </a:bodyPr>
          <a:lstStyle>
            <a:defPPr>
              <a:defRPr lang="zh-CN"/>
            </a:defPPr>
            <a:lvl1pPr indent="0" eaLnBrk="0" fontAlgn="base" hangingPunct="0">
              <a:lnSpc>
                <a:spcPct val="90000"/>
              </a:lnSpc>
              <a:spcBef>
                <a:spcPct val="0"/>
              </a:spcBef>
              <a:spcAft>
                <a:spcPct val="0"/>
              </a:spcAft>
              <a:buFont typeface="Arial" panose="020B0604020202020204" pitchFamily="34" charset="0"/>
              <a:buNone/>
              <a:defRPr sz="2799" b="1" u="none">
                <a:solidFill>
                  <a:srgbClr val="990000"/>
                </a:solidFill>
                <a:latin typeface="Microsoft YaHei" panose="020B0503020204020204" pitchFamily="34" charset="-122"/>
                <a:ea typeface="Microsoft YaHei"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dirty="0"/>
              <a:t>Project Introduction</a:t>
            </a:r>
            <a:endParaRPr lang="zh-CN" altLang="en-US" dirty="0"/>
          </a:p>
        </p:txBody>
      </p:sp>
      <p:sp>
        <p:nvSpPr>
          <p:cNvPr id="12" name="矩形 11">
            <a:extLst>
              <a:ext uri="{FF2B5EF4-FFF2-40B4-BE49-F238E27FC236}">
                <a16:creationId xmlns:a16="http://schemas.microsoft.com/office/drawing/2014/main" xmlns="" id="{91FB7E77-9196-4CBB-4A6A-B6A554296358}"/>
              </a:ext>
            </a:extLst>
          </p:cNvPr>
          <p:cNvSpPr/>
          <p:nvPr/>
        </p:nvSpPr>
        <p:spPr>
          <a:xfrm>
            <a:off x="0" y="6435634"/>
            <a:ext cx="12192000" cy="422366"/>
          </a:xfrm>
          <a:prstGeom prst="rect">
            <a:avLst/>
          </a:prstGeom>
          <a:solidFill>
            <a:srgbClr val="D7E4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a:extLst>
              <a:ext uri="{FF2B5EF4-FFF2-40B4-BE49-F238E27FC236}">
                <a16:creationId xmlns:a16="http://schemas.microsoft.com/office/drawing/2014/main" xmlns="" id="{DB90F7B3-CEC8-BAE5-5BFA-3A916F877F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34034" y="4888851"/>
            <a:ext cx="1757966" cy="1757966"/>
          </a:xfrm>
          <a:prstGeom prst="rect">
            <a:avLst/>
          </a:prstGeom>
        </p:spPr>
      </p:pic>
      <p:sp>
        <p:nvSpPr>
          <p:cNvPr id="3" name="Content Placeholder 2">
            <a:extLst>
              <a:ext uri="{FF2B5EF4-FFF2-40B4-BE49-F238E27FC236}">
                <a16:creationId xmlns:a16="http://schemas.microsoft.com/office/drawing/2014/main" xmlns="" id="{22A200F5-8B9A-5136-2346-108C1ED86AA6}"/>
              </a:ext>
            </a:extLst>
          </p:cNvPr>
          <p:cNvSpPr>
            <a:spLocks noGrp="1"/>
          </p:cNvSpPr>
          <p:nvPr>
            <p:ph idx="1"/>
          </p:nvPr>
        </p:nvSpPr>
        <p:spPr>
          <a:xfrm>
            <a:off x="411936" y="1969149"/>
            <a:ext cx="10515600" cy="4351338"/>
          </a:xfrm>
        </p:spPr>
        <p:txBody>
          <a:bodyPr>
            <a:noAutofit/>
          </a:bodyPr>
          <a:lstStyle/>
          <a:p>
            <a:pPr marL="0" indent="0">
              <a:buNone/>
            </a:pPr>
            <a:r>
              <a:rPr lang="en-US" sz="2000" dirty="0"/>
              <a:t>Our primary target users are </a:t>
            </a:r>
            <a:r>
              <a:rPr lang="en-US" sz="2000" b="1" dirty="0"/>
              <a:t>students and young adults in their 20s</a:t>
            </a:r>
            <a:r>
              <a:rPr lang="en-US" sz="2000" dirty="0"/>
              <a:t>, a group that is highly connected, tech-oriented, and increasingly affected by mental health challenges.</a:t>
            </a:r>
          </a:p>
          <a:p>
            <a:r>
              <a:rPr lang="en-US" sz="2000" dirty="0"/>
              <a:t> </a:t>
            </a:r>
            <a:r>
              <a:rPr lang="en-US" sz="2000" b="1" dirty="0"/>
              <a:t>University and College Students:</a:t>
            </a:r>
            <a:r>
              <a:rPr lang="en-US" sz="2000" dirty="0"/>
              <a:t> Often face high levels of stress, anxiety, and self-pressure due to academic, social, and financial challenges. The platform provides a </a:t>
            </a:r>
            <a:r>
              <a:rPr lang="en-US" sz="2000" b="1" dirty="0"/>
              <a:t>private, judgment-free space</a:t>
            </a:r>
            <a:r>
              <a:rPr lang="en-US" sz="2000" dirty="0"/>
              <a:t> for journaling and self-reflection, helping them recognize early signs of depression.</a:t>
            </a:r>
          </a:p>
          <a:p>
            <a:r>
              <a:rPr lang="en-US" sz="2000" dirty="0"/>
              <a:t> </a:t>
            </a:r>
            <a:r>
              <a:rPr lang="en-US" sz="2000" b="1" dirty="0"/>
              <a:t>Young Adults in Early Careers (20–29 years):</a:t>
            </a:r>
            <a:r>
              <a:rPr lang="en-US" sz="2000" dirty="0"/>
              <a:t> This group experiences significant lifestyle changes, career stress, and emotional instability. The platform helps them </a:t>
            </a:r>
            <a:r>
              <a:rPr lang="en-US" sz="2000" b="1" dirty="0"/>
              <a:t>track their emotional wellbeing</a:t>
            </a:r>
            <a:r>
              <a:rPr lang="en-US" sz="2000" dirty="0"/>
              <a:t> and connect with </a:t>
            </a:r>
            <a:r>
              <a:rPr lang="en-US" sz="2000" b="1" dirty="0"/>
              <a:t>professional therapists</a:t>
            </a:r>
            <a:r>
              <a:rPr lang="en-US" sz="2000" dirty="0"/>
              <a:t> when necessary.</a:t>
            </a:r>
          </a:p>
          <a:p>
            <a:pPr marL="0" indent="0">
              <a:buNone/>
            </a:pPr>
            <a:r>
              <a:rPr lang="en-US" sz="2000" dirty="0"/>
              <a:t>Our design and interaction style are tailored to </a:t>
            </a:r>
            <a:r>
              <a:rPr lang="en-US" sz="2000" b="1" dirty="0"/>
              <a:t>young users’ digital habits</a:t>
            </a:r>
            <a:r>
              <a:rPr lang="en-US" sz="2000" dirty="0"/>
              <a:t>, focusing on </a:t>
            </a:r>
            <a:r>
              <a:rPr lang="en-US" sz="2000" b="1" dirty="0"/>
              <a:t>simplicity, privacy, and engagement</a:t>
            </a:r>
            <a:r>
              <a:rPr lang="en-US" sz="2000" dirty="0"/>
              <a:t>, encouraging consistent use and reducing the stigma around mental health discussions.</a:t>
            </a:r>
          </a:p>
        </p:txBody>
      </p:sp>
      <p:sp>
        <p:nvSpPr>
          <p:cNvPr id="5" name="TextBox 4">
            <a:extLst>
              <a:ext uri="{FF2B5EF4-FFF2-40B4-BE49-F238E27FC236}">
                <a16:creationId xmlns:a16="http://schemas.microsoft.com/office/drawing/2014/main" xmlns="" id="{F535A456-266B-70D5-9E2A-C3C9B7668828}"/>
              </a:ext>
            </a:extLst>
          </p:cNvPr>
          <p:cNvSpPr txBox="1"/>
          <p:nvPr/>
        </p:nvSpPr>
        <p:spPr>
          <a:xfrm>
            <a:off x="587188" y="1330782"/>
            <a:ext cx="6096000" cy="523220"/>
          </a:xfrm>
          <a:prstGeom prst="rect">
            <a:avLst/>
          </a:prstGeom>
          <a:noFill/>
        </p:spPr>
        <p:txBody>
          <a:bodyPr wrap="square">
            <a:spAutoFit/>
          </a:bodyPr>
          <a:lstStyle/>
          <a:p>
            <a:r>
              <a:rPr lang="en-US" sz="2800" b="1" dirty="0">
                <a:latin typeface="+mn-lt"/>
              </a:rPr>
              <a:t>Project</a:t>
            </a:r>
            <a:r>
              <a:rPr lang="en-US" sz="2800" dirty="0"/>
              <a:t> </a:t>
            </a:r>
            <a:r>
              <a:rPr lang="en-US" sz="2800" b="1" dirty="0">
                <a:latin typeface="+mn-lt"/>
              </a:rPr>
              <a:t>Features</a:t>
            </a:r>
            <a:r>
              <a:rPr lang="en-US" sz="2800" dirty="0"/>
              <a:t> </a:t>
            </a:r>
          </a:p>
        </p:txBody>
      </p:sp>
    </p:spTree>
    <p:extLst>
      <p:ext uri="{BB962C8B-B14F-4D97-AF65-F5344CB8AC3E}">
        <p14:creationId xmlns:p14="http://schemas.microsoft.com/office/powerpoint/2010/main" val="42405483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ubtitle 1">
            <a:extLst>
              <a:ext uri="{FF2B5EF4-FFF2-40B4-BE49-F238E27FC236}">
                <a16:creationId xmlns:a16="http://schemas.microsoft.com/office/drawing/2014/main" xmlns="" id="{C6ADB1D9-336D-594D-9418-4BC486843D21}"/>
              </a:ext>
            </a:extLst>
          </p:cNvPr>
          <p:cNvSpPr txBox="1">
            <a:spLocks/>
          </p:cNvSpPr>
          <p:nvPr/>
        </p:nvSpPr>
        <p:spPr>
          <a:xfrm>
            <a:off x="1046251" y="404410"/>
            <a:ext cx="10736446" cy="39505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9pPr>
          </a:lstStyle>
          <a:p>
            <a:pPr marL="0" indent="0" eaLnBrk="0" fontAlgn="base" hangingPunct="0">
              <a:spcBef>
                <a:spcPct val="0"/>
              </a:spcBef>
              <a:spcAft>
                <a:spcPct val="0"/>
              </a:spcAft>
              <a:buNone/>
            </a:pPr>
            <a:r>
              <a:rPr sz="2799" b="1" u="none" dirty="0">
                <a:solidFill>
                  <a:srgbClr val="990000"/>
                </a:solidFill>
                <a:latin typeface="Microsoft YaHei" panose="020B0503020204020204" pitchFamily="34" charset="-122"/>
                <a:ea typeface="Microsoft YaHei" panose="020B0503020204020204" pitchFamily="34" charset="-122"/>
              </a:rPr>
              <a:t>Technical Architecture</a:t>
            </a:r>
            <a:endParaRPr lang="zh-CN" altLang="en-US" sz="2799" b="1" dirty="0">
              <a:solidFill>
                <a:srgbClr val="990000"/>
              </a:solidFill>
              <a:latin typeface="Microsoft YaHei" panose="020B0503020204020204" pitchFamily="34" charset="-122"/>
              <a:ea typeface="Microsoft YaHei" panose="020B0503020204020204" pitchFamily="34" charset="-122"/>
              <a:cs typeface="Arial" pitchFamily="34" charset="0"/>
            </a:endParaRPr>
          </a:p>
        </p:txBody>
      </p:sp>
      <p:sp>
        <p:nvSpPr>
          <p:cNvPr id="9" name="Content Placeholder 2">
            <a:extLst>
              <a:ext uri="{FF2B5EF4-FFF2-40B4-BE49-F238E27FC236}">
                <a16:creationId xmlns:a16="http://schemas.microsoft.com/office/drawing/2014/main" xmlns="" id="{1D7B0514-4060-0E4B-809B-B1B2E3258AB4}"/>
              </a:ext>
            </a:extLst>
          </p:cNvPr>
          <p:cNvSpPr>
            <a:spLocks noGrp="1"/>
          </p:cNvSpPr>
          <p:nvPr>
            <p:ph idx="1"/>
          </p:nvPr>
        </p:nvSpPr>
        <p:spPr>
          <a:xfrm>
            <a:off x="731317" y="1633372"/>
            <a:ext cx="10677711" cy="2242342"/>
          </a:xfrm>
        </p:spPr>
        <p:txBody>
          <a:bodyPr vert="horz" lIns="91440" tIns="45720" rIns="91440" bIns="45720" rtlCol="0">
            <a:normAutofit fontScale="77500" lnSpcReduction="20000"/>
          </a:bodyPr>
          <a:lstStyle/>
          <a:p>
            <a:pPr marL="342763" indent="-342763">
              <a:lnSpc>
                <a:spcPct val="150000"/>
              </a:lnSpc>
            </a:pPr>
            <a:r>
              <a:rPr sz="1599" dirty="0"/>
              <a:t>Overview</a:t>
            </a:r>
            <a:endParaRPr lang="en-US" altLang="zh-CN" sz="1599" dirty="0"/>
          </a:p>
          <a:p>
            <a:pPr marL="342763" indent="-342763">
              <a:lnSpc>
                <a:spcPct val="150000"/>
              </a:lnSpc>
            </a:pPr>
            <a:r>
              <a:rPr sz="1599" dirty="0"/>
              <a:t>Key technologies you selected and their collaboration with other functional modules</a:t>
            </a:r>
            <a:endParaRPr lang="en-US" altLang="zh-CN" sz="1599" dirty="0"/>
          </a:p>
          <a:p>
            <a:pPr marL="342763" indent="-342763">
              <a:lnSpc>
                <a:spcPct val="150000"/>
              </a:lnSpc>
            </a:pPr>
            <a:r>
              <a:rPr lang="en-US" sz="1599" dirty="0"/>
              <a:t>R</a:t>
            </a:r>
            <a:r>
              <a:rPr sz="1599" dirty="0"/>
              <a:t>oles of the Huawei Cloud technologies you used in the project</a:t>
            </a:r>
            <a:endParaRPr lang="en-US" altLang="zh-CN" sz="1599" dirty="0"/>
          </a:p>
          <a:p>
            <a:pPr marL="342763" indent="-342763">
              <a:lnSpc>
                <a:spcPct val="150000"/>
              </a:lnSpc>
            </a:pPr>
            <a:r>
              <a:rPr sz="1599" dirty="0"/>
              <a:t>Implementation principles</a:t>
            </a:r>
            <a:endParaRPr lang="en-US" altLang="zh-CN" sz="1599" dirty="0"/>
          </a:p>
          <a:p>
            <a:pPr marL="342763" indent="-342763">
              <a:lnSpc>
                <a:spcPct val="150000"/>
              </a:lnSpc>
            </a:pPr>
            <a:r>
              <a:rPr lang="en-US" altLang="zh-CN" sz="1599" dirty="0"/>
              <a:t>Solution deployment architecture diagram (including service flows)</a:t>
            </a:r>
          </a:p>
          <a:p>
            <a:pPr marL="342763" indent="-342763">
              <a:lnSpc>
                <a:spcPct val="150000"/>
              </a:lnSpc>
            </a:pPr>
            <a:r>
              <a:rPr sz="1599" dirty="0"/>
              <a:t>Technology maturity assessment, such as whether the technical roadmap is clear and tools are mature and reliable</a:t>
            </a:r>
          </a:p>
          <a:p>
            <a:pPr marL="342763" indent="-342763">
              <a:lnSpc>
                <a:spcPct val="150000"/>
              </a:lnSpc>
            </a:pPr>
            <a:endParaRPr lang="zh-CN" altLang="en-US" sz="1599" dirty="0"/>
          </a:p>
        </p:txBody>
      </p:sp>
      <p:sp>
        <p:nvSpPr>
          <p:cNvPr id="12" name="矩形 11"/>
          <p:cNvSpPr/>
          <p:nvPr/>
        </p:nvSpPr>
        <p:spPr>
          <a:xfrm>
            <a:off x="0" y="6435634"/>
            <a:ext cx="12192000" cy="422366"/>
          </a:xfrm>
          <a:prstGeom prst="rect">
            <a:avLst/>
          </a:prstGeom>
          <a:solidFill>
            <a:srgbClr val="D7E4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34034" y="4888851"/>
            <a:ext cx="1757966" cy="1757966"/>
          </a:xfrm>
          <a:prstGeom prst="rect">
            <a:avLst/>
          </a:prstGeom>
        </p:spPr>
      </p:pic>
    </p:spTree>
    <p:extLst>
      <p:ext uri="{BB962C8B-B14F-4D97-AF65-F5344CB8AC3E}">
        <p14:creationId xmlns:p14="http://schemas.microsoft.com/office/powerpoint/2010/main" val="17044335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ubtitle 1">
            <a:extLst>
              <a:ext uri="{FF2B5EF4-FFF2-40B4-BE49-F238E27FC236}">
                <a16:creationId xmlns:a16="http://schemas.microsoft.com/office/drawing/2014/main" xmlns="" id="{C6ADB1D9-336D-594D-9418-4BC486843D21}"/>
              </a:ext>
            </a:extLst>
          </p:cNvPr>
          <p:cNvSpPr txBox="1">
            <a:spLocks/>
          </p:cNvSpPr>
          <p:nvPr/>
        </p:nvSpPr>
        <p:spPr>
          <a:xfrm>
            <a:off x="1046251" y="404410"/>
            <a:ext cx="10736446" cy="39505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9pPr>
          </a:lstStyle>
          <a:p>
            <a:pPr marL="0" indent="0" eaLnBrk="0" fontAlgn="base" hangingPunct="0">
              <a:spcBef>
                <a:spcPct val="0"/>
              </a:spcBef>
              <a:spcAft>
                <a:spcPct val="0"/>
              </a:spcAft>
              <a:buNone/>
            </a:pPr>
            <a:r>
              <a:rPr sz="2799" b="1" u="none" dirty="0">
                <a:solidFill>
                  <a:srgbClr val="990000"/>
                </a:solidFill>
                <a:latin typeface="Microsoft YaHei" panose="020B0503020204020204" pitchFamily="34" charset="-122"/>
                <a:ea typeface="Microsoft YaHei" panose="020B0503020204020204" pitchFamily="34" charset="-122"/>
              </a:rPr>
              <a:t>Technical Architecture</a:t>
            </a:r>
            <a:r>
              <a:rPr lang="en-US" sz="2799" b="1" u="none" dirty="0">
                <a:solidFill>
                  <a:srgbClr val="990000"/>
                </a:solidFill>
                <a:latin typeface="Microsoft YaHei" panose="020B0503020204020204" pitchFamily="34" charset="-122"/>
                <a:ea typeface="Microsoft YaHei" panose="020B0503020204020204" pitchFamily="34" charset="-122"/>
              </a:rPr>
              <a:t> </a:t>
            </a:r>
            <a:r>
              <a:rPr lang="en-US" sz="2000" b="1" u="none" dirty="0">
                <a:solidFill>
                  <a:srgbClr val="990000"/>
                </a:solidFill>
                <a:latin typeface="Microsoft YaHei" panose="020B0503020204020204" pitchFamily="34" charset="-122"/>
                <a:ea typeface="Microsoft YaHei" panose="020B0503020204020204" pitchFamily="34" charset="-122"/>
              </a:rPr>
              <a:t>: </a:t>
            </a:r>
            <a:r>
              <a:rPr lang="en-US" sz="2000" b="1" dirty="0">
                <a:solidFill>
                  <a:srgbClr val="990000"/>
                </a:solidFill>
                <a:latin typeface="Microsoft YaHei" panose="020B0503020204020204" pitchFamily="34" charset="-122"/>
                <a:ea typeface="Microsoft YaHei" panose="020B0503020204020204" pitchFamily="34" charset="-122"/>
              </a:rPr>
              <a:t>S</a:t>
            </a:r>
            <a:r>
              <a:rPr lang="en-US" sz="2000" b="1" u="none" dirty="0">
                <a:solidFill>
                  <a:srgbClr val="990000"/>
                </a:solidFill>
                <a:latin typeface="Microsoft YaHei" panose="020B0503020204020204" pitchFamily="34" charset="-122"/>
                <a:ea typeface="Microsoft YaHei" panose="020B0503020204020204" pitchFamily="34" charset="-122"/>
              </a:rPr>
              <a:t>olution Overview</a:t>
            </a:r>
            <a:endParaRPr sz="2000" b="1" u="none" dirty="0">
              <a:solidFill>
                <a:srgbClr val="990000"/>
              </a:solidFill>
              <a:latin typeface="Microsoft YaHei" panose="020B0503020204020204" pitchFamily="34" charset="-122"/>
              <a:ea typeface="Microsoft YaHei" panose="020B0503020204020204" pitchFamily="34" charset="-122"/>
            </a:endParaRPr>
          </a:p>
        </p:txBody>
      </p:sp>
      <p:sp>
        <p:nvSpPr>
          <p:cNvPr id="9" name="Content Placeholder 2">
            <a:extLst>
              <a:ext uri="{FF2B5EF4-FFF2-40B4-BE49-F238E27FC236}">
                <a16:creationId xmlns:a16="http://schemas.microsoft.com/office/drawing/2014/main" xmlns="" id="{1D7B0514-4060-0E4B-809B-B1B2E3258AB4}"/>
              </a:ext>
            </a:extLst>
          </p:cNvPr>
          <p:cNvSpPr>
            <a:spLocks noGrp="1"/>
          </p:cNvSpPr>
          <p:nvPr>
            <p:ph idx="1"/>
          </p:nvPr>
        </p:nvSpPr>
        <p:spPr>
          <a:xfrm>
            <a:off x="681890" y="993284"/>
            <a:ext cx="10729366" cy="357721"/>
          </a:xfrm>
        </p:spPr>
        <p:txBody>
          <a:bodyPr>
            <a:normAutofit fontScale="77500" lnSpcReduction="20000"/>
          </a:bodyPr>
          <a:lstStyle/>
          <a:p>
            <a:pPr marL="285636" indent="-285636">
              <a:lnSpc>
                <a:spcPct val="150000"/>
              </a:lnSpc>
              <a:buFont typeface="Arial" panose="020B0604020202020204" pitchFamily="34" charset="0"/>
              <a:buChar char="•"/>
            </a:pPr>
            <a:r>
              <a:rPr sz="1600" u="none" dirty="0">
                <a:solidFill>
                  <a:schemeClr val="bg1">
                    <a:lumMod val="65000"/>
                  </a:schemeClr>
                </a:solidFill>
              </a:rPr>
              <a:t>Solution deployment architecture diagram</a:t>
            </a:r>
          </a:p>
        </p:txBody>
      </p:sp>
      <p:sp>
        <p:nvSpPr>
          <p:cNvPr id="12" name="矩形 11"/>
          <p:cNvSpPr/>
          <p:nvPr/>
        </p:nvSpPr>
        <p:spPr>
          <a:xfrm>
            <a:off x="0" y="6435634"/>
            <a:ext cx="12192000" cy="422366"/>
          </a:xfrm>
          <a:prstGeom prst="rect">
            <a:avLst/>
          </a:prstGeom>
          <a:solidFill>
            <a:srgbClr val="D7E4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lumMod val="65000"/>
                </a:schemeClr>
              </a:solidFill>
            </a:endParaRPr>
          </a:p>
        </p:txBody>
      </p:sp>
      <p:pic>
        <p:nvPicPr>
          <p:cNvPr id="11" name="图片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34034" y="4888851"/>
            <a:ext cx="1757966" cy="1757966"/>
          </a:xfrm>
          <a:prstGeom prst="rect">
            <a:avLst/>
          </a:prstGeom>
        </p:spPr>
      </p:pic>
      <p:pic>
        <p:nvPicPr>
          <p:cNvPr id="4" name="Picture 3" descr="A screenshot of a computer screen&#10;&#10;Description automatically generated">
            <a:extLst>
              <a:ext uri="{FF2B5EF4-FFF2-40B4-BE49-F238E27FC236}">
                <a16:creationId xmlns:a16="http://schemas.microsoft.com/office/drawing/2014/main" xmlns="" id="{185E8D5A-16F0-C0C7-D9CB-6E249F4D576B}"/>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8706" t="11030" r="8683" b="5799"/>
          <a:stretch/>
        </p:blipFill>
        <p:spPr>
          <a:xfrm>
            <a:off x="6976297" y="933412"/>
            <a:ext cx="3894194" cy="5703810"/>
          </a:xfrm>
          <a:prstGeom prst="rect">
            <a:avLst/>
          </a:prstGeom>
        </p:spPr>
      </p:pic>
      <p:sp>
        <p:nvSpPr>
          <p:cNvPr id="25" name="TextBox 24">
            <a:extLst>
              <a:ext uri="{FF2B5EF4-FFF2-40B4-BE49-F238E27FC236}">
                <a16:creationId xmlns:a16="http://schemas.microsoft.com/office/drawing/2014/main" xmlns="" id="{FDE2C961-F4D3-8548-50B8-A235BB840D13}"/>
              </a:ext>
            </a:extLst>
          </p:cNvPr>
          <p:cNvSpPr txBox="1"/>
          <p:nvPr/>
        </p:nvSpPr>
        <p:spPr>
          <a:xfrm>
            <a:off x="213841" y="1351005"/>
            <a:ext cx="6094854" cy="4770537"/>
          </a:xfrm>
          <a:prstGeom prst="rect">
            <a:avLst/>
          </a:prstGeom>
          <a:noFill/>
        </p:spPr>
        <p:txBody>
          <a:bodyPr wrap="square">
            <a:spAutoFit/>
          </a:bodyPr>
          <a:lstStyle/>
          <a:p>
            <a:r>
              <a:rPr lang="en-US" sz="1600" b="1" dirty="0" err="1"/>
              <a:t>Depresso</a:t>
            </a:r>
            <a:r>
              <a:rPr lang="en-US" sz="1600" b="1" dirty="0"/>
              <a:t> - Architecture Overview</a:t>
            </a:r>
          </a:p>
          <a:p>
            <a:endParaRPr lang="en-US" sz="1200" b="1" dirty="0"/>
          </a:p>
          <a:p>
            <a:r>
              <a:rPr lang="en-US" sz="1200" b="1" dirty="0" err="1"/>
              <a:t>Depresso</a:t>
            </a:r>
            <a:r>
              <a:rPr lang="en-US" sz="1200" dirty="0"/>
              <a:t> is an AI-powered mental health companion app integrating real-time health metrics and personalized insights. It combines </a:t>
            </a:r>
            <a:r>
              <a:rPr lang="en-US" sz="1200" b="1" dirty="0"/>
              <a:t>iOS frontend</a:t>
            </a:r>
            <a:r>
              <a:rPr lang="en-US" sz="1200" dirty="0"/>
              <a:t>, </a:t>
            </a:r>
            <a:r>
              <a:rPr lang="en-US" sz="1200" b="1" dirty="0"/>
              <a:t>Node.js backend</a:t>
            </a:r>
            <a:r>
              <a:rPr lang="en-US" sz="1200" dirty="0"/>
              <a:t>, and </a:t>
            </a:r>
            <a:r>
              <a:rPr lang="en-US" sz="1200" b="1" dirty="0"/>
              <a:t>Huawei Cloud AI</a:t>
            </a:r>
            <a:r>
              <a:rPr lang="en-US" sz="1200" dirty="0"/>
              <a:t> to deliver proactive mental wellness support.</a:t>
            </a:r>
          </a:p>
          <a:p>
            <a:r>
              <a:rPr lang="en-US" sz="1200" b="1" dirty="0"/>
              <a:t>Key Components:</a:t>
            </a:r>
          </a:p>
          <a:p>
            <a:endParaRPr lang="en-US" sz="1200" dirty="0"/>
          </a:p>
          <a:p>
            <a:pPr>
              <a:buFont typeface="Arial" panose="020B0604020202020204" pitchFamily="34" charset="0"/>
              <a:buChar char="•"/>
            </a:pPr>
            <a:r>
              <a:rPr lang="en-US" sz="1200" b="1" dirty="0"/>
              <a:t>iOS App (</a:t>
            </a:r>
            <a:r>
              <a:rPr lang="en-US" sz="1200" b="1" dirty="0" err="1"/>
              <a:t>SwiftUI</a:t>
            </a:r>
            <a:r>
              <a:rPr lang="en-US" sz="1200" b="1" dirty="0"/>
              <a:t> + TCA):</a:t>
            </a:r>
            <a:r>
              <a:rPr lang="en-US" sz="1200" dirty="0"/>
              <a:t> Tracks health (HealthKit), journals moods, sets goals, and enables community support.</a:t>
            </a:r>
          </a:p>
          <a:p>
            <a:pPr>
              <a:buFont typeface="Arial" panose="020B0604020202020204" pitchFamily="34" charset="0"/>
              <a:buChar char="•"/>
            </a:pPr>
            <a:endParaRPr lang="en-US" sz="1200" dirty="0"/>
          </a:p>
          <a:p>
            <a:pPr>
              <a:buFont typeface="Arial" panose="020B0604020202020204" pitchFamily="34" charset="0"/>
              <a:buChar char="•"/>
            </a:pPr>
            <a:r>
              <a:rPr lang="en-US" sz="1200" b="1" dirty="0"/>
              <a:t>Backend (Node.js + Express):</a:t>
            </a:r>
            <a:r>
              <a:rPr lang="en-US" sz="1200" dirty="0"/>
              <a:t> Manages user data, authentication (JWT), API endpoints, and communicates with AI services.</a:t>
            </a:r>
          </a:p>
          <a:p>
            <a:pPr>
              <a:buFont typeface="Arial" panose="020B0604020202020204" pitchFamily="34" charset="0"/>
              <a:buChar char="•"/>
            </a:pPr>
            <a:endParaRPr lang="en-US" sz="1200" dirty="0"/>
          </a:p>
          <a:p>
            <a:pPr>
              <a:buFont typeface="Arial" panose="020B0604020202020204" pitchFamily="34" charset="0"/>
              <a:buChar char="•"/>
            </a:pPr>
            <a:r>
              <a:rPr lang="en-US" sz="1200" b="1" dirty="0"/>
              <a:t>Huawei Cloud (</a:t>
            </a:r>
            <a:r>
              <a:rPr lang="en-US" sz="1200" b="1" dirty="0" err="1"/>
              <a:t>Qwen</a:t>
            </a:r>
            <a:r>
              <a:rPr lang="en-US" sz="1200" b="1" dirty="0"/>
              <a:t> AI, 14B):</a:t>
            </a:r>
            <a:r>
              <a:rPr lang="en-US" sz="1200" dirty="0"/>
              <a:t> Provides AI chat support, sentiment analysis, depression risk detection, and personalized recommendations.</a:t>
            </a:r>
          </a:p>
          <a:p>
            <a:pPr>
              <a:buFont typeface="Arial" panose="020B0604020202020204" pitchFamily="34" charset="0"/>
              <a:buChar char="•"/>
            </a:pPr>
            <a:endParaRPr lang="en-US" sz="1200" dirty="0"/>
          </a:p>
          <a:p>
            <a:r>
              <a:rPr lang="en-US" sz="1200" b="1" dirty="0"/>
              <a:t>Architecture Highlights:</a:t>
            </a:r>
            <a:endParaRPr lang="en-US" sz="1200" dirty="0"/>
          </a:p>
          <a:p>
            <a:pPr>
              <a:buFont typeface="Arial" panose="020B0604020202020204" pitchFamily="34" charset="0"/>
              <a:buChar char="•"/>
            </a:pPr>
            <a:r>
              <a:rPr lang="en-US" sz="1200" dirty="0"/>
              <a:t>Secure data flow with </a:t>
            </a:r>
            <a:r>
              <a:rPr lang="en-US" sz="1200" b="1" dirty="0"/>
              <a:t>HTTPS/TLS</a:t>
            </a:r>
            <a:r>
              <a:rPr lang="en-US" sz="1200" dirty="0"/>
              <a:t>, JWT, and Keychain storage.</a:t>
            </a:r>
          </a:p>
          <a:p>
            <a:pPr>
              <a:buFont typeface="Arial" panose="020B0604020202020204" pitchFamily="34" charset="0"/>
              <a:buChar char="•"/>
            </a:pPr>
            <a:r>
              <a:rPr lang="en-US" sz="1200" dirty="0"/>
              <a:t>Scalable cloud deployment using ECS, RDS, Redis, ELB.</a:t>
            </a:r>
          </a:p>
          <a:p>
            <a:pPr>
              <a:buFont typeface="Arial" panose="020B0604020202020204" pitchFamily="34" charset="0"/>
              <a:buChar char="•"/>
            </a:pPr>
            <a:r>
              <a:rPr lang="en-US" sz="1200" dirty="0"/>
              <a:t>AI-driven insights integrated with health metrics for early detection and personalized interventions.</a:t>
            </a:r>
          </a:p>
          <a:p>
            <a:r>
              <a:rPr lang="en-US" sz="1200" b="1" dirty="0"/>
              <a:t>Current Status:</a:t>
            </a:r>
            <a:r>
              <a:rPr lang="en-US" sz="1200" dirty="0"/>
              <a:t> Local development; planned migration to Huawei Cloud for production with global reach.</a:t>
            </a:r>
          </a:p>
          <a:p>
            <a:r>
              <a:rPr lang="en-US" sz="1200" b="1" dirty="0"/>
              <a:t>Impact:</a:t>
            </a:r>
            <a:r>
              <a:rPr lang="en-US" sz="1200" dirty="0"/>
              <a:t> Combines physical and mental health data, 24/7 AI support, and community engagement, demonstrating an innovative, scalable, and secure mental health solution.</a:t>
            </a:r>
          </a:p>
        </p:txBody>
      </p:sp>
    </p:spTree>
    <p:extLst>
      <p:ext uri="{BB962C8B-B14F-4D97-AF65-F5344CB8AC3E}">
        <p14:creationId xmlns:p14="http://schemas.microsoft.com/office/powerpoint/2010/main" val="30993993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ubtitle 1">
            <a:extLst>
              <a:ext uri="{FF2B5EF4-FFF2-40B4-BE49-F238E27FC236}">
                <a16:creationId xmlns:a16="http://schemas.microsoft.com/office/drawing/2014/main" xmlns="" id="{C6ADB1D9-336D-594D-9418-4BC486843D21}"/>
              </a:ext>
            </a:extLst>
          </p:cNvPr>
          <p:cNvSpPr txBox="1">
            <a:spLocks/>
          </p:cNvSpPr>
          <p:nvPr/>
        </p:nvSpPr>
        <p:spPr>
          <a:xfrm>
            <a:off x="1046251" y="404410"/>
            <a:ext cx="10736446" cy="39505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9pPr>
          </a:lstStyle>
          <a:p>
            <a:pPr marL="0" indent="0" eaLnBrk="0" fontAlgn="base" hangingPunct="0">
              <a:spcBef>
                <a:spcPct val="0"/>
              </a:spcBef>
              <a:spcAft>
                <a:spcPct val="0"/>
              </a:spcAft>
              <a:buNone/>
            </a:pPr>
            <a:r>
              <a:rPr sz="2799" b="1" u="none" dirty="0">
                <a:solidFill>
                  <a:srgbClr val="990000"/>
                </a:solidFill>
                <a:latin typeface="Microsoft YaHei" panose="020B0503020204020204" pitchFamily="34" charset="-122"/>
                <a:ea typeface="Microsoft YaHei" panose="020B0503020204020204" pitchFamily="34" charset="-122"/>
              </a:rPr>
              <a:t> </a:t>
            </a:r>
            <a:r>
              <a:rPr lang="en-US" sz="2799" b="1" dirty="0">
                <a:solidFill>
                  <a:srgbClr val="990000"/>
                </a:solidFill>
                <a:latin typeface="Microsoft YaHei" panose="020B0503020204020204" pitchFamily="34" charset="-122"/>
                <a:ea typeface="Microsoft YaHei" panose="020B0503020204020204" pitchFamily="34" charset="-122"/>
              </a:rPr>
              <a:t>Technical Architecture</a:t>
            </a:r>
            <a:r>
              <a:rPr lang="en-US" sz="2799" b="1" u="none" dirty="0">
                <a:solidFill>
                  <a:srgbClr val="990000"/>
                </a:solidFill>
                <a:latin typeface="Microsoft YaHei" panose="020B0503020204020204" pitchFamily="34" charset="-122"/>
                <a:ea typeface="Microsoft YaHei" panose="020B0503020204020204" pitchFamily="34" charset="-122"/>
              </a:rPr>
              <a:t> </a:t>
            </a:r>
            <a:r>
              <a:rPr lang="en-US" sz="2000" b="1" dirty="0">
                <a:solidFill>
                  <a:srgbClr val="990000"/>
                </a:solidFill>
                <a:latin typeface="Microsoft YaHei" panose="020B0503020204020204" pitchFamily="34" charset="-122"/>
                <a:ea typeface="Microsoft YaHei" panose="020B0503020204020204" pitchFamily="34" charset="-122"/>
              </a:rPr>
              <a:t>: Huawei Cloud </a:t>
            </a:r>
            <a:r>
              <a:rPr lang="en-US" sz="2000" b="1" u="none" dirty="0">
                <a:solidFill>
                  <a:srgbClr val="990000"/>
                </a:solidFill>
                <a:latin typeface="Microsoft YaHei" panose="020B0503020204020204" pitchFamily="34" charset="-122"/>
                <a:ea typeface="Microsoft YaHei" panose="020B0503020204020204" pitchFamily="34" charset="-122"/>
              </a:rPr>
              <a:t>Service Dashboard</a:t>
            </a:r>
            <a:endParaRPr sz="2799" b="1" u="none" dirty="0">
              <a:solidFill>
                <a:srgbClr val="990000"/>
              </a:solidFill>
              <a:latin typeface="Microsoft YaHei" panose="020B0503020204020204" pitchFamily="34" charset="-122"/>
              <a:ea typeface="Microsoft YaHei" panose="020B0503020204020204" pitchFamily="34" charset="-122"/>
            </a:endParaRPr>
          </a:p>
        </p:txBody>
      </p:sp>
      <p:sp>
        <p:nvSpPr>
          <p:cNvPr id="5" name="Rectangle 4"/>
          <p:cNvSpPr/>
          <p:nvPr/>
        </p:nvSpPr>
        <p:spPr>
          <a:xfrm>
            <a:off x="197473" y="1032607"/>
            <a:ext cx="4185761" cy="338554"/>
          </a:xfrm>
          <a:prstGeom prst="rect">
            <a:avLst/>
          </a:prstGeom>
        </p:spPr>
        <p:txBody>
          <a:bodyPr wrap="none">
            <a:spAutoFit/>
          </a:bodyPr>
          <a:lstStyle/>
          <a:p>
            <a:r>
              <a:rPr lang="en-US" sz="1600" b="1" dirty="0"/>
              <a:t>Creating an OBS </a:t>
            </a:r>
            <a:r>
              <a:rPr lang="en-US" sz="1600" b="1" dirty="0" smtClean="0"/>
              <a:t>Bucket and upload data</a:t>
            </a:r>
            <a:endParaRPr lang="en-US" sz="1600" b="1" dirty="0"/>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18011" y="1460381"/>
            <a:ext cx="3744686" cy="1667868"/>
          </a:xfrm>
          <a:prstGeom prst="rect">
            <a:avLst/>
          </a:prstGeom>
        </p:spPr>
      </p:pic>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765165" y="1140423"/>
            <a:ext cx="6768330" cy="2470306"/>
          </a:xfrm>
          <a:prstGeom prst="rect">
            <a:avLst/>
          </a:prstGeom>
        </p:spPr>
      </p:pic>
      <p:pic>
        <p:nvPicPr>
          <p:cNvPr id="10" name="Picture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96387" y="3789170"/>
            <a:ext cx="7776755" cy="2832365"/>
          </a:xfrm>
          <a:prstGeom prst="rect">
            <a:avLst/>
          </a:prstGeom>
        </p:spPr>
      </p:pic>
    </p:spTree>
    <p:extLst>
      <p:ext uri="{BB962C8B-B14F-4D97-AF65-F5344CB8AC3E}">
        <p14:creationId xmlns:p14="http://schemas.microsoft.com/office/powerpoint/2010/main" val="14057156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ubtitle 1">
            <a:extLst>
              <a:ext uri="{FF2B5EF4-FFF2-40B4-BE49-F238E27FC236}">
                <a16:creationId xmlns:a16="http://schemas.microsoft.com/office/drawing/2014/main" xmlns="" id="{C6ADB1D9-336D-594D-9418-4BC486843D21}"/>
              </a:ext>
            </a:extLst>
          </p:cNvPr>
          <p:cNvSpPr txBox="1">
            <a:spLocks/>
          </p:cNvSpPr>
          <p:nvPr/>
        </p:nvSpPr>
        <p:spPr>
          <a:xfrm>
            <a:off x="1046251" y="404410"/>
            <a:ext cx="10736446" cy="39505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9pPr>
          </a:lstStyle>
          <a:p>
            <a:pPr marL="0" indent="0" eaLnBrk="0" fontAlgn="base" hangingPunct="0">
              <a:spcBef>
                <a:spcPct val="0"/>
              </a:spcBef>
              <a:spcAft>
                <a:spcPct val="0"/>
              </a:spcAft>
              <a:buNone/>
            </a:pPr>
            <a:r>
              <a:rPr sz="2799" b="1" u="none" dirty="0">
                <a:solidFill>
                  <a:srgbClr val="990000"/>
                </a:solidFill>
                <a:latin typeface="Microsoft YaHei" panose="020B0503020204020204" pitchFamily="34" charset="-122"/>
                <a:ea typeface="Microsoft YaHei" panose="020B0503020204020204" pitchFamily="34" charset="-122"/>
              </a:rPr>
              <a:t> </a:t>
            </a:r>
            <a:r>
              <a:rPr lang="en-US" sz="2799" b="1" dirty="0">
                <a:solidFill>
                  <a:srgbClr val="990000"/>
                </a:solidFill>
                <a:latin typeface="Microsoft YaHei" panose="020B0503020204020204" pitchFamily="34" charset="-122"/>
                <a:ea typeface="Microsoft YaHei" panose="020B0503020204020204" pitchFamily="34" charset="-122"/>
              </a:rPr>
              <a:t>Technical Architecture</a:t>
            </a:r>
            <a:r>
              <a:rPr lang="en-US" sz="2799" b="1" u="none" dirty="0">
                <a:solidFill>
                  <a:srgbClr val="990000"/>
                </a:solidFill>
                <a:latin typeface="Microsoft YaHei" panose="020B0503020204020204" pitchFamily="34" charset="-122"/>
                <a:ea typeface="Microsoft YaHei" panose="020B0503020204020204" pitchFamily="34" charset="-122"/>
              </a:rPr>
              <a:t> </a:t>
            </a:r>
            <a:r>
              <a:rPr lang="en-US" sz="2000" b="1" dirty="0">
                <a:solidFill>
                  <a:srgbClr val="990000"/>
                </a:solidFill>
                <a:latin typeface="Microsoft YaHei" panose="020B0503020204020204" pitchFamily="34" charset="-122"/>
                <a:ea typeface="Microsoft YaHei" panose="020B0503020204020204" pitchFamily="34" charset="-122"/>
              </a:rPr>
              <a:t>: Huawei Cloud </a:t>
            </a:r>
            <a:r>
              <a:rPr lang="en-US" sz="2000" b="1" u="none" dirty="0">
                <a:solidFill>
                  <a:srgbClr val="990000"/>
                </a:solidFill>
                <a:latin typeface="Microsoft YaHei" panose="020B0503020204020204" pitchFamily="34" charset="-122"/>
                <a:ea typeface="Microsoft YaHei" panose="020B0503020204020204" pitchFamily="34" charset="-122"/>
              </a:rPr>
              <a:t>Service Dashboard</a:t>
            </a:r>
            <a:endParaRPr sz="2799" b="1" u="none" dirty="0">
              <a:solidFill>
                <a:srgbClr val="990000"/>
              </a:solidFill>
              <a:latin typeface="Microsoft YaHei" panose="020B0503020204020204" pitchFamily="34" charset="-122"/>
              <a:ea typeface="Microsoft YaHei" panose="020B0503020204020204" pitchFamily="34" charset="-122"/>
            </a:endParaRPr>
          </a:p>
        </p:txBody>
      </p:sp>
      <p:sp>
        <p:nvSpPr>
          <p:cNvPr id="25" name="Rectangle 24">
            <a:extLst>
              <a:ext uri="{FF2B5EF4-FFF2-40B4-BE49-F238E27FC236}">
                <a16:creationId xmlns:a16="http://schemas.microsoft.com/office/drawing/2014/main" xmlns="" id="{F66EBDB4-483B-4CC6-AD72-8CA60D04D787}"/>
              </a:ext>
            </a:extLst>
          </p:cNvPr>
          <p:cNvSpPr/>
          <p:nvPr/>
        </p:nvSpPr>
        <p:spPr>
          <a:xfrm>
            <a:off x="2167957" y="866572"/>
            <a:ext cx="9614739" cy="377411"/>
          </a:xfrm>
          <a:prstGeom prst="rect">
            <a:avLst/>
          </a:prstGeom>
        </p:spPr>
        <p:txBody>
          <a:bodyPr wrap="square">
            <a:spAutoFit/>
          </a:bodyPr>
          <a:lstStyle/>
          <a:p>
            <a:pPr>
              <a:lnSpc>
                <a:spcPct val="150000"/>
              </a:lnSpc>
            </a:pPr>
            <a:r>
              <a:rPr lang="en-US" altLang="zh-CN" sz="1400" b="1" dirty="0">
                <a:latin typeface="Microsoft YaHei" panose="020B0503020204020204" pitchFamily="34" charset="-122"/>
                <a:ea typeface="Microsoft YaHei" panose="020B0503020204020204" pitchFamily="34" charset="-122"/>
              </a:rPr>
              <a:t>Depression ML Agent </a:t>
            </a:r>
          </a:p>
        </p:txBody>
      </p:sp>
      <p:sp>
        <p:nvSpPr>
          <p:cNvPr id="29" name="Rectangle 28">
            <a:extLst>
              <a:ext uri="{FF2B5EF4-FFF2-40B4-BE49-F238E27FC236}">
                <a16:creationId xmlns:a16="http://schemas.microsoft.com/office/drawing/2014/main" xmlns="" id="{9F70E0A1-A3BD-42B9-B9C4-E9143C51D84C}"/>
              </a:ext>
            </a:extLst>
          </p:cNvPr>
          <p:cNvSpPr/>
          <p:nvPr/>
        </p:nvSpPr>
        <p:spPr>
          <a:xfrm>
            <a:off x="6406309" y="3340763"/>
            <a:ext cx="4264116" cy="377411"/>
          </a:xfrm>
          <a:prstGeom prst="rect">
            <a:avLst/>
          </a:prstGeom>
        </p:spPr>
        <p:txBody>
          <a:bodyPr wrap="none">
            <a:spAutoFit/>
          </a:bodyPr>
          <a:lstStyle/>
          <a:p>
            <a:pPr>
              <a:lnSpc>
                <a:spcPct val="150000"/>
              </a:lnSpc>
            </a:pPr>
            <a:r>
              <a:rPr lang="en-US" altLang="zh-CN" sz="1400" b="1" dirty="0">
                <a:latin typeface="Microsoft YaHei" panose="020B0503020204020204" pitchFamily="34" charset="-122"/>
                <a:ea typeface="Microsoft YaHei" panose="020B0503020204020204" pitchFamily="34" charset="-122"/>
              </a:rPr>
              <a:t>Using Huawei Cloud </a:t>
            </a:r>
            <a:r>
              <a:rPr lang="en-US" altLang="zh-CN" sz="1400" b="1" dirty="0" err="1">
                <a:latin typeface="Microsoft YaHei" panose="020B0503020204020204" pitchFamily="34" charset="-122"/>
                <a:ea typeface="Microsoft YaHei" panose="020B0503020204020204" pitchFamily="34" charset="-122"/>
              </a:rPr>
              <a:t>ModelArt</a:t>
            </a:r>
            <a:r>
              <a:rPr lang="en-US" altLang="zh-CN" sz="1400" b="1" dirty="0">
                <a:latin typeface="Microsoft YaHei" panose="020B0503020204020204" pitchFamily="34" charset="-122"/>
                <a:ea typeface="Microsoft YaHei" panose="020B0503020204020204" pitchFamily="34" charset="-122"/>
              </a:rPr>
              <a:t> for AI training</a:t>
            </a:r>
          </a:p>
        </p:txBody>
      </p:sp>
      <p:pic>
        <p:nvPicPr>
          <p:cNvPr id="7" name="Picture 6" descr="A screenshot of a computer&#10;&#10;AI-generated content may be incorrect.">
            <a:extLst>
              <a:ext uri="{FF2B5EF4-FFF2-40B4-BE49-F238E27FC236}">
                <a16:creationId xmlns:a16="http://schemas.microsoft.com/office/drawing/2014/main" xmlns="" id="{D2A2D973-AB30-A016-F98C-010313ADE6A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00" y="1269924"/>
            <a:ext cx="4676775" cy="2493306"/>
          </a:xfrm>
          <a:prstGeom prst="rect">
            <a:avLst/>
          </a:prstGeom>
        </p:spPr>
      </p:pic>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78674" y="3857343"/>
            <a:ext cx="6322423" cy="2748586"/>
          </a:xfrm>
          <a:prstGeom prst="rect">
            <a:avLst/>
          </a:prstGeom>
        </p:spPr>
      </p:pic>
      <p:pic>
        <p:nvPicPr>
          <p:cNvPr id="4" name="Picture 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823549" y="4189213"/>
            <a:ext cx="4306006" cy="2416716"/>
          </a:xfrm>
          <a:prstGeom prst="rect">
            <a:avLst/>
          </a:prstGeom>
        </p:spPr>
      </p:pic>
    </p:spTree>
    <p:extLst>
      <p:ext uri="{BB962C8B-B14F-4D97-AF65-F5344CB8AC3E}">
        <p14:creationId xmlns:p14="http://schemas.microsoft.com/office/powerpoint/2010/main" val="17081151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ubtitle 1">
            <a:extLst>
              <a:ext uri="{FF2B5EF4-FFF2-40B4-BE49-F238E27FC236}">
                <a16:creationId xmlns:a16="http://schemas.microsoft.com/office/drawing/2014/main" xmlns="" id="{C6ADB1D9-336D-594D-9418-4BC486843D21}"/>
              </a:ext>
            </a:extLst>
          </p:cNvPr>
          <p:cNvSpPr txBox="1">
            <a:spLocks/>
          </p:cNvSpPr>
          <p:nvPr/>
        </p:nvSpPr>
        <p:spPr>
          <a:xfrm>
            <a:off x="1046251" y="404410"/>
            <a:ext cx="10736446" cy="39505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9pPr>
          </a:lstStyle>
          <a:p>
            <a:pPr marL="0" indent="0" eaLnBrk="0" fontAlgn="base" hangingPunct="0">
              <a:spcBef>
                <a:spcPct val="0"/>
              </a:spcBef>
              <a:spcAft>
                <a:spcPct val="0"/>
              </a:spcAft>
              <a:buNone/>
            </a:pPr>
            <a:r>
              <a:rPr sz="2799" b="1" u="none" dirty="0">
                <a:solidFill>
                  <a:srgbClr val="990000"/>
                </a:solidFill>
                <a:latin typeface="Microsoft YaHei" panose="020B0503020204020204" pitchFamily="34" charset="-122"/>
                <a:ea typeface="Microsoft YaHei" panose="020B0503020204020204" pitchFamily="34" charset="-122"/>
              </a:rPr>
              <a:t> </a:t>
            </a:r>
            <a:r>
              <a:rPr lang="en-US" sz="2799" b="1" dirty="0">
                <a:solidFill>
                  <a:srgbClr val="990000"/>
                </a:solidFill>
                <a:latin typeface="Microsoft YaHei" panose="020B0503020204020204" pitchFamily="34" charset="-122"/>
                <a:ea typeface="Microsoft YaHei" panose="020B0503020204020204" pitchFamily="34" charset="-122"/>
              </a:rPr>
              <a:t>Technical Architecture</a:t>
            </a:r>
            <a:r>
              <a:rPr lang="en-US" sz="2799" b="1" u="none" dirty="0">
                <a:solidFill>
                  <a:srgbClr val="990000"/>
                </a:solidFill>
                <a:latin typeface="Microsoft YaHei" panose="020B0503020204020204" pitchFamily="34" charset="-122"/>
                <a:ea typeface="Microsoft YaHei" panose="020B0503020204020204" pitchFamily="34" charset="-122"/>
              </a:rPr>
              <a:t> </a:t>
            </a:r>
            <a:r>
              <a:rPr lang="en-US" sz="2000" b="1" dirty="0">
                <a:solidFill>
                  <a:srgbClr val="990000"/>
                </a:solidFill>
                <a:latin typeface="Microsoft YaHei" panose="020B0503020204020204" pitchFamily="34" charset="-122"/>
                <a:ea typeface="Microsoft YaHei" panose="020B0503020204020204" pitchFamily="34" charset="-122"/>
              </a:rPr>
              <a:t>: Huawei Cloud </a:t>
            </a:r>
            <a:r>
              <a:rPr lang="en-US" sz="2000" b="1" u="none" dirty="0">
                <a:solidFill>
                  <a:srgbClr val="990000"/>
                </a:solidFill>
                <a:latin typeface="Microsoft YaHei" panose="020B0503020204020204" pitchFamily="34" charset="-122"/>
                <a:ea typeface="Microsoft YaHei" panose="020B0503020204020204" pitchFamily="34" charset="-122"/>
              </a:rPr>
              <a:t>Service Dashboard</a:t>
            </a:r>
            <a:endParaRPr sz="2799" b="1" u="none" dirty="0">
              <a:solidFill>
                <a:srgbClr val="990000"/>
              </a:solidFill>
              <a:latin typeface="Microsoft YaHei" panose="020B0503020204020204" pitchFamily="34" charset="-122"/>
              <a:ea typeface="Microsoft YaHei" panose="020B0503020204020204" pitchFamily="34" charset="-122"/>
            </a:endParaRPr>
          </a:p>
        </p:txBody>
      </p:sp>
      <p:sp>
        <p:nvSpPr>
          <p:cNvPr id="25" name="Rectangle 24">
            <a:extLst>
              <a:ext uri="{FF2B5EF4-FFF2-40B4-BE49-F238E27FC236}">
                <a16:creationId xmlns:a16="http://schemas.microsoft.com/office/drawing/2014/main" xmlns="" id="{F66EBDB4-483B-4CC6-AD72-8CA60D04D787}"/>
              </a:ext>
            </a:extLst>
          </p:cNvPr>
          <p:cNvSpPr/>
          <p:nvPr/>
        </p:nvSpPr>
        <p:spPr>
          <a:xfrm>
            <a:off x="2167957" y="866572"/>
            <a:ext cx="9614739" cy="377411"/>
          </a:xfrm>
          <a:prstGeom prst="rect">
            <a:avLst/>
          </a:prstGeom>
        </p:spPr>
        <p:txBody>
          <a:bodyPr wrap="square">
            <a:spAutoFit/>
          </a:bodyPr>
          <a:lstStyle/>
          <a:p>
            <a:pPr>
              <a:lnSpc>
                <a:spcPct val="150000"/>
              </a:lnSpc>
            </a:pPr>
            <a:r>
              <a:rPr lang="en-US" altLang="zh-CN" sz="1400" b="1" dirty="0" smtClean="0">
                <a:latin typeface="Microsoft YaHei" panose="020B0503020204020204" pitchFamily="34" charset="-122"/>
                <a:ea typeface="Microsoft YaHei" panose="020B0503020204020204" pitchFamily="34" charset="-122"/>
              </a:rPr>
              <a:t>Create Notebook</a:t>
            </a:r>
            <a:endParaRPr lang="en-US" altLang="zh-CN" sz="1400" b="1" dirty="0">
              <a:latin typeface="Microsoft YaHei" panose="020B0503020204020204" pitchFamily="34" charset="-122"/>
              <a:ea typeface="Microsoft YaHei" panose="020B0503020204020204" pitchFamily="34" charset="-122"/>
            </a:endParaRPr>
          </a:p>
        </p:txBody>
      </p:sp>
      <p:sp>
        <p:nvSpPr>
          <p:cNvPr id="29" name="Rectangle 28">
            <a:extLst>
              <a:ext uri="{FF2B5EF4-FFF2-40B4-BE49-F238E27FC236}">
                <a16:creationId xmlns:a16="http://schemas.microsoft.com/office/drawing/2014/main" xmlns="" id="{9F70E0A1-A3BD-42B9-B9C4-E9143C51D84C}"/>
              </a:ext>
            </a:extLst>
          </p:cNvPr>
          <p:cNvSpPr/>
          <p:nvPr/>
        </p:nvSpPr>
        <p:spPr>
          <a:xfrm>
            <a:off x="1497994" y="3650162"/>
            <a:ext cx="3024674" cy="415498"/>
          </a:xfrm>
          <a:prstGeom prst="rect">
            <a:avLst/>
          </a:prstGeom>
        </p:spPr>
        <p:txBody>
          <a:bodyPr wrap="none">
            <a:spAutoFit/>
          </a:bodyPr>
          <a:lstStyle/>
          <a:p>
            <a:pPr>
              <a:lnSpc>
                <a:spcPct val="150000"/>
              </a:lnSpc>
            </a:pPr>
            <a:r>
              <a:rPr lang="en-US" sz="1400" b="1" dirty="0"/>
              <a:t>Model </a:t>
            </a:r>
            <a:r>
              <a:rPr lang="en-US" sz="1400" b="1" dirty="0" smtClean="0"/>
              <a:t>Training and Training Jobs</a:t>
            </a:r>
            <a:endParaRPr lang="en-US" altLang="zh-CN" sz="1400" b="1" dirty="0">
              <a:latin typeface="Microsoft YaHei" panose="020B0503020204020204" pitchFamily="34" charset="-122"/>
              <a:ea typeface="Microsoft YaHei" panose="020B0503020204020204" pitchFamily="34" charset="-122"/>
            </a:endParaRPr>
          </a:p>
        </p:txBody>
      </p:sp>
      <p:pic>
        <p:nvPicPr>
          <p:cNvPr id="2" name="Picture 1"/>
          <p:cNvPicPr>
            <a:picLocks noChangeAspect="1"/>
          </p:cNvPicPr>
          <p:nvPr/>
        </p:nvPicPr>
        <p:blipFill>
          <a:blip r:embed="rId2">
            <a:extLst>
              <a:ext uri="{BEBA8EAE-BF5A-486C-A8C5-ECC9F3942E4B}">
                <a14:imgProps xmlns:a14="http://schemas.microsoft.com/office/drawing/2010/main">
                  <a14:imgLayer r:embed="rId3">
                    <a14:imgEffect>
                      <a14:sharpenSoften amount="25000"/>
                    </a14:imgEffect>
                  </a14:imgLayer>
                </a14:imgProps>
              </a:ext>
              <a:ext uri="{28A0092B-C50C-407E-A947-70E740481C1C}">
                <a14:useLocalDpi xmlns:a14="http://schemas.microsoft.com/office/drawing/2010/main" val="0"/>
              </a:ext>
            </a:extLst>
          </a:blip>
          <a:stretch>
            <a:fillRect/>
          </a:stretch>
        </p:blipFill>
        <p:spPr>
          <a:xfrm>
            <a:off x="161097" y="1214128"/>
            <a:ext cx="5698468" cy="2126635"/>
          </a:xfrm>
          <a:prstGeom prst="rect">
            <a:avLst/>
          </a:prstGeom>
        </p:spPr>
      </p:pic>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55999" y="1118556"/>
            <a:ext cx="4825989" cy="2947104"/>
          </a:xfrm>
          <a:prstGeom prst="rect">
            <a:avLst/>
          </a:prstGeom>
        </p:spPr>
      </p:pic>
      <p:pic>
        <p:nvPicPr>
          <p:cNvPr id="6" name="Picture 5"/>
          <p:cNvPicPr>
            <a:picLocks noChangeAspect="1"/>
          </p:cNvPicPr>
          <p:nvPr/>
        </p:nvPicPr>
        <p:blipFill>
          <a:blip r:embed="rId5">
            <a:extLst>
              <a:ext uri="{BEBA8EAE-BF5A-486C-A8C5-ECC9F3942E4B}">
                <a14:imgProps xmlns:a14="http://schemas.microsoft.com/office/drawing/2010/main">
                  <a14:imgLayer r:embed="rId6">
                    <a14:imgEffect>
                      <a14:sharpenSoften amount="25000"/>
                    </a14:imgEffect>
                  </a14:imgLayer>
                </a14:imgProps>
              </a:ext>
              <a:ext uri="{28A0092B-C50C-407E-A947-70E740481C1C}">
                <a14:useLocalDpi xmlns:a14="http://schemas.microsoft.com/office/drawing/2010/main" val="0"/>
              </a:ext>
            </a:extLst>
          </a:blip>
          <a:stretch>
            <a:fillRect/>
          </a:stretch>
        </p:blipFill>
        <p:spPr>
          <a:xfrm>
            <a:off x="495852" y="4264636"/>
            <a:ext cx="5918622" cy="2033712"/>
          </a:xfrm>
          <a:prstGeom prst="rect">
            <a:avLst/>
          </a:prstGeom>
        </p:spPr>
      </p:pic>
      <p:pic>
        <p:nvPicPr>
          <p:cNvPr id="9" name="Picture 8"/>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6743285" y="4134570"/>
            <a:ext cx="4711637" cy="2163778"/>
          </a:xfrm>
          <a:prstGeom prst="rect">
            <a:avLst/>
          </a:prstGeom>
        </p:spPr>
      </p:pic>
    </p:spTree>
    <p:extLst>
      <p:ext uri="{BB962C8B-B14F-4D97-AF65-F5344CB8AC3E}">
        <p14:creationId xmlns:p14="http://schemas.microsoft.com/office/powerpoint/2010/main" val="24787711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ubtitle 1">
            <a:extLst>
              <a:ext uri="{FF2B5EF4-FFF2-40B4-BE49-F238E27FC236}">
                <a16:creationId xmlns:a16="http://schemas.microsoft.com/office/drawing/2014/main" xmlns="" id="{C6ADB1D9-336D-594D-9418-4BC486843D21}"/>
              </a:ext>
            </a:extLst>
          </p:cNvPr>
          <p:cNvSpPr txBox="1">
            <a:spLocks/>
          </p:cNvSpPr>
          <p:nvPr/>
        </p:nvSpPr>
        <p:spPr>
          <a:xfrm>
            <a:off x="1046251" y="404410"/>
            <a:ext cx="10736446" cy="39505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9pPr>
          </a:lstStyle>
          <a:p>
            <a:pPr marL="0" indent="0" eaLnBrk="0" fontAlgn="base" hangingPunct="0">
              <a:spcBef>
                <a:spcPct val="0"/>
              </a:spcBef>
              <a:spcAft>
                <a:spcPct val="0"/>
              </a:spcAft>
              <a:buNone/>
            </a:pPr>
            <a:r>
              <a:rPr sz="2799" b="1" dirty="0">
                <a:solidFill>
                  <a:srgbClr val="990000"/>
                </a:solidFill>
                <a:latin typeface="Microsoft YaHei" panose="020B0503020204020204" pitchFamily="34" charset="-122"/>
                <a:ea typeface="Microsoft YaHei" panose="020B0503020204020204" pitchFamily="34" charset="-122"/>
              </a:rPr>
              <a:t>Functions</a:t>
            </a:r>
            <a:endParaRPr lang="zh-CN" altLang="en-US" sz="2799" b="1" dirty="0">
              <a:solidFill>
                <a:srgbClr val="990000"/>
              </a:solidFill>
              <a:latin typeface="Microsoft YaHei" panose="020B0503020204020204" pitchFamily="34" charset="-122"/>
              <a:ea typeface="Microsoft YaHei" panose="020B0503020204020204" pitchFamily="34" charset="-122"/>
            </a:endParaRPr>
          </a:p>
        </p:txBody>
      </p:sp>
      <p:sp>
        <p:nvSpPr>
          <p:cNvPr id="12" name="矩形 11"/>
          <p:cNvSpPr/>
          <p:nvPr/>
        </p:nvSpPr>
        <p:spPr>
          <a:xfrm>
            <a:off x="0" y="6435634"/>
            <a:ext cx="12192000" cy="422366"/>
          </a:xfrm>
          <a:prstGeom prst="rect">
            <a:avLst/>
          </a:prstGeom>
          <a:solidFill>
            <a:srgbClr val="D7E4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34034" y="4888851"/>
            <a:ext cx="1757966" cy="1757966"/>
          </a:xfrm>
          <a:prstGeom prst="rect">
            <a:avLst/>
          </a:prstGeom>
        </p:spPr>
      </p:pic>
      <p:sp>
        <p:nvSpPr>
          <p:cNvPr id="3" name="Content Placeholder 2">
            <a:extLst>
              <a:ext uri="{FF2B5EF4-FFF2-40B4-BE49-F238E27FC236}">
                <a16:creationId xmlns:a16="http://schemas.microsoft.com/office/drawing/2014/main" xmlns="" id="{3F0F96B5-91E9-2099-E167-D8FB309D7323}"/>
              </a:ext>
            </a:extLst>
          </p:cNvPr>
          <p:cNvSpPr>
            <a:spLocks noGrp="1"/>
          </p:cNvSpPr>
          <p:nvPr>
            <p:ph idx="1"/>
          </p:nvPr>
        </p:nvSpPr>
        <p:spPr>
          <a:xfrm>
            <a:off x="838200" y="1720842"/>
            <a:ext cx="10515600" cy="4351338"/>
          </a:xfrm>
        </p:spPr>
        <p:txBody>
          <a:bodyPr vert="horz" lIns="91440" tIns="45720" rIns="91440" bIns="45720" rtlCol="0">
            <a:noAutofit/>
          </a:bodyPr>
          <a:lstStyle/>
          <a:p>
            <a:pPr marL="0" indent="0">
              <a:buNone/>
            </a:pPr>
            <a:r>
              <a:rPr lang="en-US" sz="2000" dirty="0"/>
              <a:t>The platform is a </a:t>
            </a:r>
            <a:r>
              <a:rPr lang="en-US" sz="2000" b="1" dirty="0"/>
              <a:t>text-based depression detection system </a:t>
            </a:r>
            <a:r>
              <a:rPr lang="en-US" sz="2000" dirty="0"/>
              <a:t>that allows users to write daily journals through a mobile or web interface. The written text is analyzed using </a:t>
            </a:r>
            <a:r>
              <a:rPr lang="en-US" sz="2000" b="1" dirty="0"/>
              <a:t>DeepSeek NLP </a:t>
            </a:r>
            <a:r>
              <a:rPr lang="en-US" sz="2000" dirty="0"/>
              <a:t>models to identify emotional patterns, linguistic cues, and potential signs of depression.</a:t>
            </a:r>
          </a:p>
          <a:p>
            <a:pPr marL="0" indent="0">
              <a:buNone/>
            </a:pPr>
            <a:r>
              <a:rPr lang="en-US" sz="2000" dirty="0"/>
              <a:t>Based on the analysis, the system provides </a:t>
            </a:r>
            <a:r>
              <a:rPr lang="en-US" sz="2000" b="1" dirty="0"/>
              <a:t>personalized feedback, severity classification, and, if necessary, recommendations for nearby therapists</a:t>
            </a:r>
            <a:r>
              <a:rPr lang="en-US" sz="2000" dirty="0"/>
              <a:t>.</a:t>
            </a:r>
          </a:p>
          <a:p>
            <a:pPr marL="0" indent="0">
              <a:buNone/>
            </a:pPr>
            <a:r>
              <a:rPr lang="en-US" sz="2000" dirty="0"/>
              <a:t>The platform integrates </a:t>
            </a:r>
            <a:r>
              <a:rPr lang="en-US" sz="2000" b="1" dirty="0"/>
              <a:t>Huawei services </a:t>
            </a:r>
            <a:r>
              <a:rPr lang="en-US" sz="2000" dirty="0"/>
              <a:t>to ensure accurate AI processing, cloud scalability, and secure data handling. It aims to make mental health tracking simple, private, and accessible, especially for students and young adults.</a:t>
            </a:r>
          </a:p>
          <a:p>
            <a:pPr marL="0" indent="0">
              <a:buNone/>
            </a:pPr>
            <a:endParaRPr lang="en-US" sz="2000" dirty="0"/>
          </a:p>
        </p:txBody>
      </p:sp>
      <p:sp>
        <p:nvSpPr>
          <p:cNvPr id="5" name="TextBox 4">
            <a:extLst>
              <a:ext uri="{FF2B5EF4-FFF2-40B4-BE49-F238E27FC236}">
                <a16:creationId xmlns:a16="http://schemas.microsoft.com/office/drawing/2014/main" xmlns="" id="{46C4F3F4-4AEF-7603-C8DB-3C0322752926}"/>
              </a:ext>
            </a:extLst>
          </p:cNvPr>
          <p:cNvSpPr txBox="1"/>
          <p:nvPr/>
        </p:nvSpPr>
        <p:spPr>
          <a:xfrm>
            <a:off x="838200" y="1197622"/>
            <a:ext cx="6096000" cy="523220"/>
          </a:xfrm>
          <a:prstGeom prst="rect">
            <a:avLst/>
          </a:prstGeom>
          <a:noFill/>
        </p:spPr>
        <p:txBody>
          <a:bodyPr wrap="square">
            <a:spAutoFit/>
          </a:bodyPr>
          <a:lstStyle>
            <a:defPPr>
              <a:defRPr lang="zh-CN"/>
            </a:defPPr>
            <a:lvl1pPr>
              <a:defRPr sz="2800" b="1">
                <a:latin typeface="+mn-lt"/>
              </a:defRPr>
            </a:lvl1pPr>
          </a:lstStyle>
          <a:p>
            <a:r>
              <a:rPr lang="en-US" dirty="0"/>
              <a:t>Overview</a:t>
            </a:r>
          </a:p>
        </p:txBody>
      </p:sp>
      <p:sp>
        <p:nvSpPr>
          <p:cNvPr id="9" name="TextBox 8">
            <a:extLst>
              <a:ext uri="{FF2B5EF4-FFF2-40B4-BE49-F238E27FC236}">
                <a16:creationId xmlns:a16="http://schemas.microsoft.com/office/drawing/2014/main" xmlns="" id="{86F4E9AE-03B0-B1ED-9BC7-27A419758323}"/>
              </a:ext>
            </a:extLst>
          </p:cNvPr>
          <p:cNvSpPr txBox="1"/>
          <p:nvPr/>
        </p:nvSpPr>
        <p:spPr>
          <a:xfrm>
            <a:off x="838200" y="4398495"/>
            <a:ext cx="10353675" cy="1631216"/>
          </a:xfrm>
          <a:prstGeom prst="rect">
            <a:avLst/>
          </a:prstGeom>
          <a:noFill/>
        </p:spPr>
        <p:txBody>
          <a:bodyPr wrap="square">
            <a:spAutoFit/>
          </a:bodyPr>
          <a:lstStyle/>
          <a:p>
            <a:pPr marL="0" indent="0">
              <a:buNone/>
            </a:pPr>
            <a:r>
              <a:rPr lang="en-US" sz="2800" b="1" dirty="0">
                <a:latin typeface="+mn-lt"/>
              </a:rPr>
              <a:t>Uniqueness</a:t>
            </a:r>
            <a:r>
              <a:rPr lang="en-US" sz="1800" dirty="0"/>
              <a:t>:</a:t>
            </a:r>
            <a:br>
              <a:rPr lang="en-US" sz="1800" dirty="0"/>
            </a:br>
            <a:r>
              <a:rPr lang="en-US" sz="1800" dirty="0"/>
              <a:t>Unlike traditional wellness or journaling applications, </a:t>
            </a:r>
            <a:r>
              <a:rPr lang="en-US" sz="1800" dirty="0" err="1"/>
              <a:t>Depresso</a:t>
            </a:r>
            <a:r>
              <a:rPr lang="en-US" sz="1800" dirty="0"/>
              <a:t> </a:t>
            </a:r>
            <a:r>
              <a:rPr lang="en-US" sz="1800" b="1" dirty="0"/>
              <a:t>emphasizes youth-centered </a:t>
            </a:r>
            <a:r>
              <a:rPr lang="en-US" sz="1800" dirty="0"/>
              <a:t>design and proactive emotional monitoring, delivering a scientifically informed yet relatable user experience. Its adaptive AI framework ensures continuous learning from user interactions, resulting in more accurate emotional understanding and intervention over time.</a:t>
            </a:r>
          </a:p>
        </p:txBody>
      </p:sp>
    </p:spTree>
    <p:extLst>
      <p:ext uri="{BB962C8B-B14F-4D97-AF65-F5344CB8AC3E}">
        <p14:creationId xmlns:p14="http://schemas.microsoft.com/office/powerpoint/2010/main" val="35660253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B67D086F-4C53-995D-4B71-31BD3F37456C}"/>
            </a:ext>
          </a:extLst>
        </p:cNvPr>
        <p:cNvGrpSpPr/>
        <p:nvPr/>
      </p:nvGrpSpPr>
      <p:grpSpPr>
        <a:xfrm>
          <a:off x="0" y="0"/>
          <a:ext cx="0" cy="0"/>
          <a:chOff x="0" y="0"/>
          <a:chExt cx="0" cy="0"/>
        </a:xfrm>
      </p:grpSpPr>
      <p:sp>
        <p:nvSpPr>
          <p:cNvPr id="8" name="Subtitle 1">
            <a:extLst>
              <a:ext uri="{FF2B5EF4-FFF2-40B4-BE49-F238E27FC236}">
                <a16:creationId xmlns:a16="http://schemas.microsoft.com/office/drawing/2014/main" xmlns="" id="{645AADA7-30C7-E2BC-5286-3266E3FD2BF3}"/>
              </a:ext>
            </a:extLst>
          </p:cNvPr>
          <p:cNvSpPr txBox="1">
            <a:spLocks/>
          </p:cNvSpPr>
          <p:nvPr/>
        </p:nvSpPr>
        <p:spPr>
          <a:xfrm>
            <a:off x="1046251" y="404410"/>
            <a:ext cx="10736446" cy="39505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9pPr>
          </a:lstStyle>
          <a:p>
            <a:pPr marL="0" indent="0" eaLnBrk="0" fontAlgn="base" hangingPunct="0">
              <a:spcBef>
                <a:spcPct val="0"/>
              </a:spcBef>
              <a:spcAft>
                <a:spcPct val="0"/>
              </a:spcAft>
              <a:buNone/>
            </a:pPr>
            <a:r>
              <a:rPr sz="2799" b="1" dirty="0">
                <a:solidFill>
                  <a:srgbClr val="990000"/>
                </a:solidFill>
                <a:latin typeface="Microsoft YaHei" panose="020B0503020204020204" pitchFamily="34" charset="-122"/>
                <a:ea typeface="Microsoft YaHei" panose="020B0503020204020204" pitchFamily="34" charset="-122"/>
              </a:rPr>
              <a:t>Functions</a:t>
            </a:r>
            <a:endParaRPr lang="zh-CN" altLang="en-US" sz="2799" b="1" dirty="0">
              <a:solidFill>
                <a:srgbClr val="990000"/>
              </a:solidFill>
              <a:latin typeface="Microsoft YaHei" panose="020B0503020204020204" pitchFamily="34" charset="-122"/>
              <a:ea typeface="Microsoft YaHei" panose="020B0503020204020204" pitchFamily="34" charset="-122"/>
            </a:endParaRPr>
          </a:p>
        </p:txBody>
      </p:sp>
      <p:sp>
        <p:nvSpPr>
          <p:cNvPr id="12" name="矩形 11">
            <a:extLst>
              <a:ext uri="{FF2B5EF4-FFF2-40B4-BE49-F238E27FC236}">
                <a16:creationId xmlns:a16="http://schemas.microsoft.com/office/drawing/2014/main" xmlns="" id="{6BFA2151-4FC9-3B7D-B863-53D46E0773C1}"/>
              </a:ext>
            </a:extLst>
          </p:cNvPr>
          <p:cNvSpPr/>
          <p:nvPr/>
        </p:nvSpPr>
        <p:spPr>
          <a:xfrm>
            <a:off x="0" y="6435634"/>
            <a:ext cx="12192000" cy="422366"/>
          </a:xfrm>
          <a:prstGeom prst="rect">
            <a:avLst/>
          </a:prstGeom>
          <a:solidFill>
            <a:srgbClr val="D7E4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a:extLst>
              <a:ext uri="{FF2B5EF4-FFF2-40B4-BE49-F238E27FC236}">
                <a16:creationId xmlns:a16="http://schemas.microsoft.com/office/drawing/2014/main" xmlns="" id="{3688138F-1BD7-BBEF-AF91-8FBCBC62813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34034" y="4888851"/>
            <a:ext cx="1757966" cy="1757966"/>
          </a:xfrm>
          <a:prstGeom prst="rect">
            <a:avLst/>
          </a:prstGeom>
        </p:spPr>
      </p:pic>
      <p:sp>
        <p:nvSpPr>
          <p:cNvPr id="3" name="Content Placeholder 2">
            <a:extLst>
              <a:ext uri="{FF2B5EF4-FFF2-40B4-BE49-F238E27FC236}">
                <a16:creationId xmlns:a16="http://schemas.microsoft.com/office/drawing/2014/main" xmlns="" id="{213B56AB-B140-3C09-80CE-CBE07949073A}"/>
              </a:ext>
            </a:extLst>
          </p:cNvPr>
          <p:cNvSpPr>
            <a:spLocks noGrp="1"/>
          </p:cNvSpPr>
          <p:nvPr>
            <p:ph idx="1"/>
          </p:nvPr>
        </p:nvSpPr>
        <p:spPr>
          <a:xfrm>
            <a:off x="838200" y="1969149"/>
            <a:ext cx="10515600" cy="4351338"/>
          </a:xfrm>
        </p:spPr>
        <p:txBody>
          <a:bodyPr vert="horz" lIns="91440" tIns="45720" rIns="91440" bIns="45720" rtlCol="0">
            <a:noAutofit/>
          </a:bodyPr>
          <a:lstStyle/>
          <a:p>
            <a:r>
              <a:rPr lang="en-US" sz="2000" b="1" dirty="0"/>
              <a:t>AI-Based Mood Recognition</a:t>
            </a:r>
            <a:r>
              <a:rPr lang="en-US" sz="2000" dirty="0"/>
              <a:t>: Utilizes natural language processing and sentiment analysis to detect emotional states from text input, enabling early identification of stress, anxiety, and depressive tendencies.</a:t>
            </a:r>
          </a:p>
          <a:p>
            <a:r>
              <a:rPr lang="en-US" sz="2000" b="1" dirty="0"/>
              <a:t>Personalized Intervention Plans</a:t>
            </a:r>
            <a:r>
              <a:rPr lang="en-US" sz="2000" dirty="0"/>
              <a:t>: Generates adaptive coping strategies, mindfulness activities, and daily recommendations based on the user’s behavioral trends and emotional history.</a:t>
            </a:r>
          </a:p>
          <a:p>
            <a:r>
              <a:rPr lang="en-US" sz="2000" b="1" dirty="0"/>
              <a:t>Anonymous Peer Support Network</a:t>
            </a:r>
            <a:r>
              <a:rPr lang="en-US" sz="2000" dirty="0"/>
              <a:t>: Facilitates secure and confidential communication among users, promoting empathy and social connectedness.</a:t>
            </a:r>
          </a:p>
          <a:p>
            <a:r>
              <a:rPr lang="en-US" sz="2000" b="1" dirty="0"/>
              <a:t>Crisis Management Module</a:t>
            </a:r>
            <a:r>
              <a:rPr lang="en-US" sz="2000" dirty="0"/>
              <a:t>: Provides immediate access to verified professional resources and helplines when high-risk behaviors are detected.</a:t>
            </a:r>
          </a:p>
          <a:p>
            <a:pPr marL="0" indent="0">
              <a:buNone/>
            </a:pPr>
            <a:endParaRPr lang="en-US" sz="2000" dirty="0"/>
          </a:p>
        </p:txBody>
      </p:sp>
      <p:sp>
        <p:nvSpPr>
          <p:cNvPr id="5" name="TextBox 4">
            <a:extLst>
              <a:ext uri="{FF2B5EF4-FFF2-40B4-BE49-F238E27FC236}">
                <a16:creationId xmlns:a16="http://schemas.microsoft.com/office/drawing/2014/main" xmlns="" id="{9F0A3D8F-B1D3-2E8F-8C17-ED2ADA6002E8}"/>
              </a:ext>
            </a:extLst>
          </p:cNvPr>
          <p:cNvSpPr txBox="1"/>
          <p:nvPr/>
        </p:nvSpPr>
        <p:spPr>
          <a:xfrm>
            <a:off x="838200" y="1197622"/>
            <a:ext cx="6096000" cy="523220"/>
          </a:xfrm>
          <a:prstGeom prst="rect">
            <a:avLst/>
          </a:prstGeom>
          <a:noFill/>
        </p:spPr>
        <p:txBody>
          <a:bodyPr wrap="square">
            <a:spAutoFit/>
          </a:bodyPr>
          <a:lstStyle>
            <a:defPPr>
              <a:defRPr lang="zh-CN"/>
            </a:defPPr>
            <a:lvl1pPr>
              <a:defRPr sz="2800" b="1">
                <a:latin typeface="+mn-lt"/>
              </a:defRPr>
            </a:lvl1pPr>
          </a:lstStyle>
          <a:p>
            <a:r>
              <a:rPr lang="en-US" dirty="0"/>
              <a:t>Core Functions and Advantages:</a:t>
            </a:r>
          </a:p>
        </p:txBody>
      </p:sp>
    </p:spTree>
    <p:extLst>
      <p:ext uri="{BB962C8B-B14F-4D97-AF65-F5344CB8AC3E}">
        <p14:creationId xmlns:p14="http://schemas.microsoft.com/office/powerpoint/2010/main" val="31055494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ubtitle 1">
            <a:extLst>
              <a:ext uri="{FF2B5EF4-FFF2-40B4-BE49-F238E27FC236}">
                <a16:creationId xmlns:a16="http://schemas.microsoft.com/office/drawing/2014/main" xmlns="" id="{C6ADB1D9-336D-594D-9418-4BC486843D21}"/>
              </a:ext>
            </a:extLst>
          </p:cNvPr>
          <p:cNvSpPr txBox="1">
            <a:spLocks/>
          </p:cNvSpPr>
          <p:nvPr/>
        </p:nvSpPr>
        <p:spPr>
          <a:xfrm>
            <a:off x="1046251" y="404410"/>
            <a:ext cx="10736446" cy="395050"/>
          </a:xfrm>
          <a:prstGeom prst="rect">
            <a:avLst/>
          </a:prstGeom>
        </p:spPr>
        <p:txBody>
          <a:bodyPr vert="horz" lIns="91440" tIns="45720" rIns="91440" bIns="45720" rtlCol="0">
            <a:noAutofit/>
          </a:bodyPr>
          <a:lstStyle>
            <a:defPPr>
              <a:defRPr lang="zh-CN"/>
            </a:defPPr>
            <a:lvl1pPr indent="0" eaLnBrk="0" fontAlgn="base" hangingPunct="0">
              <a:lnSpc>
                <a:spcPct val="90000"/>
              </a:lnSpc>
              <a:spcBef>
                <a:spcPct val="0"/>
              </a:spcBef>
              <a:spcAft>
                <a:spcPct val="0"/>
              </a:spcAft>
              <a:buFont typeface="Arial" panose="020B0604020202020204" pitchFamily="34" charset="0"/>
              <a:buNone/>
              <a:defRPr sz="2799" b="1">
                <a:solidFill>
                  <a:srgbClr val="990000"/>
                </a:solidFill>
                <a:latin typeface="Microsoft YaHei" panose="020B0503020204020204" pitchFamily="34" charset="-122"/>
                <a:ea typeface="Microsoft YaHei"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dirty="0"/>
              <a:t>Innovations</a:t>
            </a:r>
            <a:endParaRPr lang="zh-CN" altLang="en-US" dirty="0"/>
          </a:p>
        </p:txBody>
      </p:sp>
      <p:sp>
        <p:nvSpPr>
          <p:cNvPr id="9" name="Content Placeholder 2">
            <a:extLst>
              <a:ext uri="{FF2B5EF4-FFF2-40B4-BE49-F238E27FC236}">
                <a16:creationId xmlns:a16="http://schemas.microsoft.com/office/drawing/2014/main" xmlns="" id="{1D7B0514-4060-0E4B-809B-B1B2E3258AB4}"/>
              </a:ext>
            </a:extLst>
          </p:cNvPr>
          <p:cNvSpPr>
            <a:spLocks noGrp="1"/>
          </p:cNvSpPr>
          <p:nvPr>
            <p:ph idx="1"/>
          </p:nvPr>
        </p:nvSpPr>
        <p:spPr>
          <a:xfrm>
            <a:off x="383626" y="1707600"/>
            <a:ext cx="10729366" cy="1654725"/>
          </a:xfrm>
        </p:spPr>
        <p:txBody>
          <a:bodyPr vert="horz" lIns="91440" tIns="45720" rIns="91440" bIns="45720" rtlCol="0">
            <a:noAutofit/>
          </a:bodyPr>
          <a:lstStyle/>
          <a:p>
            <a:pPr marL="0" indent="0">
              <a:buNone/>
            </a:pPr>
            <a:r>
              <a:rPr lang="en-US" sz="2000" b="1" dirty="0"/>
              <a:t>Technical Innovations &amp; Prospects</a:t>
            </a:r>
          </a:p>
          <a:p>
            <a:r>
              <a:rPr lang="en-US" sz="2000" b="1" dirty="0"/>
              <a:t>Deep Language Understanding:</a:t>
            </a:r>
            <a:r>
              <a:rPr lang="en-US" sz="2000" dirty="0"/>
              <a:t> Utilizes advanced transformer-based models such as </a:t>
            </a:r>
            <a:r>
              <a:rPr lang="en-US" sz="2000" i="1" dirty="0"/>
              <a:t>DeepSeek</a:t>
            </a:r>
            <a:r>
              <a:rPr lang="en-US" sz="2000" dirty="0"/>
              <a:t> fine-tuned for emotional nuance, capable of recognizing subtle linguistic cues linked to depressive tendencies.</a:t>
            </a:r>
          </a:p>
          <a:p>
            <a:r>
              <a:rPr lang="en-US" sz="2000" b="1" dirty="0"/>
              <a:t>Adaptive Severity Classification:</a:t>
            </a:r>
            <a:r>
              <a:rPr lang="en-US" sz="2000" dirty="0"/>
              <a:t> Introduces a customized depression-level classifier trained on diverse psychological datasets, enhancing cultural and linguistic relevance for North African users.</a:t>
            </a:r>
          </a:p>
          <a:p>
            <a:r>
              <a:rPr lang="en-US" sz="2000" b="1" dirty="0"/>
              <a:t>Smart Integration with Huawei Ecosystem:</a:t>
            </a:r>
            <a:r>
              <a:rPr lang="en-US" sz="2000" dirty="0"/>
              <a:t> Leverages Huawei’s </a:t>
            </a:r>
            <a:r>
              <a:rPr lang="en-US" sz="2000" b="1" dirty="0"/>
              <a:t>PaaS and EI services</a:t>
            </a:r>
            <a:r>
              <a:rPr lang="en-US" sz="2000" dirty="0"/>
              <a:t> for scalable cloud deployment, enabling efficient data processing, and privacy-preserving storage.</a:t>
            </a:r>
          </a:p>
          <a:p>
            <a:pPr marL="0" indent="0">
              <a:buNone/>
            </a:pPr>
            <a:endParaRPr sz="2000" dirty="0"/>
          </a:p>
        </p:txBody>
      </p:sp>
      <p:sp>
        <p:nvSpPr>
          <p:cNvPr id="12" name="矩形 11"/>
          <p:cNvSpPr/>
          <p:nvPr/>
        </p:nvSpPr>
        <p:spPr>
          <a:xfrm>
            <a:off x="0" y="6435634"/>
            <a:ext cx="12192000" cy="422366"/>
          </a:xfrm>
          <a:prstGeom prst="rect">
            <a:avLst/>
          </a:prstGeom>
          <a:solidFill>
            <a:srgbClr val="D7E4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34034" y="4888851"/>
            <a:ext cx="1757966" cy="1757966"/>
          </a:xfrm>
          <a:prstGeom prst="rect">
            <a:avLst/>
          </a:prstGeom>
        </p:spPr>
      </p:pic>
    </p:spTree>
    <p:extLst>
      <p:ext uri="{BB962C8B-B14F-4D97-AF65-F5344CB8AC3E}">
        <p14:creationId xmlns:p14="http://schemas.microsoft.com/office/powerpoint/2010/main" val="15985064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4097864B-B0ED-7209-516D-F358AFB8AD82}"/>
            </a:ext>
          </a:extLst>
        </p:cNvPr>
        <p:cNvGrpSpPr/>
        <p:nvPr/>
      </p:nvGrpSpPr>
      <p:grpSpPr>
        <a:xfrm>
          <a:off x="0" y="0"/>
          <a:ext cx="0" cy="0"/>
          <a:chOff x="0" y="0"/>
          <a:chExt cx="0" cy="0"/>
        </a:xfrm>
      </p:grpSpPr>
      <p:sp>
        <p:nvSpPr>
          <p:cNvPr id="8" name="Subtitle 1">
            <a:extLst>
              <a:ext uri="{FF2B5EF4-FFF2-40B4-BE49-F238E27FC236}">
                <a16:creationId xmlns:a16="http://schemas.microsoft.com/office/drawing/2014/main" xmlns="" id="{F0BEB7AC-5FA8-BABF-85FF-4F86B718DF40}"/>
              </a:ext>
            </a:extLst>
          </p:cNvPr>
          <p:cNvSpPr txBox="1">
            <a:spLocks/>
          </p:cNvSpPr>
          <p:nvPr/>
        </p:nvSpPr>
        <p:spPr>
          <a:xfrm>
            <a:off x="1046251" y="404410"/>
            <a:ext cx="10736446" cy="395050"/>
          </a:xfrm>
          <a:prstGeom prst="rect">
            <a:avLst/>
          </a:prstGeom>
        </p:spPr>
        <p:txBody>
          <a:bodyPr vert="horz" lIns="91440" tIns="45720" rIns="91440" bIns="45720" rtlCol="0">
            <a:noAutofit/>
          </a:bodyPr>
          <a:lstStyle>
            <a:defPPr>
              <a:defRPr lang="zh-CN"/>
            </a:defPPr>
            <a:lvl1pPr indent="0" eaLnBrk="0" fontAlgn="base" hangingPunct="0">
              <a:lnSpc>
                <a:spcPct val="90000"/>
              </a:lnSpc>
              <a:spcBef>
                <a:spcPct val="0"/>
              </a:spcBef>
              <a:spcAft>
                <a:spcPct val="0"/>
              </a:spcAft>
              <a:buFont typeface="Arial" panose="020B0604020202020204" pitchFamily="34" charset="0"/>
              <a:buNone/>
              <a:defRPr sz="2799" b="1">
                <a:solidFill>
                  <a:srgbClr val="990000"/>
                </a:solidFill>
                <a:latin typeface="Microsoft YaHei" panose="020B0503020204020204" pitchFamily="34" charset="-122"/>
                <a:ea typeface="Microsoft YaHei"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dirty="0"/>
              <a:t>Innovations</a:t>
            </a:r>
            <a:endParaRPr lang="zh-CN" altLang="en-US" dirty="0"/>
          </a:p>
        </p:txBody>
      </p:sp>
      <p:sp>
        <p:nvSpPr>
          <p:cNvPr id="9" name="Content Placeholder 2">
            <a:extLst>
              <a:ext uri="{FF2B5EF4-FFF2-40B4-BE49-F238E27FC236}">
                <a16:creationId xmlns:a16="http://schemas.microsoft.com/office/drawing/2014/main" xmlns="" id="{60790730-E0EB-3C16-43D6-E9A4CE15DF4A}"/>
              </a:ext>
            </a:extLst>
          </p:cNvPr>
          <p:cNvSpPr>
            <a:spLocks noGrp="1"/>
          </p:cNvSpPr>
          <p:nvPr>
            <p:ph idx="1"/>
          </p:nvPr>
        </p:nvSpPr>
        <p:spPr>
          <a:xfrm>
            <a:off x="355051" y="1518880"/>
            <a:ext cx="10729366" cy="1654725"/>
          </a:xfrm>
        </p:spPr>
        <p:txBody>
          <a:bodyPr vert="horz" lIns="91440" tIns="45720" rIns="91440" bIns="45720" rtlCol="0">
            <a:noAutofit/>
          </a:bodyPr>
          <a:lstStyle/>
          <a:p>
            <a:pPr marL="0" indent="0">
              <a:buNone/>
            </a:pPr>
            <a:r>
              <a:rPr lang="en-US" sz="2000" b="1" dirty="0"/>
              <a:t>Originality &amp; Breakthroughs</a:t>
            </a:r>
          </a:p>
          <a:p>
            <a:r>
              <a:rPr lang="en-US" sz="2000" b="1" dirty="0"/>
              <a:t>Youth-Focused Mental Health AI:</a:t>
            </a:r>
            <a:r>
              <a:rPr lang="en-US" sz="2000" dirty="0"/>
              <a:t> Specifically designed for students and young adults, addressing a demographic often underserved by traditional therapy platforms.</a:t>
            </a:r>
          </a:p>
          <a:p>
            <a:r>
              <a:rPr lang="en-US" sz="2000" b="1" dirty="0"/>
              <a:t>Hybrid Wellness Ecosystem:</a:t>
            </a:r>
            <a:r>
              <a:rPr lang="en-US" sz="2000" dirty="0"/>
              <a:t> Combines AI-driven analysis, peer community engagement, and therapist connection — creating a seamless bridge between </a:t>
            </a:r>
            <a:r>
              <a:rPr lang="en-US" sz="2000" b="1" dirty="0"/>
              <a:t>self-help</a:t>
            </a:r>
            <a:r>
              <a:rPr lang="en-US" sz="2000" dirty="0"/>
              <a:t> and </a:t>
            </a:r>
            <a:r>
              <a:rPr lang="en-US" sz="2000" b="1" dirty="0"/>
              <a:t>professional care</a:t>
            </a:r>
            <a:r>
              <a:rPr lang="en-US" sz="2000" dirty="0"/>
              <a:t>.</a:t>
            </a:r>
          </a:p>
          <a:p>
            <a:r>
              <a:rPr lang="en-US" sz="2000" b="1" dirty="0"/>
              <a:t>Ethical AI &amp; Data Privacy:</a:t>
            </a:r>
            <a:r>
              <a:rPr lang="en-US" sz="2000" dirty="0"/>
              <a:t> Implements responsible AI principles with anonymized emotional data to ensure user trust and confidentiality.</a:t>
            </a:r>
          </a:p>
          <a:p>
            <a:pPr marL="0" indent="0">
              <a:buNone/>
            </a:pPr>
            <a:r>
              <a:rPr lang="en-US" sz="2000" b="1" dirty="0"/>
              <a:t>Business &amp; Service Innovation</a:t>
            </a:r>
          </a:p>
          <a:p>
            <a:r>
              <a:rPr lang="en-US" sz="2000" dirty="0" err="1"/>
              <a:t>Depresso</a:t>
            </a:r>
            <a:r>
              <a:rPr lang="en-US" sz="2000" dirty="0"/>
              <a:t> introduces a </a:t>
            </a:r>
            <a:r>
              <a:rPr lang="en-US" sz="2000" b="1" dirty="0"/>
              <a:t>freemium model</a:t>
            </a:r>
            <a:r>
              <a:rPr lang="en-US" sz="2000" dirty="0"/>
              <a:t>, offering basic journaling and AI feedback for free while providing premium features — such as therapist matching and advanced emotional analytics — through subscription. This model supports both accessibility and sustainable scalability across regions.</a:t>
            </a:r>
          </a:p>
          <a:p>
            <a:pPr marL="0" indent="0">
              <a:buNone/>
            </a:pPr>
            <a:endParaRPr sz="2000" dirty="0"/>
          </a:p>
        </p:txBody>
      </p:sp>
      <p:sp>
        <p:nvSpPr>
          <p:cNvPr id="12" name="矩形 11">
            <a:extLst>
              <a:ext uri="{FF2B5EF4-FFF2-40B4-BE49-F238E27FC236}">
                <a16:creationId xmlns:a16="http://schemas.microsoft.com/office/drawing/2014/main" xmlns="" id="{69F60C40-3230-48A0-5A38-632DB6B3450B}"/>
              </a:ext>
            </a:extLst>
          </p:cNvPr>
          <p:cNvSpPr/>
          <p:nvPr/>
        </p:nvSpPr>
        <p:spPr>
          <a:xfrm>
            <a:off x="0" y="6435634"/>
            <a:ext cx="12192000" cy="422366"/>
          </a:xfrm>
          <a:prstGeom prst="rect">
            <a:avLst/>
          </a:prstGeom>
          <a:solidFill>
            <a:srgbClr val="D7E4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a:extLst>
              <a:ext uri="{FF2B5EF4-FFF2-40B4-BE49-F238E27FC236}">
                <a16:creationId xmlns:a16="http://schemas.microsoft.com/office/drawing/2014/main" xmlns="" id="{3B50FFDB-0593-7161-41FC-A131EE52C13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34034" y="4888851"/>
            <a:ext cx="1757966" cy="1757966"/>
          </a:xfrm>
          <a:prstGeom prst="rect">
            <a:avLst/>
          </a:prstGeom>
        </p:spPr>
      </p:pic>
    </p:spTree>
    <p:extLst>
      <p:ext uri="{BB962C8B-B14F-4D97-AF65-F5344CB8AC3E}">
        <p14:creationId xmlns:p14="http://schemas.microsoft.com/office/powerpoint/2010/main" val="11391026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74E3F1D1-26C7-9F33-5558-32F9712D9059}"/>
            </a:ext>
          </a:extLst>
        </p:cNvPr>
        <p:cNvGrpSpPr/>
        <p:nvPr/>
      </p:nvGrpSpPr>
      <p:grpSpPr>
        <a:xfrm>
          <a:off x="0" y="0"/>
          <a:ext cx="0" cy="0"/>
          <a:chOff x="0" y="0"/>
          <a:chExt cx="0" cy="0"/>
        </a:xfrm>
      </p:grpSpPr>
      <p:sp>
        <p:nvSpPr>
          <p:cNvPr id="8" name="Subtitle 1">
            <a:extLst>
              <a:ext uri="{FF2B5EF4-FFF2-40B4-BE49-F238E27FC236}">
                <a16:creationId xmlns:a16="http://schemas.microsoft.com/office/drawing/2014/main" xmlns="" id="{3891B27D-7457-826E-5F86-ABD027D55FE5}"/>
              </a:ext>
            </a:extLst>
          </p:cNvPr>
          <p:cNvSpPr txBox="1">
            <a:spLocks/>
          </p:cNvSpPr>
          <p:nvPr/>
        </p:nvSpPr>
        <p:spPr>
          <a:xfrm>
            <a:off x="1046251" y="404410"/>
            <a:ext cx="10736446" cy="395050"/>
          </a:xfrm>
          <a:prstGeom prst="rect">
            <a:avLst/>
          </a:prstGeom>
        </p:spPr>
        <p:txBody>
          <a:bodyPr vert="horz" lIns="91440" tIns="45720" rIns="91440" bIns="45720" rtlCol="0">
            <a:noAutofit/>
          </a:bodyPr>
          <a:lstStyle>
            <a:defPPr>
              <a:defRPr lang="zh-CN"/>
            </a:defPPr>
            <a:lvl1pPr indent="0" eaLnBrk="0" fontAlgn="base" hangingPunct="0">
              <a:lnSpc>
                <a:spcPct val="90000"/>
              </a:lnSpc>
              <a:spcBef>
                <a:spcPct val="0"/>
              </a:spcBef>
              <a:spcAft>
                <a:spcPct val="0"/>
              </a:spcAft>
              <a:buFont typeface="Arial" panose="020B0604020202020204" pitchFamily="34" charset="0"/>
              <a:buNone/>
              <a:defRPr sz="2799" b="1">
                <a:solidFill>
                  <a:srgbClr val="990000"/>
                </a:solidFill>
                <a:latin typeface="Microsoft YaHei" panose="020B0503020204020204" pitchFamily="34" charset="-122"/>
                <a:ea typeface="Microsoft YaHei"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dirty="0"/>
              <a:t>Business Value</a:t>
            </a:r>
            <a:endParaRPr lang="zh-CN" altLang="en-US" dirty="0"/>
          </a:p>
        </p:txBody>
      </p:sp>
      <p:sp>
        <p:nvSpPr>
          <p:cNvPr id="12" name="矩形 11">
            <a:extLst>
              <a:ext uri="{FF2B5EF4-FFF2-40B4-BE49-F238E27FC236}">
                <a16:creationId xmlns:a16="http://schemas.microsoft.com/office/drawing/2014/main" xmlns="" id="{79741CFB-69A2-6CEE-2785-F0F908D85C2B}"/>
              </a:ext>
            </a:extLst>
          </p:cNvPr>
          <p:cNvSpPr/>
          <p:nvPr/>
        </p:nvSpPr>
        <p:spPr>
          <a:xfrm>
            <a:off x="0" y="6435634"/>
            <a:ext cx="12192000" cy="422366"/>
          </a:xfrm>
          <a:prstGeom prst="rect">
            <a:avLst/>
          </a:prstGeom>
          <a:solidFill>
            <a:srgbClr val="D7E4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a:extLst>
              <a:ext uri="{FF2B5EF4-FFF2-40B4-BE49-F238E27FC236}">
                <a16:creationId xmlns:a16="http://schemas.microsoft.com/office/drawing/2014/main" xmlns="" id="{FFD15691-7504-F770-BB24-90A088A920C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34034" y="4888851"/>
            <a:ext cx="1757966" cy="1757966"/>
          </a:xfrm>
          <a:prstGeom prst="rect">
            <a:avLst/>
          </a:prstGeom>
        </p:spPr>
      </p:pic>
      <p:pic>
        <p:nvPicPr>
          <p:cNvPr id="5" name="Content Placeholder 4" descr="Several colorful squares with text&#10;&#10;AI-generated content may be incorrect.">
            <a:extLst>
              <a:ext uri="{FF2B5EF4-FFF2-40B4-BE49-F238E27FC236}">
                <a16:creationId xmlns:a16="http://schemas.microsoft.com/office/drawing/2014/main" xmlns="" id="{6A53BD00-3CD8-207F-E117-B83186F48FE6}"/>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0" y="1016313"/>
            <a:ext cx="12192000" cy="5453351"/>
          </a:xfrm>
        </p:spPr>
      </p:pic>
    </p:spTree>
    <p:extLst>
      <p:ext uri="{BB962C8B-B14F-4D97-AF65-F5344CB8AC3E}">
        <p14:creationId xmlns:p14="http://schemas.microsoft.com/office/powerpoint/2010/main" val="21489002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5CE48002-A775-BCC9-F81C-375A2531AE41}"/>
            </a:ext>
          </a:extLst>
        </p:cNvPr>
        <p:cNvGrpSpPr/>
        <p:nvPr/>
      </p:nvGrpSpPr>
      <p:grpSpPr>
        <a:xfrm>
          <a:off x="0" y="0"/>
          <a:ext cx="0" cy="0"/>
          <a:chOff x="0" y="0"/>
          <a:chExt cx="0" cy="0"/>
        </a:xfrm>
      </p:grpSpPr>
      <p:sp>
        <p:nvSpPr>
          <p:cNvPr id="8" name="Subtitle 1">
            <a:extLst>
              <a:ext uri="{FF2B5EF4-FFF2-40B4-BE49-F238E27FC236}">
                <a16:creationId xmlns:a16="http://schemas.microsoft.com/office/drawing/2014/main" xmlns="" id="{A9BFA9DF-C4AD-8F27-E75A-F05473E0347E}"/>
              </a:ext>
            </a:extLst>
          </p:cNvPr>
          <p:cNvSpPr txBox="1">
            <a:spLocks/>
          </p:cNvSpPr>
          <p:nvPr/>
        </p:nvSpPr>
        <p:spPr>
          <a:xfrm>
            <a:off x="1046251" y="404410"/>
            <a:ext cx="10736446" cy="395050"/>
          </a:xfrm>
          <a:prstGeom prst="rect">
            <a:avLst/>
          </a:prstGeom>
        </p:spPr>
        <p:txBody>
          <a:bodyPr vert="horz" lIns="91440" tIns="45720" rIns="91440" bIns="45720" rtlCol="0">
            <a:noAutofit/>
          </a:bodyPr>
          <a:lstStyle>
            <a:defPPr>
              <a:defRPr lang="zh-CN"/>
            </a:defPPr>
            <a:lvl1pPr indent="0" eaLnBrk="0" fontAlgn="base" hangingPunct="0">
              <a:lnSpc>
                <a:spcPct val="90000"/>
              </a:lnSpc>
              <a:spcBef>
                <a:spcPct val="0"/>
              </a:spcBef>
              <a:spcAft>
                <a:spcPct val="0"/>
              </a:spcAft>
              <a:buFont typeface="Arial" panose="020B0604020202020204" pitchFamily="34" charset="0"/>
              <a:buNone/>
              <a:defRPr sz="2799" b="1">
                <a:solidFill>
                  <a:srgbClr val="990000"/>
                </a:solidFill>
                <a:latin typeface="Microsoft YaHei" panose="020B0503020204020204" pitchFamily="34" charset="-122"/>
                <a:ea typeface="Microsoft YaHei"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dirty="0"/>
              <a:t>Business Value</a:t>
            </a:r>
            <a:endParaRPr lang="zh-CN" altLang="en-US" dirty="0"/>
          </a:p>
        </p:txBody>
      </p:sp>
      <p:sp>
        <p:nvSpPr>
          <p:cNvPr id="12" name="矩形 11">
            <a:extLst>
              <a:ext uri="{FF2B5EF4-FFF2-40B4-BE49-F238E27FC236}">
                <a16:creationId xmlns:a16="http://schemas.microsoft.com/office/drawing/2014/main" xmlns="" id="{1A2FCA1C-7B3D-ED4F-41A3-E6E4BD2FC9BD}"/>
              </a:ext>
            </a:extLst>
          </p:cNvPr>
          <p:cNvSpPr/>
          <p:nvPr/>
        </p:nvSpPr>
        <p:spPr>
          <a:xfrm>
            <a:off x="0" y="6435634"/>
            <a:ext cx="12192000" cy="422366"/>
          </a:xfrm>
          <a:prstGeom prst="rect">
            <a:avLst/>
          </a:prstGeom>
          <a:solidFill>
            <a:srgbClr val="D7E4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a:extLst>
              <a:ext uri="{FF2B5EF4-FFF2-40B4-BE49-F238E27FC236}">
                <a16:creationId xmlns:a16="http://schemas.microsoft.com/office/drawing/2014/main" xmlns="" id="{9CA46420-590E-E410-7CA9-5D915C94E8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34034" y="4888851"/>
            <a:ext cx="1757966" cy="1757966"/>
          </a:xfrm>
          <a:prstGeom prst="rect">
            <a:avLst/>
          </a:prstGeom>
        </p:spPr>
      </p:pic>
      <p:sp>
        <p:nvSpPr>
          <p:cNvPr id="6" name="Content Placeholder 2">
            <a:extLst>
              <a:ext uri="{FF2B5EF4-FFF2-40B4-BE49-F238E27FC236}">
                <a16:creationId xmlns:a16="http://schemas.microsoft.com/office/drawing/2014/main" xmlns="" id="{776B18FC-9DCD-8A4D-1C45-BF2D8B76EB95}"/>
              </a:ext>
            </a:extLst>
          </p:cNvPr>
          <p:cNvSpPr>
            <a:spLocks noGrp="1"/>
          </p:cNvSpPr>
          <p:nvPr>
            <p:ph idx="1"/>
          </p:nvPr>
        </p:nvSpPr>
        <p:spPr>
          <a:xfrm>
            <a:off x="731317" y="1589440"/>
            <a:ext cx="10729366" cy="1684013"/>
          </a:xfrm>
        </p:spPr>
        <p:txBody>
          <a:bodyPr vert="horz" lIns="91440" tIns="45720" rIns="91440" bIns="45720" rtlCol="0">
            <a:noAutofit/>
          </a:bodyPr>
          <a:lstStyle/>
          <a:p>
            <a:pPr marL="0" indent="0">
              <a:buNone/>
            </a:pPr>
            <a:r>
              <a:rPr lang="en-US" sz="2000" b="1" dirty="0"/>
              <a:t>Social Value:</a:t>
            </a:r>
            <a:br>
              <a:rPr lang="en-US" sz="2000" b="1" dirty="0"/>
            </a:br>
            <a:r>
              <a:rPr lang="en-US" sz="2000" dirty="0"/>
              <a:t>Depression affects more than </a:t>
            </a:r>
            <a:r>
              <a:rPr lang="en-US" sz="2000" b="1" dirty="0"/>
              <a:t>280 million people globally (WHO, 2024)</a:t>
            </a:r>
            <a:r>
              <a:rPr lang="en-US" sz="2000" dirty="0"/>
              <a:t>, yet over </a:t>
            </a:r>
            <a:r>
              <a:rPr lang="en-US" sz="2000" b="1" dirty="0"/>
              <a:t>60%</a:t>
            </a:r>
            <a:r>
              <a:rPr lang="en-US" sz="2000" dirty="0"/>
              <a:t> receive no adequate treatment, especially in developing regions. In North Africa, studies show that </a:t>
            </a:r>
            <a:r>
              <a:rPr lang="en-US" sz="2000" b="1" dirty="0"/>
              <a:t>1 in 4 university students </a:t>
            </a:r>
            <a:r>
              <a:rPr lang="en-US" sz="2000" dirty="0"/>
              <a:t>report symptoms of depression or severe stress. </a:t>
            </a:r>
            <a:r>
              <a:rPr lang="en-US" sz="2000" dirty="0" err="1"/>
              <a:t>Depresso</a:t>
            </a:r>
            <a:r>
              <a:rPr lang="en-US" sz="2000" dirty="0"/>
              <a:t> addresses this gap by offering early, accessible, and stigma-free detection through AI-powered journaling. By promoting mental health awareness and connecting users to professional therapists, the platform contributes to improved emotional well-being and reduced societal burden.</a:t>
            </a:r>
          </a:p>
          <a:p>
            <a:pPr marL="0" indent="0">
              <a:buNone/>
            </a:pPr>
            <a:r>
              <a:rPr lang="en-US" sz="2000" b="1" dirty="0"/>
              <a:t>Business Value:</a:t>
            </a:r>
            <a:br>
              <a:rPr lang="en-US" sz="2000" b="1" dirty="0"/>
            </a:br>
            <a:r>
              <a:rPr lang="en-US" sz="2000" dirty="0"/>
              <a:t>The global mental health app market was valued </a:t>
            </a:r>
            <a:r>
              <a:rPr lang="en-US" sz="2000" b="1" dirty="0"/>
              <a:t>at USD 6.2 billion in 2023 </a:t>
            </a:r>
            <a:r>
              <a:rPr lang="en-US" sz="2000" dirty="0"/>
              <a:t>and is projected to reach </a:t>
            </a:r>
            <a:r>
              <a:rPr lang="en-US" sz="2000" b="1" dirty="0"/>
              <a:t>USD 17.5 billion by 2030 .</a:t>
            </a:r>
            <a:r>
              <a:rPr lang="en-US" sz="2000" dirty="0"/>
              <a:t>Youth and student populations represent one of the fastest-growing user segments for digital wellness solutions. </a:t>
            </a:r>
            <a:r>
              <a:rPr lang="en-US" sz="2000" dirty="0" err="1"/>
              <a:t>Depresso’s</a:t>
            </a:r>
            <a:r>
              <a:rPr lang="en-US" sz="2000" dirty="0"/>
              <a:t> freemium model and therapist referral partnerships position it strategically for sustainable revenue.</a:t>
            </a:r>
          </a:p>
        </p:txBody>
      </p:sp>
    </p:spTree>
    <p:extLst>
      <p:ext uri="{BB962C8B-B14F-4D97-AF65-F5344CB8AC3E}">
        <p14:creationId xmlns:p14="http://schemas.microsoft.com/office/powerpoint/2010/main" val="79967747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62C66DC1-5BDB-8171-F95D-B36E005AD92C}"/>
            </a:ext>
          </a:extLst>
        </p:cNvPr>
        <p:cNvGrpSpPr/>
        <p:nvPr/>
      </p:nvGrpSpPr>
      <p:grpSpPr>
        <a:xfrm>
          <a:off x="0" y="0"/>
          <a:ext cx="0" cy="0"/>
          <a:chOff x="0" y="0"/>
          <a:chExt cx="0" cy="0"/>
        </a:xfrm>
      </p:grpSpPr>
      <p:sp>
        <p:nvSpPr>
          <p:cNvPr id="8" name="Subtitle 1">
            <a:extLst>
              <a:ext uri="{FF2B5EF4-FFF2-40B4-BE49-F238E27FC236}">
                <a16:creationId xmlns:a16="http://schemas.microsoft.com/office/drawing/2014/main" xmlns="" id="{3342C52F-9245-B7C9-94AE-C19B5306931C}"/>
              </a:ext>
            </a:extLst>
          </p:cNvPr>
          <p:cNvSpPr txBox="1">
            <a:spLocks/>
          </p:cNvSpPr>
          <p:nvPr/>
        </p:nvSpPr>
        <p:spPr>
          <a:xfrm>
            <a:off x="1046251" y="404410"/>
            <a:ext cx="10736446" cy="395050"/>
          </a:xfrm>
          <a:prstGeom prst="rect">
            <a:avLst/>
          </a:prstGeom>
        </p:spPr>
        <p:txBody>
          <a:bodyPr vert="horz" lIns="91440" tIns="45720" rIns="91440" bIns="45720" rtlCol="0">
            <a:noAutofit/>
          </a:bodyPr>
          <a:lstStyle>
            <a:defPPr>
              <a:defRPr lang="zh-CN"/>
            </a:defPPr>
            <a:lvl1pPr indent="0" eaLnBrk="0" fontAlgn="base" hangingPunct="0">
              <a:lnSpc>
                <a:spcPct val="90000"/>
              </a:lnSpc>
              <a:spcBef>
                <a:spcPct val="0"/>
              </a:spcBef>
              <a:spcAft>
                <a:spcPct val="0"/>
              </a:spcAft>
              <a:buFont typeface="Arial" panose="020B0604020202020204" pitchFamily="34" charset="0"/>
              <a:buNone/>
              <a:defRPr sz="2799" b="1">
                <a:solidFill>
                  <a:srgbClr val="990000"/>
                </a:solidFill>
                <a:latin typeface="Microsoft YaHei" panose="020B0503020204020204" pitchFamily="34" charset="-122"/>
                <a:ea typeface="Microsoft YaHei"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dirty="0"/>
              <a:t>Business Value</a:t>
            </a:r>
            <a:endParaRPr lang="zh-CN" altLang="en-US" dirty="0"/>
          </a:p>
        </p:txBody>
      </p:sp>
      <p:sp>
        <p:nvSpPr>
          <p:cNvPr id="12" name="矩形 11">
            <a:extLst>
              <a:ext uri="{FF2B5EF4-FFF2-40B4-BE49-F238E27FC236}">
                <a16:creationId xmlns:a16="http://schemas.microsoft.com/office/drawing/2014/main" xmlns="" id="{8968063B-7CE3-9253-5990-318D1EBBB4BD}"/>
              </a:ext>
            </a:extLst>
          </p:cNvPr>
          <p:cNvSpPr/>
          <p:nvPr/>
        </p:nvSpPr>
        <p:spPr>
          <a:xfrm>
            <a:off x="0" y="6435634"/>
            <a:ext cx="12192000" cy="422366"/>
          </a:xfrm>
          <a:prstGeom prst="rect">
            <a:avLst/>
          </a:prstGeom>
          <a:solidFill>
            <a:srgbClr val="D7E4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a:extLst>
              <a:ext uri="{FF2B5EF4-FFF2-40B4-BE49-F238E27FC236}">
                <a16:creationId xmlns:a16="http://schemas.microsoft.com/office/drawing/2014/main" xmlns="" id="{5170A96A-3140-13A3-2F6C-6047457F6ED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34034" y="4888851"/>
            <a:ext cx="1757966" cy="1757966"/>
          </a:xfrm>
          <a:prstGeom prst="rect">
            <a:avLst/>
          </a:prstGeom>
        </p:spPr>
      </p:pic>
      <p:sp>
        <p:nvSpPr>
          <p:cNvPr id="6" name="Content Placeholder 2">
            <a:extLst>
              <a:ext uri="{FF2B5EF4-FFF2-40B4-BE49-F238E27FC236}">
                <a16:creationId xmlns:a16="http://schemas.microsoft.com/office/drawing/2014/main" xmlns="" id="{99836CAF-AF30-DC43-2D49-C5D535274A0D}"/>
              </a:ext>
            </a:extLst>
          </p:cNvPr>
          <p:cNvSpPr>
            <a:spLocks noGrp="1"/>
          </p:cNvSpPr>
          <p:nvPr>
            <p:ph idx="1"/>
          </p:nvPr>
        </p:nvSpPr>
        <p:spPr>
          <a:xfrm>
            <a:off x="731317" y="1589440"/>
            <a:ext cx="10729366" cy="1684013"/>
          </a:xfrm>
        </p:spPr>
        <p:txBody>
          <a:bodyPr>
            <a:noAutofit/>
          </a:bodyPr>
          <a:lstStyle/>
          <a:p>
            <a:r>
              <a:rPr lang="en-US" sz="2000" b="1" dirty="0"/>
              <a:t>Profitability:</a:t>
            </a:r>
            <a:r>
              <a:rPr lang="en-US" sz="2000" dirty="0"/>
              <a:t/>
            </a:r>
            <a:br>
              <a:rPr lang="en-US" sz="2000" dirty="0"/>
            </a:br>
            <a:r>
              <a:rPr lang="en-US" sz="2000" dirty="0"/>
              <a:t>The global mental health app market is projected to reach </a:t>
            </a:r>
            <a:r>
              <a:rPr lang="en-US" sz="2000" b="1" dirty="0"/>
              <a:t>USD 17.5 billion by 2030</a:t>
            </a:r>
            <a:r>
              <a:rPr lang="en-US" sz="2000" dirty="0"/>
              <a:t>, with </a:t>
            </a:r>
            <a:r>
              <a:rPr lang="en-US" sz="2000" b="1" dirty="0"/>
              <a:t>annual growth over 15%</a:t>
            </a:r>
            <a:r>
              <a:rPr lang="en-US" sz="2000" dirty="0"/>
              <a:t> (Grand View Research, 2024). With an estimated </a:t>
            </a:r>
            <a:r>
              <a:rPr lang="en-US" sz="2000" b="1" dirty="0"/>
              <a:t>10,000 active users in the first year and a 5% conversion to premium</a:t>
            </a:r>
            <a:r>
              <a:rPr lang="en-US" sz="2000" dirty="0"/>
              <a:t>, </a:t>
            </a:r>
            <a:r>
              <a:rPr lang="en-US" sz="2000" dirty="0" err="1"/>
              <a:t>Depresso</a:t>
            </a:r>
            <a:r>
              <a:rPr lang="en-US" sz="2000" dirty="0"/>
              <a:t> expects early revenue generation through subscription and referral commissions. Low infrastructure cost via Huawei Cloud EI and PaaS ensures high margins and scalability.</a:t>
            </a:r>
          </a:p>
          <a:p>
            <a:r>
              <a:rPr lang="en-US" sz="2000" b="1" dirty="0"/>
              <a:t>Prospect:</a:t>
            </a:r>
            <a:r>
              <a:rPr lang="en-US" sz="2000" dirty="0"/>
              <a:t/>
            </a:r>
            <a:br>
              <a:rPr lang="en-US" sz="2000" dirty="0"/>
            </a:br>
            <a:r>
              <a:rPr lang="en-US" sz="2000" dirty="0" err="1"/>
              <a:t>Depresso</a:t>
            </a:r>
            <a:r>
              <a:rPr lang="en-US" sz="2000" dirty="0"/>
              <a:t> aims to become the leading AI-powered emotional wellness platform for youth in North Africa, with future expansion to the Middle East and Sub-Saharan Africa. Planned updates include voice emotion recognition, multilingual support (Arabic–French–English), and integration with Huawei Health Kit, creating a complete digital ecosystem for preventive mental health care.</a:t>
            </a:r>
          </a:p>
        </p:txBody>
      </p:sp>
    </p:spTree>
    <p:extLst>
      <p:ext uri="{BB962C8B-B14F-4D97-AF65-F5344CB8AC3E}">
        <p14:creationId xmlns:p14="http://schemas.microsoft.com/office/powerpoint/2010/main" val="34703935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A564CD68-CF0E-2088-980D-6ABEEC31E958}"/>
            </a:ext>
          </a:extLst>
        </p:cNvPr>
        <p:cNvGrpSpPr/>
        <p:nvPr/>
      </p:nvGrpSpPr>
      <p:grpSpPr>
        <a:xfrm>
          <a:off x="0" y="0"/>
          <a:ext cx="0" cy="0"/>
          <a:chOff x="0" y="0"/>
          <a:chExt cx="0" cy="0"/>
        </a:xfrm>
      </p:grpSpPr>
      <p:sp>
        <p:nvSpPr>
          <p:cNvPr id="8" name="Subtitle 1">
            <a:extLst>
              <a:ext uri="{FF2B5EF4-FFF2-40B4-BE49-F238E27FC236}">
                <a16:creationId xmlns:a16="http://schemas.microsoft.com/office/drawing/2014/main" xmlns="" id="{63A05440-0009-CB66-137F-C9CFC3E054E8}"/>
              </a:ext>
            </a:extLst>
          </p:cNvPr>
          <p:cNvSpPr txBox="1">
            <a:spLocks/>
          </p:cNvSpPr>
          <p:nvPr/>
        </p:nvSpPr>
        <p:spPr>
          <a:xfrm>
            <a:off x="1046251" y="404410"/>
            <a:ext cx="10736446" cy="395050"/>
          </a:xfrm>
          <a:prstGeom prst="rect">
            <a:avLst/>
          </a:prstGeom>
        </p:spPr>
        <p:txBody>
          <a:bodyPr vert="horz" lIns="91440" tIns="45720" rIns="91440" bIns="45720" rtlCol="0">
            <a:noAutofit/>
          </a:bodyPr>
          <a:lstStyle>
            <a:defPPr>
              <a:defRPr lang="zh-CN"/>
            </a:defPPr>
            <a:lvl1pPr indent="0" eaLnBrk="0" fontAlgn="base" hangingPunct="0">
              <a:lnSpc>
                <a:spcPct val="90000"/>
              </a:lnSpc>
              <a:spcBef>
                <a:spcPct val="0"/>
              </a:spcBef>
              <a:spcAft>
                <a:spcPct val="0"/>
              </a:spcAft>
              <a:buFont typeface="Arial" panose="020B0604020202020204" pitchFamily="34" charset="0"/>
              <a:buNone/>
              <a:defRPr sz="2799" b="1">
                <a:solidFill>
                  <a:srgbClr val="990000"/>
                </a:solidFill>
                <a:latin typeface="Microsoft YaHei" panose="020B0503020204020204" pitchFamily="34" charset="-122"/>
                <a:ea typeface="Microsoft YaHei"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dirty="0"/>
              <a:t>(Optional) Verification</a:t>
            </a:r>
            <a:endParaRPr lang="zh-CN" altLang="en-US" dirty="0"/>
          </a:p>
        </p:txBody>
      </p:sp>
      <p:sp>
        <p:nvSpPr>
          <p:cNvPr id="12" name="矩形 11">
            <a:extLst>
              <a:ext uri="{FF2B5EF4-FFF2-40B4-BE49-F238E27FC236}">
                <a16:creationId xmlns:a16="http://schemas.microsoft.com/office/drawing/2014/main" xmlns="" id="{F80601F7-ADBD-EEF2-C200-6DA540026156}"/>
              </a:ext>
            </a:extLst>
          </p:cNvPr>
          <p:cNvSpPr/>
          <p:nvPr/>
        </p:nvSpPr>
        <p:spPr>
          <a:xfrm>
            <a:off x="0" y="6435634"/>
            <a:ext cx="12192000" cy="422366"/>
          </a:xfrm>
          <a:prstGeom prst="rect">
            <a:avLst/>
          </a:prstGeom>
          <a:solidFill>
            <a:srgbClr val="D7E4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a:extLst>
              <a:ext uri="{FF2B5EF4-FFF2-40B4-BE49-F238E27FC236}">
                <a16:creationId xmlns:a16="http://schemas.microsoft.com/office/drawing/2014/main" xmlns="" id="{C1987F31-3581-B4A7-F55E-104C64DCA2C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34034" y="4888851"/>
            <a:ext cx="1757966" cy="1757966"/>
          </a:xfrm>
          <a:prstGeom prst="rect">
            <a:avLst/>
          </a:prstGeom>
        </p:spPr>
      </p:pic>
      <p:pic>
        <p:nvPicPr>
          <p:cNvPr id="4" name="Picture 3">
            <a:extLst>
              <a:ext uri="{FF2B5EF4-FFF2-40B4-BE49-F238E27FC236}">
                <a16:creationId xmlns:a16="http://schemas.microsoft.com/office/drawing/2014/main" xmlns="" id="{A99E01B8-6F4C-CB7D-2A7A-3A95D58DBACD}"/>
              </a:ext>
            </a:extLst>
          </p:cNvPr>
          <p:cNvPicPr>
            <a:picLocks noChangeAspect="1"/>
          </p:cNvPicPr>
          <p:nvPr/>
        </p:nvPicPr>
        <p:blipFill>
          <a:blip r:embed="rId3"/>
          <a:stretch>
            <a:fillRect/>
          </a:stretch>
        </p:blipFill>
        <p:spPr>
          <a:xfrm>
            <a:off x="142456" y="1654694"/>
            <a:ext cx="5680373" cy="3693319"/>
          </a:xfrm>
          <a:prstGeom prst="rect">
            <a:avLst/>
          </a:prstGeom>
        </p:spPr>
      </p:pic>
      <p:sp>
        <p:nvSpPr>
          <p:cNvPr id="7" name="TextBox 6">
            <a:extLst>
              <a:ext uri="{FF2B5EF4-FFF2-40B4-BE49-F238E27FC236}">
                <a16:creationId xmlns:a16="http://schemas.microsoft.com/office/drawing/2014/main" xmlns="" id="{B6D3D421-541D-B8CA-5C1A-BEEBE401F474}"/>
              </a:ext>
            </a:extLst>
          </p:cNvPr>
          <p:cNvSpPr txBox="1"/>
          <p:nvPr/>
        </p:nvSpPr>
        <p:spPr>
          <a:xfrm>
            <a:off x="5822829" y="1654694"/>
            <a:ext cx="5339751" cy="3693319"/>
          </a:xfrm>
          <a:prstGeom prst="rect">
            <a:avLst/>
          </a:prstGeom>
          <a:noFill/>
        </p:spPr>
        <p:txBody>
          <a:bodyPr wrap="square">
            <a:spAutoFit/>
          </a:bodyPr>
          <a:lstStyle/>
          <a:p>
            <a:pPr>
              <a:buNone/>
            </a:pPr>
            <a:r>
              <a:rPr lang="en-US" b="1" dirty="0"/>
              <a:t> Figure: Responses to “Would you use a journaling app?”</a:t>
            </a:r>
          </a:p>
          <a:p>
            <a:pPr>
              <a:buNone/>
            </a:pPr>
            <a:r>
              <a:rPr lang="en-US" b="1" dirty="0"/>
              <a:t>Based on our survey </a:t>
            </a:r>
            <a:endParaRPr lang="en-US" dirty="0"/>
          </a:p>
          <a:p>
            <a:pPr>
              <a:buNone/>
            </a:pPr>
            <a:r>
              <a:rPr lang="en-US" dirty="0"/>
              <a:t>The pie chart illustrates participants’ willingness to use a journaling application. The majority of respondents answered </a:t>
            </a:r>
            <a:r>
              <a:rPr lang="en-US" b="1" dirty="0"/>
              <a:t>“Yes”</a:t>
            </a:r>
            <a:r>
              <a:rPr lang="en-US" dirty="0"/>
              <a:t>, indicating a strong interest and openness toward adopting such an app. A portion selected </a:t>
            </a:r>
            <a:r>
              <a:rPr lang="en-US" b="1" dirty="0"/>
              <a:t>“Maybe”</a:t>
            </a:r>
            <a:r>
              <a:rPr lang="en-US" dirty="0"/>
              <a:t>, showing some curiosity but potential hesitation, while only a few respondents answered </a:t>
            </a:r>
            <a:r>
              <a:rPr lang="en-US" b="1" dirty="0"/>
              <a:t>“No”</a:t>
            </a:r>
            <a:r>
              <a:rPr lang="en-US" dirty="0"/>
              <a:t>, suggesting limited resistance. Overall, the results reflect </a:t>
            </a:r>
            <a:r>
              <a:rPr lang="en-US" b="1" dirty="0"/>
              <a:t>positive user receptiveness</a:t>
            </a:r>
            <a:r>
              <a:rPr lang="en-US" dirty="0"/>
              <a:t>, supporting the potential demand for a journaling app.</a:t>
            </a:r>
          </a:p>
        </p:txBody>
      </p:sp>
    </p:spTree>
    <p:extLst>
      <p:ext uri="{BB962C8B-B14F-4D97-AF65-F5344CB8AC3E}">
        <p14:creationId xmlns:p14="http://schemas.microsoft.com/office/powerpoint/2010/main" val="36365968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ubtitle 1">
            <a:extLst>
              <a:ext uri="{FF2B5EF4-FFF2-40B4-BE49-F238E27FC236}">
                <a16:creationId xmlns:a16="http://schemas.microsoft.com/office/drawing/2014/main" xmlns="" id="{C6ADB1D9-336D-594D-9418-4BC486843D21}"/>
              </a:ext>
            </a:extLst>
          </p:cNvPr>
          <p:cNvSpPr txBox="1">
            <a:spLocks/>
          </p:cNvSpPr>
          <p:nvPr/>
        </p:nvSpPr>
        <p:spPr>
          <a:xfrm>
            <a:off x="1046251" y="404410"/>
            <a:ext cx="10736446" cy="395050"/>
          </a:xfrm>
          <a:prstGeom prst="rect">
            <a:avLst/>
          </a:prstGeom>
        </p:spPr>
        <p:txBody>
          <a:bodyPr vert="horz" lIns="91440" tIns="45720" rIns="91440" bIns="45720" rtlCol="0">
            <a:noAutofit/>
          </a:bodyPr>
          <a:lstStyle>
            <a:defPPr>
              <a:defRPr lang="zh-CN"/>
            </a:defPPr>
            <a:lvl1pPr indent="0" eaLnBrk="0" fontAlgn="base" hangingPunct="0">
              <a:lnSpc>
                <a:spcPct val="90000"/>
              </a:lnSpc>
              <a:spcBef>
                <a:spcPct val="0"/>
              </a:spcBef>
              <a:spcAft>
                <a:spcPct val="0"/>
              </a:spcAft>
              <a:buFont typeface="Arial" panose="020B0604020202020204" pitchFamily="34" charset="0"/>
              <a:buNone/>
              <a:defRPr sz="2799" b="1">
                <a:solidFill>
                  <a:srgbClr val="990000"/>
                </a:solidFill>
                <a:latin typeface="Microsoft YaHei" panose="020B0503020204020204" pitchFamily="34" charset="-122"/>
                <a:ea typeface="Microsoft YaHei"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Demo &amp; Follow-up</a:t>
            </a:r>
            <a:r>
              <a:rPr dirty="0"/>
              <a:t> Plan</a:t>
            </a:r>
            <a:endParaRPr lang="zh-CN" altLang="en-US" dirty="0"/>
          </a:p>
        </p:txBody>
      </p:sp>
      <p:sp>
        <p:nvSpPr>
          <p:cNvPr id="12" name="矩形 11"/>
          <p:cNvSpPr/>
          <p:nvPr/>
        </p:nvSpPr>
        <p:spPr>
          <a:xfrm>
            <a:off x="5304" y="6427396"/>
            <a:ext cx="12192000" cy="422366"/>
          </a:xfrm>
          <a:prstGeom prst="rect">
            <a:avLst/>
          </a:prstGeom>
          <a:solidFill>
            <a:srgbClr val="D7E4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34034" y="4888851"/>
            <a:ext cx="1757966" cy="1757966"/>
          </a:xfrm>
          <a:prstGeom prst="rect">
            <a:avLst/>
          </a:prstGeom>
        </p:spPr>
      </p:pic>
      <p:sp>
        <p:nvSpPr>
          <p:cNvPr id="7" name="Content Placeholder 2">
            <a:extLst>
              <a:ext uri="{FF2B5EF4-FFF2-40B4-BE49-F238E27FC236}">
                <a16:creationId xmlns:a16="http://schemas.microsoft.com/office/drawing/2014/main" xmlns="" id="{1D7B0514-4060-0E4B-809B-B1B2E3258AB4}"/>
              </a:ext>
            </a:extLst>
          </p:cNvPr>
          <p:cNvSpPr>
            <a:spLocks noGrp="1"/>
          </p:cNvSpPr>
          <p:nvPr>
            <p:ph idx="1"/>
          </p:nvPr>
        </p:nvSpPr>
        <p:spPr>
          <a:xfrm>
            <a:off x="731317" y="1316165"/>
            <a:ext cx="10729366" cy="423449"/>
          </a:xfrm>
        </p:spPr>
        <p:txBody>
          <a:bodyPr>
            <a:spAutoFit/>
          </a:bodyPr>
          <a:lstStyle/>
          <a:p>
            <a:pPr marL="285636" indent="-285636">
              <a:lnSpc>
                <a:spcPct val="150000"/>
              </a:lnSpc>
              <a:buFont typeface="Arial" panose="020B0604020202020204" pitchFamily="34" charset="0"/>
              <a:buChar char="•"/>
            </a:pPr>
            <a:r>
              <a:rPr lang="en-US" sz="1600" b="1" u="none" dirty="0">
                <a:solidFill>
                  <a:srgbClr val="FF0000"/>
                </a:solidFill>
              </a:rPr>
              <a:t>Demo</a:t>
            </a:r>
          </a:p>
        </p:txBody>
      </p:sp>
      <p:sp>
        <p:nvSpPr>
          <p:cNvPr id="3" name="TextBox 2">
            <a:extLst>
              <a:ext uri="{FF2B5EF4-FFF2-40B4-BE49-F238E27FC236}">
                <a16:creationId xmlns:a16="http://schemas.microsoft.com/office/drawing/2014/main" xmlns="" id="{C06CEA95-D7F2-BAF7-8306-42EB7C0BA732}"/>
              </a:ext>
            </a:extLst>
          </p:cNvPr>
          <p:cNvSpPr txBox="1"/>
          <p:nvPr/>
        </p:nvSpPr>
        <p:spPr>
          <a:xfrm>
            <a:off x="807835" y="2667901"/>
            <a:ext cx="6098290" cy="646331"/>
          </a:xfrm>
          <a:prstGeom prst="rect">
            <a:avLst/>
          </a:prstGeom>
          <a:noFill/>
        </p:spPr>
        <p:txBody>
          <a:bodyPr wrap="square">
            <a:spAutoFit/>
          </a:bodyPr>
          <a:lstStyle/>
          <a:p>
            <a:r>
              <a:rPr lang="x-none" dirty="0"/>
              <a:t>https://drive.google.com/drive/folders/1EE6fb8OCwlJcN9zERt80QYxaEEg3qe-S?usp=sharing</a:t>
            </a:r>
          </a:p>
        </p:txBody>
      </p:sp>
    </p:spTree>
    <p:extLst>
      <p:ext uri="{BB962C8B-B14F-4D97-AF65-F5344CB8AC3E}">
        <p14:creationId xmlns:p14="http://schemas.microsoft.com/office/powerpoint/2010/main" val="165965657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B139B7D2-E2F8-08F1-DDCC-243FF41A39E7}"/>
            </a:ext>
          </a:extLst>
        </p:cNvPr>
        <p:cNvGrpSpPr/>
        <p:nvPr/>
      </p:nvGrpSpPr>
      <p:grpSpPr>
        <a:xfrm>
          <a:off x="0" y="0"/>
          <a:ext cx="0" cy="0"/>
          <a:chOff x="0" y="0"/>
          <a:chExt cx="0" cy="0"/>
        </a:xfrm>
      </p:grpSpPr>
      <p:sp>
        <p:nvSpPr>
          <p:cNvPr id="8" name="Subtitle 1">
            <a:extLst>
              <a:ext uri="{FF2B5EF4-FFF2-40B4-BE49-F238E27FC236}">
                <a16:creationId xmlns:a16="http://schemas.microsoft.com/office/drawing/2014/main" xmlns="" id="{A8ED4794-BA5A-2CAC-5D70-3E07272E7D84}"/>
              </a:ext>
            </a:extLst>
          </p:cNvPr>
          <p:cNvSpPr txBox="1">
            <a:spLocks/>
          </p:cNvSpPr>
          <p:nvPr/>
        </p:nvSpPr>
        <p:spPr>
          <a:xfrm>
            <a:off x="1046251" y="404410"/>
            <a:ext cx="10736446" cy="395050"/>
          </a:xfrm>
          <a:prstGeom prst="rect">
            <a:avLst/>
          </a:prstGeom>
        </p:spPr>
        <p:txBody>
          <a:bodyPr vert="horz" lIns="91440" tIns="45720" rIns="91440" bIns="45720" rtlCol="0">
            <a:noAutofit/>
          </a:bodyPr>
          <a:lstStyle>
            <a:defPPr>
              <a:defRPr lang="zh-CN"/>
            </a:defPPr>
            <a:lvl1pPr indent="0" eaLnBrk="0" fontAlgn="base" hangingPunct="0">
              <a:lnSpc>
                <a:spcPct val="90000"/>
              </a:lnSpc>
              <a:spcBef>
                <a:spcPct val="0"/>
              </a:spcBef>
              <a:spcAft>
                <a:spcPct val="0"/>
              </a:spcAft>
              <a:buFont typeface="Arial" panose="020B0604020202020204" pitchFamily="34" charset="0"/>
              <a:buNone/>
              <a:defRPr sz="2799" b="1">
                <a:solidFill>
                  <a:srgbClr val="990000"/>
                </a:solidFill>
                <a:latin typeface="Microsoft YaHei" panose="020B0503020204020204" pitchFamily="34" charset="-122"/>
                <a:ea typeface="Microsoft YaHei"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Demo &amp; Follow-up</a:t>
            </a:r>
            <a:r>
              <a:rPr dirty="0"/>
              <a:t> Plan</a:t>
            </a:r>
            <a:endParaRPr lang="zh-CN" altLang="en-US" dirty="0"/>
          </a:p>
        </p:txBody>
      </p:sp>
      <p:sp>
        <p:nvSpPr>
          <p:cNvPr id="12" name="矩形 11">
            <a:extLst>
              <a:ext uri="{FF2B5EF4-FFF2-40B4-BE49-F238E27FC236}">
                <a16:creationId xmlns:a16="http://schemas.microsoft.com/office/drawing/2014/main" xmlns="" id="{823D1905-47F9-65FE-819B-8C8645511E2E}"/>
              </a:ext>
            </a:extLst>
          </p:cNvPr>
          <p:cNvSpPr/>
          <p:nvPr/>
        </p:nvSpPr>
        <p:spPr>
          <a:xfrm>
            <a:off x="5304" y="6427396"/>
            <a:ext cx="12192000" cy="422366"/>
          </a:xfrm>
          <a:prstGeom prst="rect">
            <a:avLst/>
          </a:prstGeom>
          <a:solidFill>
            <a:srgbClr val="D7E4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a:extLst>
              <a:ext uri="{FF2B5EF4-FFF2-40B4-BE49-F238E27FC236}">
                <a16:creationId xmlns:a16="http://schemas.microsoft.com/office/drawing/2014/main" xmlns="" id="{32B284FE-A84A-5E49-18F8-88C94F2D7B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34034" y="4888851"/>
            <a:ext cx="1757966" cy="1757966"/>
          </a:xfrm>
          <a:prstGeom prst="rect">
            <a:avLst/>
          </a:prstGeom>
        </p:spPr>
      </p:pic>
      <p:sp>
        <p:nvSpPr>
          <p:cNvPr id="7" name="Content Placeholder 2">
            <a:extLst>
              <a:ext uri="{FF2B5EF4-FFF2-40B4-BE49-F238E27FC236}">
                <a16:creationId xmlns:a16="http://schemas.microsoft.com/office/drawing/2014/main" xmlns="" id="{4FF3D58D-B4E1-DE46-F768-5C60FD70693B}"/>
              </a:ext>
            </a:extLst>
          </p:cNvPr>
          <p:cNvSpPr>
            <a:spLocks noGrp="1"/>
          </p:cNvSpPr>
          <p:nvPr>
            <p:ph idx="1"/>
          </p:nvPr>
        </p:nvSpPr>
        <p:spPr>
          <a:xfrm>
            <a:off x="731317" y="1316165"/>
            <a:ext cx="10729366" cy="5217839"/>
          </a:xfrm>
        </p:spPr>
        <p:txBody>
          <a:bodyPr>
            <a:spAutoFit/>
          </a:bodyPr>
          <a:lstStyle/>
          <a:p>
            <a:pPr marL="0" indent="0">
              <a:buNone/>
            </a:pPr>
            <a:r>
              <a:rPr lang="en-US" sz="2000" b="1" dirty="0"/>
              <a:t>Follow-Up Plan</a:t>
            </a:r>
          </a:p>
          <a:p>
            <a:r>
              <a:rPr lang="en-US" sz="2000" b="1" dirty="0"/>
              <a:t>Overall Objective:</a:t>
            </a:r>
            <a:r>
              <a:rPr lang="en-US" sz="2000" dirty="0"/>
              <a:t/>
            </a:r>
            <a:br>
              <a:rPr lang="en-US" sz="2000" dirty="0"/>
            </a:br>
            <a:r>
              <a:rPr lang="en-US" sz="2000" dirty="0"/>
              <a:t>To develop, validate, and scale </a:t>
            </a:r>
            <a:r>
              <a:rPr lang="en-US" sz="2000" i="1" dirty="0" err="1"/>
              <a:t>Depresso</a:t>
            </a:r>
            <a:r>
              <a:rPr lang="en-US" sz="2000" dirty="0"/>
              <a:t> into a regionally recognized AI-powered depression detection and support platform for students and young adults across North Africa and the Middle East.</a:t>
            </a:r>
          </a:p>
          <a:p>
            <a:pPr marL="0" indent="0">
              <a:buNone/>
            </a:pPr>
            <a:r>
              <a:rPr lang="en-US" sz="2000" b="1" dirty="0"/>
              <a:t>Phase 1 – Prototype Development (0–6 months)</a:t>
            </a:r>
          </a:p>
          <a:p>
            <a:r>
              <a:rPr lang="en-US" sz="2000" b="1" dirty="0"/>
              <a:t>Objectives:</a:t>
            </a:r>
            <a:endParaRPr lang="en-US" sz="2000" dirty="0"/>
          </a:p>
          <a:p>
            <a:r>
              <a:rPr lang="en-US" sz="2000" dirty="0"/>
              <a:t>Build MVP (mobile app + backend NLP model using DeepSeek and Huawei EI).</a:t>
            </a:r>
          </a:p>
          <a:p>
            <a:r>
              <a:rPr lang="en-US" sz="2000" dirty="0"/>
              <a:t>Conduct pilot testing with 100–200 university students.</a:t>
            </a:r>
            <a:br>
              <a:rPr lang="en-US" sz="2000" dirty="0"/>
            </a:br>
            <a:r>
              <a:rPr lang="en-US" sz="2000" b="1" dirty="0"/>
              <a:t>Challenges:</a:t>
            </a:r>
            <a:endParaRPr lang="en-US" sz="2000" dirty="0"/>
          </a:p>
          <a:p>
            <a:r>
              <a:rPr lang="en-US" sz="2000" dirty="0"/>
              <a:t>Ensuring dataset relevance and balanced language diversity.</a:t>
            </a:r>
            <a:br>
              <a:rPr lang="en-US" sz="2000" dirty="0"/>
            </a:br>
            <a:r>
              <a:rPr lang="en-US" sz="2000" b="1" dirty="0"/>
              <a:t>Solutions:</a:t>
            </a:r>
            <a:endParaRPr lang="en-US" sz="2000" dirty="0"/>
          </a:p>
          <a:p>
            <a:r>
              <a:rPr lang="en-US" sz="2000" dirty="0"/>
              <a:t>Use locally sourced, anonymized journaling data; collaborate with university psychology departments.</a:t>
            </a:r>
          </a:p>
          <a:p>
            <a:endParaRPr lang="en-US" sz="1600" dirty="0"/>
          </a:p>
        </p:txBody>
      </p:sp>
    </p:spTree>
    <p:extLst>
      <p:ext uri="{BB962C8B-B14F-4D97-AF65-F5344CB8AC3E}">
        <p14:creationId xmlns:p14="http://schemas.microsoft.com/office/powerpoint/2010/main" val="78097994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8EC16B7E-72C0-68DF-C49D-C36BD1E62D59}"/>
            </a:ext>
          </a:extLst>
        </p:cNvPr>
        <p:cNvGrpSpPr/>
        <p:nvPr/>
      </p:nvGrpSpPr>
      <p:grpSpPr>
        <a:xfrm>
          <a:off x="0" y="0"/>
          <a:ext cx="0" cy="0"/>
          <a:chOff x="0" y="0"/>
          <a:chExt cx="0" cy="0"/>
        </a:xfrm>
      </p:grpSpPr>
      <p:sp>
        <p:nvSpPr>
          <p:cNvPr id="8" name="Subtitle 1">
            <a:extLst>
              <a:ext uri="{FF2B5EF4-FFF2-40B4-BE49-F238E27FC236}">
                <a16:creationId xmlns:a16="http://schemas.microsoft.com/office/drawing/2014/main" xmlns="" id="{5C63B646-0D28-05B1-7F5A-DF0D103F19AE}"/>
              </a:ext>
            </a:extLst>
          </p:cNvPr>
          <p:cNvSpPr txBox="1">
            <a:spLocks/>
          </p:cNvSpPr>
          <p:nvPr/>
        </p:nvSpPr>
        <p:spPr>
          <a:xfrm>
            <a:off x="1046251" y="404410"/>
            <a:ext cx="10736446" cy="395050"/>
          </a:xfrm>
          <a:prstGeom prst="rect">
            <a:avLst/>
          </a:prstGeom>
        </p:spPr>
        <p:txBody>
          <a:bodyPr vert="horz" lIns="91440" tIns="45720" rIns="91440" bIns="45720" rtlCol="0">
            <a:noAutofit/>
          </a:bodyPr>
          <a:lstStyle>
            <a:defPPr>
              <a:defRPr lang="zh-CN"/>
            </a:defPPr>
            <a:lvl1pPr indent="0" eaLnBrk="0" fontAlgn="base" hangingPunct="0">
              <a:lnSpc>
                <a:spcPct val="90000"/>
              </a:lnSpc>
              <a:spcBef>
                <a:spcPct val="0"/>
              </a:spcBef>
              <a:spcAft>
                <a:spcPct val="0"/>
              </a:spcAft>
              <a:buFont typeface="Arial" panose="020B0604020202020204" pitchFamily="34" charset="0"/>
              <a:buNone/>
              <a:defRPr sz="2799" b="1">
                <a:solidFill>
                  <a:srgbClr val="990000"/>
                </a:solidFill>
                <a:latin typeface="Microsoft YaHei" panose="020B0503020204020204" pitchFamily="34" charset="-122"/>
                <a:ea typeface="Microsoft YaHei"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Demo &amp; Follow-up</a:t>
            </a:r>
            <a:r>
              <a:rPr dirty="0"/>
              <a:t> Plan</a:t>
            </a:r>
            <a:endParaRPr lang="zh-CN" altLang="en-US" dirty="0"/>
          </a:p>
        </p:txBody>
      </p:sp>
      <p:sp>
        <p:nvSpPr>
          <p:cNvPr id="12" name="矩形 11">
            <a:extLst>
              <a:ext uri="{FF2B5EF4-FFF2-40B4-BE49-F238E27FC236}">
                <a16:creationId xmlns:a16="http://schemas.microsoft.com/office/drawing/2014/main" xmlns="" id="{9CD3044E-7296-EBB9-14B7-5E67D1D78340}"/>
              </a:ext>
            </a:extLst>
          </p:cNvPr>
          <p:cNvSpPr/>
          <p:nvPr/>
        </p:nvSpPr>
        <p:spPr>
          <a:xfrm>
            <a:off x="5304" y="6427396"/>
            <a:ext cx="12192000" cy="422366"/>
          </a:xfrm>
          <a:prstGeom prst="rect">
            <a:avLst/>
          </a:prstGeom>
          <a:solidFill>
            <a:srgbClr val="D7E4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a:extLst>
              <a:ext uri="{FF2B5EF4-FFF2-40B4-BE49-F238E27FC236}">
                <a16:creationId xmlns:a16="http://schemas.microsoft.com/office/drawing/2014/main" xmlns="" id="{47663AB8-7D56-6E09-A625-140AD084512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34034" y="4888851"/>
            <a:ext cx="1757966" cy="1757966"/>
          </a:xfrm>
          <a:prstGeom prst="rect">
            <a:avLst/>
          </a:prstGeom>
        </p:spPr>
      </p:pic>
      <p:sp>
        <p:nvSpPr>
          <p:cNvPr id="7" name="Content Placeholder 2">
            <a:extLst>
              <a:ext uri="{FF2B5EF4-FFF2-40B4-BE49-F238E27FC236}">
                <a16:creationId xmlns:a16="http://schemas.microsoft.com/office/drawing/2014/main" xmlns="" id="{B2D034B3-EAD9-BB32-B6B3-04261F7E7194}"/>
              </a:ext>
            </a:extLst>
          </p:cNvPr>
          <p:cNvSpPr>
            <a:spLocks noGrp="1"/>
          </p:cNvSpPr>
          <p:nvPr>
            <p:ph idx="1"/>
          </p:nvPr>
        </p:nvSpPr>
        <p:spPr>
          <a:xfrm>
            <a:off x="731317" y="1969149"/>
            <a:ext cx="10729366" cy="3576364"/>
          </a:xfrm>
        </p:spPr>
        <p:txBody>
          <a:bodyPr>
            <a:spAutoFit/>
          </a:bodyPr>
          <a:lstStyle/>
          <a:p>
            <a:pPr marL="0" indent="0">
              <a:buNone/>
            </a:pPr>
            <a:r>
              <a:rPr lang="en-US" sz="2000" b="1" dirty="0"/>
              <a:t>Phase 2 – Beta Testing &amp; Market Validation (6–12 months)</a:t>
            </a:r>
          </a:p>
          <a:p>
            <a:r>
              <a:rPr lang="en-US" sz="2000" b="1" dirty="0"/>
              <a:t>Objectives:</a:t>
            </a:r>
            <a:endParaRPr lang="en-US" sz="2000" dirty="0"/>
          </a:p>
          <a:p>
            <a:r>
              <a:rPr lang="en-US" sz="2000" dirty="0"/>
              <a:t>Conduct large-scale user testing with students and young professionals.</a:t>
            </a:r>
          </a:p>
          <a:p>
            <a:r>
              <a:rPr lang="en-US" sz="2000" dirty="0"/>
              <a:t>Measure accuracy, user engagement, and satisfaction metrics.</a:t>
            </a:r>
            <a:br>
              <a:rPr lang="en-US" sz="2000" dirty="0"/>
            </a:br>
            <a:r>
              <a:rPr lang="en-US" sz="2000" b="1" dirty="0"/>
              <a:t>Challenges:</a:t>
            </a:r>
            <a:endParaRPr lang="en-US" sz="2000" dirty="0"/>
          </a:p>
          <a:p>
            <a:r>
              <a:rPr lang="en-US" sz="2000" dirty="0"/>
              <a:t>User retention and trust in AI emotional assessment.</a:t>
            </a:r>
            <a:br>
              <a:rPr lang="en-US" sz="2000" dirty="0"/>
            </a:br>
            <a:r>
              <a:rPr lang="en-US" sz="2000" b="1" dirty="0"/>
              <a:t>Solutions:</a:t>
            </a:r>
            <a:endParaRPr lang="en-US" sz="2000" dirty="0"/>
          </a:p>
          <a:p>
            <a:r>
              <a:rPr lang="en-US" sz="2000" dirty="0"/>
              <a:t>Introduce gamified journaling rewards, anonymous community spaces, and verified professional endorsements.</a:t>
            </a:r>
          </a:p>
          <a:p>
            <a:endParaRPr lang="en-US" sz="1600" dirty="0"/>
          </a:p>
        </p:txBody>
      </p:sp>
    </p:spTree>
    <p:extLst>
      <p:ext uri="{BB962C8B-B14F-4D97-AF65-F5344CB8AC3E}">
        <p14:creationId xmlns:p14="http://schemas.microsoft.com/office/powerpoint/2010/main" val="172807111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B5B867C4-FD5A-C06F-A7BC-6704532AEA35}"/>
            </a:ext>
          </a:extLst>
        </p:cNvPr>
        <p:cNvGrpSpPr/>
        <p:nvPr/>
      </p:nvGrpSpPr>
      <p:grpSpPr>
        <a:xfrm>
          <a:off x="0" y="0"/>
          <a:ext cx="0" cy="0"/>
          <a:chOff x="0" y="0"/>
          <a:chExt cx="0" cy="0"/>
        </a:xfrm>
      </p:grpSpPr>
      <p:sp>
        <p:nvSpPr>
          <p:cNvPr id="8" name="Subtitle 1">
            <a:extLst>
              <a:ext uri="{FF2B5EF4-FFF2-40B4-BE49-F238E27FC236}">
                <a16:creationId xmlns:a16="http://schemas.microsoft.com/office/drawing/2014/main" xmlns="" id="{4C5D0390-85AC-72DC-5137-F414074114A9}"/>
              </a:ext>
            </a:extLst>
          </p:cNvPr>
          <p:cNvSpPr txBox="1">
            <a:spLocks/>
          </p:cNvSpPr>
          <p:nvPr/>
        </p:nvSpPr>
        <p:spPr>
          <a:xfrm>
            <a:off x="1046251" y="404410"/>
            <a:ext cx="10736446" cy="395050"/>
          </a:xfrm>
          <a:prstGeom prst="rect">
            <a:avLst/>
          </a:prstGeom>
        </p:spPr>
        <p:txBody>
          <a:bodyPr vert="horz" lIns="91440" tIns="45720" rIns="91440" bIns="45720" rtlCol="0">
            <a:noAutofit/>
          </a:bodyPr>
          <a:lstStyle>
            <a:defPPr>
              <a:defRPr lang="zh-CN"/>
            </a:defPPr>
            <a:lvl1pPr indent="0" eaLnBrk="0" fontAlgn="base" hangingPunct="0">
              <a:lnSpc>
                <a:spcPct val="90000"/>
              </a:lnSpc>
              <a:spcBef>
                <a:spcPct val="0"/>
              </a:spcBef>
              <a:spcAft>
                <a:spcPct val="0"/>
              </a:spcAft>
              <a:buFont typeface="Arial" panose="020B0604020202020204" pitchFamily="34" charset="0"/>
              <a:buNone/>
              <a:defRPr sz="2799" b="1">
                <a:solidFill>
                  <a:srgbClr val="990000"/>
                </a:solidFill>
                <a:latin typeface="Microsoft YaHei" panose="020B0503020204020204" pitchFamily="34" charset="-122"/>
                <a:ea typeface="Microsoft YaHei"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Demo &amp; Follow-up</a:t>
            </a:r>
            <a:r>
              <a:rPr dirty="0"/>
              <a:t> Plan</a:t>
            </a:r>
            <a:endParaRPr lang="zh-CN" altLang="en-US" dirty="0"/>
          </a:p>
        </p:txBody>
      </p:sp>
      <p:sp>
        <p:nvSpPr>
          <p:cNvPr id="12" name="矩形 11">
            <a:extLst>
              <a:ext uri="{FF2B5EF4-FFF2-40B4-BE49-F238E27FC236}">
                <a16:creationId xmlns:a16="http://schemas.microsoft.com/office/drawing/2014/main" xmlns="" id="{5F8A7B1F-A7E6-BF92-7B1E-29552560D4DB}"/>
              </a:ext>
            </a:extLst>
          </p:cNvPr>
          <p:cNvSpPr/>
          <p:nvPr/>
        </p:nvSpPr>
        <p:spPr>
          <a:xfrm>
            <a:off x="5304" y="6427396"/>
            <a:ext cx="12192000" cy="422366"/>
          </a:xfrm>
          <a:prstGeom prst="rect">
            <a:avLst/>
          </a:prstGeom>
          <a:solidFill>
            <a:srgbClr val="D7E4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a:extLst>
              <a:ext uri="{FF2B5EF4-FFF2-40B4-BE49-F238E27FC236}">
                <a16:creationId xmlns:a16="http://schemas.microsoft.com/office/drawing/2014/main" xmlns="" id="{3ECEAE80-4AE9-7ADF-2CC0-7A8CE3118B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34034" y="4888851"/>
            <a:ext cx="1757966" cy="1757966"/>
          </a:xfrm>
          <a:prstGeom prst="rect">
            <a:avLst/>
          </a:prstGeom>
        </p:spPr>
      </p:pic>
      <p:sp>
        <p:nvSpPr>
          <p:cNvPr id="7" name="Content Placeholder 2">
            <a:extLst>
              <a:ext uri="{FF2B5EF4-FFF2-40B4-BE49-F238E27FC236}">
                <a16:creationId xmlns:a16="http://schemas.microsoft.com/office/drawing/2014/main" xmlns="" id="{A7E049EB-65B5-0BAC-1332-391C988223BB}"/>
              </a:ext>
            </a:extLst>
          </p:cNvPr>
          <p:cNvSpPr>
            <a:spLocks noGrp="1"/>
          </p:cNvSpPr>
          <p:nvPr>
            <p:ph idx="1"/>
          </p:nvPr>
        </p:nvSpPr>
        <p:spPr>
          <a:xfrm>
            <a:off x="731317" y="1825246"/>
            <a:ext cx="10729366" cy="3576364"/>
          </a:xfrm>
        </p:spPr>
        <p:txBody>
          <a:bodyPr>
            <a:spAutoFit/>
          </a:bodyPr>
          <a:lstStyle/>
          <a:p>
            <a:pPr marL="0" indent="0">
              <a:buNone/>
            </a:pPr>
            <a:r>
              <a:rPr lang="en-US" sz="2000" b="1" dirty="0"/>
              <a:t>Phase 3 – Product Launch &amp; Monetization (12–24 months)</a:t>
            </a:r>
          </a:p>
          <a:p>
            <a:r>
              <a:rPr lang="en-US" sz="2000" b="1" dirty="0"/>
              <a:t>Objectives:</a:t>
            </a:r>
            <a:endParaRPr lang="en-US" sz="2000" dirty="0"/>
          </a:p>
          <a:p>
            <a:r>
              <a:rPr lang="en-US" sz="2000" dirty="0"/>
              <a:t>Launch officially on Huawei </a:t>
            </a:r>
            <a:r>
              <a:rPr lang="en-US" sz="2000" dirty="0" err="1"/>
              <a:t>AppGallery</a:t>
            </a:r>
            <a:r>
              <a:rPr lang="en-US" sz="2000" dirty="0"/>
              <a:t> and App Store.</a:t>
            </a:r>
          </a:p>
          <a:p>
            <a:r>
              <a:rPr lang="en-US" sz="2000" dirty="0"/>
              <a:t>Roll out premium subscription services and therapist referral network.</a:t>
            </a:r>
            <a:br>
              <a:rPr lang="en-US" sz="2000" dirty="0"/>
            </a:br>
            <a:r>
              <a:rPr lang="en-US" sz="2000" b="1" dirty="0"/>
              <a:t>Challenges:</a:t>
            </a:r>
            <a:endParaRPr lang="en-US" sz="2000" dirty="0"/>
          </a:p>
          <a:p>
            <a:r>
              <a:rPr lang="en-US" sz="2000" dirty="0"/>
              <a:t>Balancing ethical AI use with data privacy and scalability.</a:t>
            </a:r>
            <a:br>
              <a:rPr lang="en-US" sz="2000" dirty="0"/>
            </a:br>
            <a:r>
              <a:rPr lang="en-US" sz="2000" b="1" dirty="0"/>
              <a:t>Solutions:</a:t>
            </a:r>
            <a:endParaRPr lang="en-US" sz="2000" dirty="0"/>
          </a:p>
          <a:p>
            <a:r>
              <a:rPr lang="en-US" sz="2000" dirty="0"/>
              <a:t>Implement strict data anonymization, secure Huawei Cloud storage, and transparent consent policies.</a:t>
            </a:r>
          </a:p>
          <a:p>
            <a:endParaRPr lang="en-US" sz="1600" dirty="0"/>
          </a:p>
        </p:txBody>
      </p:sp>
    </p:spTree>
    <p:extLst>
      <p:ext uri="{BB962C8B-B14F-4D97-AF65-F5344CB8AC3E}">
        <p14:creationId xmlns:p14="http://schemas.microsoft.com/office/powerpoint/2010/main" val="413523263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34034" y="4888851"/>
            <a:ext cx="1757966" cy="1757966"/>
          </a:xfrm>
          <a:prstGeom prst="rect">
            <a:avLst/>
          </a:prstGeom>
        </p:spPr>
      </p:pic>
      <p:sp>
        <p:nvSpPr>
          <p:cNvPr id="5" name="Subtitle 1">
            <a:extLst>
              <a:ext uri="{FF2B5EF4-FFF2-40B4-BE49-F238E27FC236}">
                <a16:creationId xmlns:a16="http://schemas.microsoft.com/office/drawing/2014/main" xmlns="" id="{C6ADB1D9-336D-594D-9418-4BC486843D21}"/>
              </a:ext>
            </a:extLst>
          </p:cNvPr>
          <p:cNvSpPr txBox="1">
            <a:spLocks/>
          </p:cNvSpPr>
          <p:nvPr/>
        </p:nvSpPr>
        <p:spPr>
          <a:xfrm>
            <a:off x="1561406" y="1911238"/>
            <a:ext cx="10736446" cy="39505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9pPr>
          </a:lstStyle>
          <a:p>
            <a:pPr marL="0" indent="0" eaLnBrk="0" fontAlgn="base" hangingPunct="0">
              <a:spcBef>
                <a:spcPct val="0"/>
              </a:spcBef>
              <a:spcAft>
                <a:spcPct val="0"/>
              </a:spcAft>
              <a:buNone/>
            </a:pPr>
            <a:r>
              <a:rPr sz="4400" b="1" u="none" dirty="0">
                <a:solidFill>
                  <a:srgbClr val="990000"/>
                </a:solidFill>
              </a:rPr>
              <a:t>THANK YOU</a:t>
            </a:r>
            <a:endParaRPr lang="zh-CN" altLang="en-US" sz="4400" b="1" dirty="0">
              <a:solidFill>
                <a:srgbClr val="990000"/>
              </a:solidFill>
              <a:latin typeface="Arial" panose="02000000000000000000" pitchFamily="2" charset="-122"/>
              <a:ea typeface="方正兰亭黑简体" panose="02000000000000000000" pitchFamily="2" charset="-122"/>
              <a:cs typeface="Arial" pitchFamily="34" charset="0"/>
            </a:endParaRPr>
          </a:p>
        </p:txBody>
      </p:sp>
    </p:spTree>
    <p:extLst>
      <p:ext uri="{BB962C8B-B14F-4D97-AF65-F5344CB8AC3E}">
        <p14:creationId xmlns:p14="http://schemas.microsoft.com/office/powerpoint/2010/main" val="2705950236"/>
      </p:ext>
    </p:extLst>
  </p:cSld>
  <p:clrMapOvr>
    <a:masterClrMapping/>
  </p:clrMapOvr>
</p:sld>
</file>

<file path=ppt/theme/theme1.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12361</TotalTime>
  <Words>2082</Words>
  <Application>Microsoft Office PowerPoint</Application>
  <PresentationFormat>Widescreen</PresentationFormat>
  <Paragraphs>206</Paragraphs>
  <Slides>28</Slides>
  <Notes>1</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28</vt:i4>
      </vt:variant>
    </vt:vector>
  </HeadingPairs>
  <TitlesOfParts>
    <vt:vector size="40" baseType="lpstr">
      <vt:lpstr>微软雅黑</vt:lpstr>
      <vt:lpstr>微软雅黑</vt:lpstr>
      <vt:lpstr>宋体</vt:lpstr>
      <vt:lpstr>Arial</vt:lpstr>
      <vt:lpstr>Calibri</vt:lpstr>
      <vt:lpstr>Calibri Light</vt:lpstr>
      <vt:lpstr>FZLanTingHeiS-DB-GB</vt:lpstr>
      <vt:lpstr>FZLanTingHeiS-R-GB</vt:lpstr>
      <vt:lpstr>Open Sans</vt:lpstr>
      <vt:lpstr>Overpass Black</vt:lpstr>
      <vt:lpstr>方正兰亭黑简体</vt:lpstr>
      <vt:lpstr>1_Office 主题</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zhengfangyuan</dc:creator>
  <cp:lastModifiedBy>Nor Almo</cp:lastModifiedBy>
  <cp:revision>113</cp:revision>
  <dcterms:created xsi:type="dcterms:W3CDTF">2022-06-07T06:38:16Z</dcterms:created>
  <dcterms:modified xsi:type="dcterms:W3CDTF">2025-11-15T09:50:33Z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2015_ms_pID_725343">
    <vt:lpwstr>(3)zqU5RP/gneUQdN491x6FdUzwctKodf6vMHIfJkx3xXLYLaBnmQ0n7yR30zj8x2EmeG72/L45
Uib3+z82y2Qj2zIXYO1XZOvrRM3Xn0Ls4NkPisd7dOe3HSgSUGiMPmpK/N8dBEgToyY1wQpk
YNLDyfhGwLxfkF3pTayYmd91pZfNaVGDHxtT12LDxbkEVl01zr/O23dReYjcOf3ayOLhrYtW
qbzfZBIvIGBiS/TZH6</vt:lpwstr>
  </property>
  <property fmtid="{D5CDD505-2E9C-101B-9397-08002B2CF9AE}" pid="3" name="_2015_ms_pID_7253431">
    <vt:lpwstr>CSYqV1vPrUJ3BrRXsZI97E9T+GZzwKY8CRSRZLZcJQLimw7e3sHIjl
1dISVZ59lEMMQs3aGWphk9I2auZm5YJJOL9wEKh26OaUq1bXTVLJHvljDLdPamFJpQrtF4n3
PfCs2lR//U6NnFqWIcC/V3ogKnhz+0PKS92lLzu9nvI3ObKemrC7+Gj6eBQi9p0FLvro5Z25
ySEV2O7Yj9Kk06Z07+EvNZ7Nzcr96hdAXP0f</vt:lpwstr>
  </property>
  <property fmtid="{D5CDD505-2E9C-101B-9397-08002B2CF9AE}" pid="4" name="_2015_ms_pID_7253432">
    <vt:lpwstr>UwUKMYadRsISUvqXZR8o0K8=</vt:lpwstr>
  </property>
  <property fmtid="{D5CDD505-2E9C-101B-9397-08002B2CF9AE}" pid="5" name="_readonly">
    <vt:lpwstr/>
  </property>
  <property fmtid="{D5CDD505-2E9C-101B-9397-08002B2CF9AE}" pid="6" name="_change">
    <vt:lpwstr/>
  </property>
  <property fmtid="{D5CDD505-2E9C-101B-9397-08002B2CF9AE}" pid="7" name="_full-control">
    <vt:lpwstr/>
  </property>
  <property fmtid="{D5CDD505-2E9C-101B-9397-08002B2CF9AE}" pid="8" name="sflag">
    <vt:lpwstr>1656050662</vt:lpwstr>
  </property>
</Properties>
</file>